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69D394B-215C-444C-A365-8B24343702ED}">
  <a:tblStyle styleId="{169D394B-215C-444C-A365-8B24343702E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h704ce97a7185bcc9_3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Introduce the project: Sift is a local verification layer that checks whether each diff hunk written by an AI coding agent serves the developer's stated intent. This is Review 3, so the deck covers the base paper, dataset status, the trained model, all experiments, the working application and the tests. Team 24 is a single-member team; the faculty guide is Dr. T. Senthil Kumar.</a:t>
            </a:r>
          </a:p>
        </p:txBody>
      </p:sp>
      <p:sp>
        <p:nvSpPr>
          <p:cNvPr id="127" name="Google Shape;127;h704ce97a7185bcc9_3_75: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Sift consolidates a multi-turn coding session into one intent, scores every diff hunk as aligned or misaligned, types the drift, calibrates the confidence and ranks hunks for review. The four tiles are test-split numbers from results/master_comparison.csv and results/latency_size_onnx.json. Macro-F1 is honestly below logistic regression; the gain is in ranking.</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AI coding agents now produce multi-file diffs faster than anyone can read them, so the question becomes whether every hunk serves what the developer asked. Diff-level scalars like lines changed are the same for all hunks in a diff, so ordering by them equals random: NDCG@5 0.7236 from baselines.json. The drift-type counts are the sums of the three splits in dataset_statistics.csv.</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These are the five SCImago-indexed journal papers from the Review 2 literature survey. All treat natural-language to code consistency, and none conditions on a multi-turn developer intent at hunk level. The last row is the base paper chosen for Review 3, covered on the next two slides.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standard paper is Northcutt, Jiang and Chuang, Confident Learning, JAIR 2021. Its key idea is to estimate the joint distribution of noisy and true labels using per-class thresholds, then prune and rank examples; it is model-agnostic and open-sourced as cleanlab. The CIFAR-10 accuracies are copied from Table 2 of the paper (ppt/standard_paper.pdf).</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Sift-IA's training labels carry 569 deliberately flipped rows with ground truth, so confident learning can be scored directly. cleanlab was run on out-of-fold probabilities from the cross-encoder. It flagged 1,470 rows; 220 are true flips, giving precision 0.150 and recall 0.387, about three times the random precision 0.045. It is a weak detector, and we say so.</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Every component of Sift is an existing method; the contribution is the task framing, the pipeline and the dataset. The first three rows are the closest research area (code-comment inconsistency and tangled changes). Co-teaching is named in the design and a helper exists, but it was not run. The note: published numbers are not comparable with ours because tasks and data differ.</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Top row is the runtime path: session, consolidation, diff parsing, the cross-encoder with three heads, calibration and ranking, and the review UI. The middle row shows the compared models and the distilled INT8 student. The bottom row is the offline pipeline that produced everything in results/. Calibration temperature 1.275 and the INT8 numbers come from calibration.json and latency_size_onnx.json.</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input is intent, separator, hunk, up to 512 tokens. The pooled vector feeds three heads: alignment, drift type masked to misaligned rows, and a confidence head. Loss weights are 0.6, 0.3 and 0.1 with focal loss, gamma 2, on the alignment term. Training took about 28 minutes on the 6 GB RTX 4050; the settings table is from experiments/runs/full/config.json and results/hyperparameters.csv.</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Sift-IA v1.0 has 18,000 hunk-intent pairs from 15 open-source repositories, split by repository so no repository appears in two splits. Aligned hunks are real hunks from the seed commit; a misaligned hunk is a donor hunk from a different commit inserted into the session, so labels are determined by construction, not by a human. Language counts are the measured ones from the released files (they differ slightly from the planning figures).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dataset record link is listed in the submission tracker. A dataset description document for Sift-IA v1.0 has been prepared following the IEEE DataPort template; that document itself says the DOI will be inserted once the upload is published, so we do not claim the dataset is published or has a DOI. The 900-sample gold annotation sheet has labels withheld; human validation is future work.</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Five noise types are shipped with ground truth, covering 4,529 rows or about a quarter of the data. Rules handle non-semantic and duplicate hunks, consolidation handles intent-turn noise, and confident learning targets label flips. The robustness study injects extra label noise on a 3,000-row subset for two epochs: a reduced, single-seed setting, so treat the curve as indicative. Denoising helps at 20 and 30 percent but not at 0.</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K-means was fit on 768-dimensional pooled embeddings of 4,000 training pairs. k = 4 was chosen by silhouette; there is no sharp elbow. On the test split, cluster purity against alignment is 0.800 versus a 0.780 majority-class rate, so the clusters carry little label information, and adding cluster features to the ranking stage changed macro-F1 by about one point. We report honestly that k-means adds almost nothing; the UI still shows each hunk's cluster and similar flagged hunks.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Sift has no natural GAN, so we chose this interpretation and label it plainly: a generator conditioned on the intent embedding produces aligned-hunk embeddings, and the discriminator, trained to separate real aligned pairs from generated ones, is used as the alignment scorer on frozen MiniLM embeddings. It reaches macro-F1 0.630 and NDCG@5 0.864 against 0.680 and 0.868 for the main model. The generator collapsed at epoch 1 (pairwise cosine 0.98) and diversified to about 0.29 by epoch 40, which is the instability we report.</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Integrated Gradients, 24 steps with a PAD baseline, gives token attributions that are aggregated to words and diff lines. The faithfulness test masks the top-attributed tokens versus random tokens on 100 test pairs. Masking the top 5 tokens drops mean P(misaligned) from 0.579 to 0.386 against 0.482 for random masking, so attributions are more faithful than chance, though random masking also moves the score because PAD masking is off-distribution. The worked example is an attrs test sample with P(misaligned) 0.957, truly misaligned, collateral.</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All rows use the same repository-disjoint test split and metrics, single seed 473. Bold marks the best value in each column. The main model leads on hard-tier AUC and NDCG@5 among trained models, but B5 has the higher macro-F1 and the frozen cosine score has the highest NDCG@5. The reduced-budget baselines (MiniLM, CodeBERT, BiLSTM) trained far fewer epochs, so part of their gap is budget. Source: results/master_comparison.csv.</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NDCG@5 has a high floor of 0.72 because sessions are short, so we always report per-tier pairwise AUC as well. On the hard tier the main model reaches 0.726 against 0.551 for B4 and B5, which is where the cross-encoder earns its place. On the random tier simple lexical baselines are as good (B4 0.812). The NDCG@K figure covers K of 1, 3, 5 and 10 over the 456 rankable test sessions.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precision-recall curve is on the full test set with prevalence 0.22, for all models. At the validation-chosen threshold of 0.30 the main model has precision 0.516, recall 0.476 and specificity 0.874; the confusion counts come from results/eval_full.json. The thresholded recall is low, which is why macro-F1 trails B5 even though ranking is better.</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ROC curves for all models on the full test set, the random tier and the hard tier, drawn from the stored test scores. Read them together with the within-session pairwise AUC on the earlier slide, which is the tier metric we rely on. Source: results/roc_curves_per_tier.png.</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Temperature scaling fitted on validation, T = 1.275, reduces test ECE from 0.064 to 0.028. The latency table is measured on this machine, an Intel i7-13650HX, batch 1, tokenisation included. The student numbers were taken while the CPU was shared with a training job, so they are not strictly comparable with the main model, which was measured on an idle machine. INT8 reaches 22.9 MB and p95 66.9 ms, meeting the targets of under 30 MB and under 100 ms on this machine only.</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Only removing the hunk or the intent clearly hurts: macro-F1 drops by 0.218 and 0.133, and intent-only is at chance on tier AUC. Dropping consolidation, focal loss, the multi-task heads or denoising did not hurt and each scores slightly higher macro-F1. With one seed, differences of about 0.01 are within noise, so these runs do not demonstrate that those components help. That is an honest negative finding.</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suite follows the Test and Evaluation of AI Models framework categories: performance, testing methods, data, models and context. There are 220 tests: 214 passed, 6 expected failures that are recorded defects (strict xfail) and 0 failed. Line coverage is 73.4 percent over src/sift and app/backend; end-to-end browser tests are not included in that measurement. Source: results/test_summary.json.</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Metamorphic relations hold within tolerance: the model is deterministic and reordering hunks changes scores by about 1e-6, while whitespace, comment and rename edits flip the verdict in 3 to 5 percent of cases. The red-team shows the real weakness: a comment that copies the intent flips 68 percent of detected misaligned hunks to aligned, and a comment claiming the change implements the intent flips 52 percent (17 and 13 of 25). All six defects are open and recorded as strict xfail; no mitigation is implemented yet.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Every pipeline stage in the plan exists and ran. Items marked Reduced ran with a smaller budget than planned: six Optuna trials instead of 60, single-seed ablations, and the noise study on a 3,000-row subset. UniXcoder was dropped because its weights did not download, and multiple seeds and human-labelled evaluation were not done. These are listed in results/SUMMARY.md.</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review workspace takes a test-set example or a pasted or uploaded diff, shows the consolidated intent and the turns dropped as noise, and orders hunk cards by misalignment risk with probability and drift-type badge. The right panel highlights intent words and hunk lines by Integrated Gradients, and Accept, Flag and Needs-discussion actions update the review summary. After analysis the ground truth of a test example is shown, as here. This screenshot is from the project's own UI test run.</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developer console is a second interface in the same build with an overview, results dashboard, experiments page, dataset explorer, testing page and related-work page. Every number on these pages is read from the real result files served by the backend, nothing is hard-coded. Screenshots are from docs/screenshots at desktop width.</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backend is FastAPI; the model is loaded once and runs on CPU or GPU automatically. Inputs are validated and errors return clear messages. A hosted link is not available yet, so the app is launched locally with make demo; the repository link is the one in the project template.</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SDG 9, Industry, Innovation and Infrastructure, is the primary goal: Sift supports trustworthy AI-assisted software engineering by checking agent output against developer intent. SDG 8, Decent Work and Economic Growth, is secondary: ranking hunks by risk is intended to reduce reviewer burden. We have not measured reviewer time saved; the ranking metrics are the only evidence so far.</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Left: what the measurements support. Right: the weak spots we state plainly. The main model's macro-F1 is below logistic regression, the training-free frozen cosine score beats it on NDCG@5, k-means adds almost nothing, and four ablated variants score slightly higher than the full model. Everything is single seed with constructed labels, so claims are about ranking on the hard tier and compact deployment, not state of the art.</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 conclusion: Sift is a working, tested, locally runnable system with a trained cross-encoder, baselines, calibration, a compact INT8 student, explanations and a UI. Its measured strength is hard-tier ranking; its limits are the constructed labels, a single seed and comment-based evasion. Future work lists the concrete next steps, starting with human validation of the 900-sample gold sheet.</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Team 24 has a single member, so all work is by Kundhave S. The contribution list covers the full pipeline from dataset to the application and tests. Faculty guide: Dr. T. Senthil Kumar, Professor, CSE Department.</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References 1 to 6 are the base paper and the five journal papers from the literature survey. References 7 to 17 are the building-block papers listed in docs/RELATED_WORK.md; items 13 to 17 were cited from memory there and should be checked once more before the final report. The framework is the course testing reference, and the last item is the dataset record.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1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14364" y="1597819"/>
            <a:ext cx="5829455"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5"/>
          <p:cNvSpPr txBox="1"/>
          <p:nvPr>
            <p:ph idx="1" type="subTitle"/>
          </p:nvPr>
        </p:nvSpPr>
        <p:spPr>
          <a:xfrm>
            <a:off x="1028727" y="2914650"/>
            <a:ext cx="4800728"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3" name="Google Shape;63;p15"/>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6"/>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41749" y="3305175"/>
            <a:ext cx="5829455"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541749" y="2180035"/>
            <a:ext cx="5829455"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342909"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486243"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342909" y="1151335"/>
            <a:ext cx="303022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8" name="Google Shape;88;p19"/>
          <p:cNvSpPr txBox="1"/>
          <p:nvPr>
            <p:ph idx="2" type="body"/>
          </p:nvPr>
        </p:nvSpPr>
        <p:spPr>
          <a:xfrm>
            <a:off x="342909" y="1631156"/>
            <a:ext cx="303022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9" name="Google Shape;89;p19"/>
          <p:cNvSpPr txBox="1"/>
          <p:nvPr>
            <p:ph idx="3" type="body"/>
          </p:nvPr>
        </p:nvSpPr>
        <p:spPr>
          <a:xfrm>
            <a:off x="3483862" y="1151335"/>
            <a:ext cx="303141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0" name="Google Shape;90;p19"/>
          <p:cNvSpPr txBox="1"/>
          <p:nvPr>
            <p:ph idx="4" type="body"/>
          </p:nvPr>
        </p:nvSpPr>
        <p:spPr>
          <a:xfrm>
            <a:off x="3483862" y="1631156"/>
            <a:ext cx="303141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1" name="Google Shape;91;p19"/>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42909" y="204788"/>
            <a:ext cx="2256295"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2681359" y="204788"/>
            <a:ext cx="3833915"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342909" y="1076325"/>
            <a:ext cx="2256295"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344252" y="3600450"/>
            <a:ext cx="411491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1344252" y="459581"/>
            <a:ext cx="4114910" cy="3086100"/>
          </a:xfrm>
          <a:prstGeom prst="rect">
            <a:avLst/>
          </a:prstGeom>
          <a:noFill/>
          <a:ln>
            <a:noFill/>
          </a:ln>
        </p:spPr>
      </p:sp>
      <p:sp>
        <p:nvSpPr>
          <p:cNvPr id="109" name="Google Shape;109;p22"/>
          <p:cNvSpPr txBox="1"/>
          <p:nvPr>
            <p:ph idx="1" type="body"/>
          </p:nvPr>
        </p:nvSpPr>
        <p:spPr>
          <a:xfrm>
            <a:off x="1344252" y="4025503"/>
            <a:ext cx="411491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1731855" y="-188796"/>
            <a:ext cx="3394472" cy="6172365"/>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549406" y="1628755"/>
            <a:ext cx="4388644" cy="1543091"/>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406072" y="142815"/>
            <a:ext cx="4388644" cy="451497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6.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11.xml"/><Relationship Id="rId4" Type="http://schemas.openxmlformats.org/officeDocument/2006/relationships/hyperlink" Target="https://ieee-dataport.org/documents/sift-ia-intent-implementation-alignment-dataset-code-diff-hunks-produced-ai-coding-agent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13.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14.xml"/><Relationship Id="rId4" Type="http://schemas.openxmlformats.org/officeDocument/2006/relationships/image" Target="../media/image8.png"/><Relationship Id="rId5"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15.xml"/><Relationship Id="rId4" Type="http://schemas.openxmlformats.org/officeDocument/2006/relationships/image" Target="../media/image10.png"/><Relationship Id="rId5"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image" Target="../media/image12.png"/><Relationship Id="rId5"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18.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19.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20.xml"/><Relationship Id="rId4" Type="http://schemas.openxmlformats.org/officeDocument/2006/relationships/image" Target="../media/image16.png"/><Relationship Id="rId5"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21.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25.xml"/><Relationship Id="rId4" Type="http://schemas.openxmlformats.org/officeDocument/2006/relationships/image" Target="../media/image19.png"/><Relationship Id="rId5"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26.xml"/><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27.xml"/><Relationship Id="rId4" Type="http://schemas.openxmlformats.org/officeDocument/2006/relationships/hyperlink" Target="https://github.com/Kundhave/sift"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descr="im-002.png" id="129" name="Google Shape;129;p25"/>
          <p:cNvPicPr preferRelativeResize="0"/>
          <p:nvPr/>
        </p:nvPicPr>
        <p:blipFill rotWithShape="1">
          <a:blip r:embed="rId3">
            <a:alphaModFix/>
          </a:blip>
          <a:srcRect b="0" l="0" r="0" t="0"/>
          <a:stretch/>
        </p:blipFill>
        <p:spPr>
          <a:xfrm>
            <a:off x="3874887" y="-4"/>
            <a:ext cx="720090" cy="703724"/>
          </a:xfrm>
          <a:prstGeom prst="rect">
            <a:avLst/>
          </a:prstGeom>
          <a:noFill/>
          <a:ln>
            <a:noFill/>
          </a:ln>
        </p:spPr>
      </p:pic>
      <p:sp>
        <p:nvSpPr>
          <p:cNvPr id="130" name="Google Shape;130;p25"/>
          <p:cNvSpPr txBox="1"/>
          <p:nvPr/>
        </p:nvSpPr>
        <p:spPr>
          <a:xfrm>
            <a:off x="480000" y="720614"/>
            <a:ext cx="7400000" cy="1011300"/>
          </a:xfrm>
          <a:prstGeom prst="rect">
            <a:avLst/>
          </a:prstGeom>
          <a:noFill/>
          <a:ln>
            <a:noFill/>
          </a:ln>
        </p:spPr>
        <p:txBody>
          <a:bodyPr anchorCtr="0" anchor="t" bIns="20575" lIns="34275" spcFirstLastPara="1" rIns="34275" wrap="square" tIns="20575">
            <a:spAutoFit/>
          </a:bodyPr>
          <a:lstStyle/>
          <a:p>
            <a:pPr indent="0" lvl="0" marL="0" marR="0" rtl="0" algn="ctr">
              <a:spcBef>
                <a:spcPts val="0"/>
              </a:spcBef>
              <a:spcAft>
                <a:spcPts val="0"/>
              </a:spcAft>
              <a:buNone/>
            </a:pPr>
            <a:r>
              <a:rPr b="1" i="0" lang="en-GB" sz="2100" u="none" cap="none" strike="noStrike">
                <a:solidFill>
                  <a:srgbClr val="FF0000"/>
                </a:solidFill>
                <a:latin typeface="Cambria"/>
                <a:ea typeface="Cambria"/>
                <a:cs typeface="Cambria"/>
                <a:sym typeface="Cambria"/>
              </a:rPr>
              <a:t>Sift: Intent–Hunk Alignment Verification</a:t>
            </a:r>
            <a:endParaRPr sz="1100"/>
          </a:p>
          <a:p>
            <a:pPr indent="0" lvl="0" marL="0" marR="0" rtl="0" algn="ctr">
              <a:spcBef>
                <a:spcPts val="0"/>
              </a:spcBef>
              <a:spcAft>
                <a:spcPts val="0"/>
              </a:spcAft>
              <a:buNone/>
            </a:pPr>
            <a:r>
              <a:rPr b="1" i="0" lang="en-GB" sz="2100" u="none" cap="none" strike="noStrike">
                <a:solidFill>
                  <a:srgbClr val="FF0000"/>
                </a:solidFill>
                <a:latin typeface="Cambria"/>
                <a:ea typeface="Cambria"/>
                <a:cs typeface="Cambria"/>
                <a:sym typeface="Cambria"/>
              </a:rPr>
              <a:t>for AI-Generated Code Changes</a:t>
            </a:r>
            <a:endParaRPr sz="1100"/>
          </a:p>
          <a:p>
            <a:pPr indent="0" lvl="0" marL="0" marR="0" rtl="0" algn="ctr">
              <a:spcBef>
                <a:spcPts val="0"/>
              </a:spcBef>
              <a:spcAft>
                <a:spcPts val="0"/>
              </a:spcAft>
              <a:buNone/>
            </a:pPr>
            <a:r>
              <a:rPr b="1" i="0" lang="en-GB" sz="1800" u="none" cap="none" strike="noStrike">
                <a:solidFill>
                  <a:srgbClr val="B6114D"/>
                </a:solidFill>
                <a:latin typeface="Cambria"/>
                <a:ea typeface="Cambria"/>
                <a:cs typeface="Cambria"/>
                <a:sym typeface="Cambria"/>
              </a:rPr>
              <a:t>Review 3</a:t>
            </a:r>
            <a:endParaRPr sz="1100"/>
          </a:p>
        </p:txBody>
      </p:sp>
      <p:sp>
        <p:nvSpPr>
          <p:cNvPr id="131" name="Google Shape;131;p25"/>
          <p:cNvSpPr txBox="1"/>
          <p:nvPr/>
        </p:nvSpPr>
        <p:spPr>
          <a:xfrm>
            <a:off x="480073" y="1453896"/>
            <a:ext cx="2057455" cy="240030"/>
          </a:xfrm>
          <a:prstGeom prst="rect">
            <a:avLst/>
          </a:prstGeom>
          <a:noFill/>
          <a:ln>
            <a:noFill/>
          </a:ln>
        </p:spPr>
        <p:txBody>
          <a:bodyPr anchorCtr="0" anchor="t" bIns="20575" lIns="34275" spcFirstLastPara="1" rIns="34275" wrap="square" tIns="20575">
            <a:spAutoFit/>
          </a:bodyPr>
          <a:lstStyle/>
          <a:p>
            <a:pPr indent="0" lvl="0" marL="0" marR="0" rtl="0" algn="l">
              <a:spcBef>
                <a:spcPts val="0"/>
              </a:spcBef>
              <a:spcAft>
                <a:spcPts val="0"/>
              </a:spcAft>
              <a:buNone/>
            </a:pPr>
            <a:r>
              <a:rPr b="0" i="0" lang="en-GB" sz="800" u="none" cap="none" strike="noStrike">
                <a:solidFill>
                  <a:srgbClr val="000000"/>
                </a:solidFill>
                <a:latin typeface="Calibri"/>
                <a:ea typeface="Calibri"/>
                <a:cs typeface="Calibri"/>
                <a:sym typeface="Calibri"/>
              </a:rPr>
              <a:t>Group No: 24</a:t>
            </a:r>
            <a:endParaRPr sz="1100"/>
          </a:p>
        </p:txBody>
      </p:sp>
      <p:sp>
        <p:nvSpPr>
          <p:cNvPr id="132" name="Google Shape;132;p25"/>
          <p:cNvSpPr txBox="1"/>
          <p:nvPr/>
        </p:nvSpPr>
        <p:spPr>
          <a:xfrm>
            <a:off x="7285212" y="1491559"/>
            <a:ext cx="3429000" cy="164700"/>
          </a:xfrm>
          <a:prstGeom prst="rect">
            <a:avLst/>
          </a:prstGeom>
          <a:noFill/>
          <a:ln>
            <a:noFill/>
          </a:ln>
        </p:spPr>
        <p:txBody>
          <a:bodyPr anchorCtr="0" anchor="t" bIns="20575" lIns="34275" spcFirstLastPara="1" rIns="34275" wrap="square" tIns="20575">
            <a:spAutoFit/>
          </a:bodyPr>
          <a:lstStyle/>
          <a:p>
            <a:pPr indent="0" lvl="0" marL="0" marR="0" rtl="0" algn="l">
              <a:spcBef>
                <a:spcPts val="0"/>
              </a:spcBef>
              <a:spcAft>
                <a:spcPts val="0"/>
              </a:spcAft>
              <a:buNone/>
            </a:pPr>
            <a:r>
              <a:rPr b="0" i="0" lang="en-GB" sz="800" u="none" cap="none" strike="noStrike">
                <a:solidFill>
                  <a:srgbClr val="000000"/>
                </a:solidFill>
                <a:latin typeface="Calibri"/>
                <a:ea typeface="Calibri"/>
                <a:cs typeface="Calibri"/>
                <a:sym typeface="Calibri"/>
              </a:rPr>
              <a:t>Category:  </a:t>
            </a:r>
            <a:r>
              <a:rPr b="1" i="0" lang="en-GB" sz="800" u="none" cap="none" strike="noStrike">
                <a:solidFill>
                  <a:srgbClr val="000000"/>
                </a:solidFill>
                <a:latin typeface="Calibri"/>
                <a:ea typeface="Calibri"/>
                <a:cs typeface="Calibri"/>
                <a:sym typeface="Calibri"/>
              </a:rPr>
              <a:t>Product</a:t>
            </a:r>
            <a:endParaRPr sz="1100"/>
          </a:p>
        </p:txBody>
      </p:sp>
      <p:sp>
        <p:nvSpPr>
          <p:cNvPr id="133" name="Google Shape;133;p25"/>
          <p:cNvSpPr txBox="1"/>
          <p:nvPr/>
        </p:nvSpPr>
        <p:spPr>
          <a:xfrm>
            <a:off x="480073" y="1714500"/>
            <a:ext cx="2743273" cy="240030"/>
          </a:xfrm>
          <a:prstGeom prst="rect">
            <a:avLst/>
          </a:prstGeom>
          <a:noFill/>
          <a:ln>
            <a:noFill/>
          </a:ln>
        </p:spPr>
        <p:txBody>
          <a:bodyPr anchorCtr="0" anchor="t" bIns="20575" lIns="34275" spcFirstLastPara="1" rIns="34275" wrap="square" tIns="20575">
            <a:spAutoFit/>
          </a:bodyPr>
          <a:lstStyle/>
          <a:p>
            <a:pPr indent="0" lvl="0" marL="0" marR="0" rtl="0" algn="l">
              <a:spcBef>
                <a:spcPts val="0"/>
              </a:spcBef>
              <a:spcAft>
                <a:spcPts val="0"/>
              </a:spcAft>
              <a:buNone/>
            </a:pPr>
            <a:r>
              <a:rPr b="1" i="0" lang="en-GB" sz="900" u="none" cap="none" strike="noStrike">
                <a:solidFill>
                  <a:srgbClr val="FF0000"/>
                </a:solidFill>
                <a:latin typeface="Calibri"/>
                <a:ea typeface="Calibri"/>
                <a:cs typeface="Calibri"/>
                <a:sym typeface="Calibri"/>
              </a:rPr>
              <a:t>COLLABORATOR</a:t>
            </a:r>
            <a:endParaRPr sz="1100"/>
          </a:p>
        </p:txBody>
      </p:sp>
      <p:sp>
        <p:nvSpPr>
          <p:cNvPr id="134" name="Google Shape;134;p25"/>
          <p:cNvSpPr txBox="1"/>
          <p:nvPr/>
        </p:nvSpPr>
        <p:spPr>
          <a:xfrm>
            <a:off x="480073" y="1954530"/>
            <a:ext cx="2743200" cy="195600"/>
          </a:xfrm>
          <a:prstGeom prst="rect">
            <a:avLst/>
          </a:prstGeom>
          <a:noFill/>
          <a:ln>
            <a:noFill/>
          </a:ln>
        </p:spPr>
        <p:txBody>
          <a:bodyPr anchorCtr="0" anchor="t" bIns="20575" lIns="34275" spcFirstLastPara="1" rIns="34275" wrap="square" tIns="20575">
            <a:spAutoFit/>
          </a:bodyPr>
          <a:lstStyle/>
          <a:p>
            <a:pPr indent="0" lvl="0" marL="0" marR="0" rtl="0" algn="l">
              <a:spcBef>
                <a:spcPts val="0"/>
              </a:spcBef>
              <a:spcAft>
                <a:spcPts val="0"/>
              </a:spcAft>
              <a:buNone/>
            </a:pPr>
            <a:r>
              <a:rPr b="0" i="0" lang="en-GB" sz="1000" u="none" cap="none" strike="noStrike">
                <a:solidFill>
                  <a:srgbClr val="000000"/>
                </a:solidFill>
                <a:latin typeface="Calibri"/>
                <a:ea typeface="Calibri"/>
                <a:cs typeface="Calibri"/>
                <a:sym typeface="Calibri"/>
              </a:rPr>
              <a:t>N/A </a:t>
            </a:r>
            <a:endParaRPr sz="1000">
              <a:latin typeface="Calibri"/>
              <a:ea typeface="Calibri"/>
              <a:cs typeface="Calibri"/>
              <a:sym typeface="Calibri"/>
            </a:endParaRPr>
          </a:p>
        </p:txBody>
      </p:sp>
      <p:sp>
        <p:nvSpPr>
          <p:cNvPr id="135" name="Google Shape;135;p25"/>
          <p:cNvSpPr txBox="1"/>
          <p:nvPr/>
        </p:nvSpPr>
        <p:spPr>
          <a:xfrm>
            <a:off x="4704713" y="1748790"/>
            <a:ext cx="4114910" cy="240030"/>
          </a:xfrm>
          <a:prstGeom prst="rect">
            <a:avLst/>
          </a:prstGeom>
          <a:noFill/>
          <a:ln>
            <a:noFill/>
          </a:ln>
        </p:spPr>
        <p:txBody>
          <a:bodyPr anchorCtr="0" anchor="t" bIns="20575" lIns="34275" spcFirstLastPara="1" rIns="34275" wrap="square" tIns="20575">
            <a:spAutoFit/>
          </a:bodyPr>
          <a:lstStyle/>
          <a:p>
            <a:pPr indent="0" lvl="0" marL="0" marR="0" rtl="0" algn="l">
              <a:spcBef>
                <a:spcPts val="0"/>
              </a:spcBef>
              <a:spcAft>
                <a:spcPts val="0"/>
              </a:spcAft>
              <a:buNone/>
            </a:pPr>
            <a:r>
              <a:rPr b="1" i="0" lang="en-GB" sz="900" u="none" cap="none" strike="noStrike">
                <a:solidFill>
                  <a:srgbClr val="FF0000"/>
                </a:solidFill>
                <a:latin typeface="Calibri"/>
                <a:ea typeface="Calibri"/>
                <a:cs typeface="Calibri"/>
                <a:sym typeface="Calibri"/>
              </a:rPr>
              <a:t>FACULTY GUIDE</a:t>
            </a:r>
            <a:endParaRPr sz="1100"/>
          </a:p>
        </p:txBody>
      </p:sp>
      <p:sp>
        <p:nvSpPr>
          <p:cNvPr id="136" name="Google Shape;136;p25"/>
          <p:cNvSpPr txBox="1"/>
          <p:nvPr/>
        </p:nvSpPr>
        <p:spPr>
          <a:xfrm>
            <a:off x="4704713" y="1954530"/>
            <a:ext cx="4389237" cy="240030"/>
          </a:xfrm>
          <a:prstGeom prst="rect">
            <a:avLst/>
          </a:prstGeom>
          <a:noFill/>
          <a:ln>
            <a:noFill/>
          </a:ln>
        </p:spPr>
        <p:txBody>
          <a:bodyPr anchorCtr="0" anchor="t" bIns="20575" lIns="34275" spcFirstLastPara="1" rIns="34275" wrap="square" tIns="20575">
            <a:spAutoFit/>
          </a:bodyPr>
          <a:lstStyle/>
          <a:p>
            <a:pPr indent="0" lvl="0" marL="0" marR="0" rtl="0" algn="l">
              <a:spcBef>
                <a:spcPts val="0"/>
              </a:spcBef>
              <a:spcAft>
                <a:spcPts val="0"/>
              </a:spcAft>
              <a:buNone/>
            </a:pPr>
            <a:r>
              <a:rPr b="0" i="0" lang="en-GB" sz="1000" u="none" cap="none" strike="noStrike">
                <a:solidFill>
                  <a:srgbClr val="000000"/>
                </a:solidFill>
                <a:latin typeface="Calibri"/>
                <a:ea typeface="Calibri"/>
                <a:cs typeface="Calibri"/>
                <a:sym typeface="Calibri"/>
              </a:rPr>
              <a:t>Dr. T. Senthil Kumar, Professor, CSE Department</a:t>
            </a:r>
            <a:endParaRPr sz="1100"/>
          </a:p>
        </p:txBody>
      </p:sp>
      <p:sp>
        <p:nvSpPr>
          <p:cNvPr id="137" name="Google Shape;137;p25"/>
          <p:cNvSpPr txBox="1"/>
          <p:nvPr/>
        </p:nvSpPr>
        <p:spPr>
          <a:xfrm>
            <a:off x="480123" y="2185208"/>
            <a:ext cx="2743200" cy="180000"/>
          </a:xfrm>
          <a:prstGeom prst="rect">
            <a:avLst/>
          </a:prstGeom>
          <a:noFill/>
          <a:ln>
            <a:noFill/>
          </a:ln>
        </p:spPr>
        <p:txBody>
          <a:bodyPr anchorCtr="0" anchor="t" bIns="20575" lIns="34275" spcFirstLastPara="1" rIns="34275" wrap="square" tIns="20575">
            <a:spAutoFit/>
          </a:bodyPr>
          <a:lstStyle/>
          <a:p>
            <a:pPr indent="0" lvl="0" marL="0" marR="0" rtl="0" algn="l">
              <a:spcBef>
                <a:spcPts val="0"/>
              </a:spcBef>
              <a:spcAft>
                <a:spcPts val="0"/>
              </a:spcAft>
              <a:buNone/>
            </a:pPr>
            <a:r>
              <a:rPr b="1" i="0" lang="en-GB" sz="900" u="none" cap="none" strike="noStrike">
                <a:solidFill>
                  <a:srgbClr val="FF0000"/>
                </a:solidFill>
                <a:latin typeface="Calibri"/>
                <a:ea typeface="Calibri"/>
                <a:cs typeface="Calibri"/>
                <a:sym typeface="Calibri"/>
              </a:rPr>
              <a:t>TEAM MEMBERS</a:t>
            </a:r>
            <a:endParaRPr sz="1100"/>
          </a:p>
        </p:txBody>
      </p:sp>
      <p:graphicFrame>
        <p:nvGraphicFramePr>
          <p:cNvPr id="138" name="Google Shape;138;p25"/>
          <p:cNvGraphicFramePr/>
          <p:nvPr/>
        </p:nvGraphicFramePr>
        <p:xfrm>
          <a:off x="266560" y="2400290"/>
          <a:ext cx="3000000" cy="3000000"/>
        </p:xfrm>
        <a:graphic>
          <a:graphicData uri="http://schemas.openxmlformats.org/drawingml/2006/table">
            <a:tbl>
              <a:tblPr>
                <a:noFill/>
                <a:tableStyleId>{169D394B-215C-444C-A365-8B24343702ED}</a:tableStyleId>
              </a:tblPr>
              <a:tblGrid>
                <a:gridCol w="1322925"/>
                <a:gridCol w="1740700"/>
                <a:gridCol w="765925"/>
                <a:gridCol w="2297775"/>
                <a:gridCol w="1044425"/>
                <a:gridCol w="1427400"/>
              </a:tblGrid>
              <a:tr h="630850">
                <a:tc>
                  <a:txBody>
                    <a:bodyPr/>
                    <a:lstStyle/>
                    <a:p>
                      <a:pPr indent="0" lvl="0" marL="0" marR="0" rtl="0" algn="ctr">
                        <a:spcBef>
                          <a:spcPts val="0"/>
                        </a:spcBef>
                        <a:spcAft>
                          <a:spcPts val="0"/>
                        </a:spcAft>
                        <a:buNone/>
                      </a:pPr>
                      <a:r>
                        <a:rPr b="1" lang="en-GB" sz="1200" u="none" cap="none" strike="noStrike">
                          <a:solidFill>
                            <a:srgbClr val="FFFFFF"/>
                          </a:solidFill>
                          <a:latin typeface="Calibri"/>
                          <a:ea typeface="Calibri"/>
                          <a:cs typeface="Calibri"/>
                          <a:sym typeface="Calibri"/>
                        </a:rPr>
                        <a:t>Roll No</a:t>
                      </a:r>
                      <a:endParaRPr sz="1100"/>
                    </a:p>
                  </a:txBody>
                  <a:tcPr marT="34300" marB="34300" marR="54875" marL="54875" anchor="ctr">
                    <a:lnL cap="flat" cmpd="sng" w="9525">
                      <a:solidFill>
                        <a:srgbClr val="CFD8EC"/>
                      </a:solidFill>
                      <a:prstDash val="solid"/>
                      <a:round/>
                      <a:headEnd len="sm" w="sm" type="none"/>
                      <a:tailEnd len="sm" w="sm" type="none"/>
                    </a:lnL>
                    <a:lnR cap="flat" cmpd="sng" w="9525">
                      <a:solidFill>
                        <a:srgbClr val="CFD8EC"/>
                      </a:solidFill>
                      <a:prstDash val="solid"/>
                      <a:round/>
                      <a:headEnd len="sm" w="sm" type="none"/>
                      <a:tailEnd len="sm" w="sm" type="none"/>
                    </a:lnR>
                    <a:lnT cap="flat" cmpd="sng" w="9525">
                      <a:solidFill>
                        <a:srgbClr val="CFD8EC"/>
                      </a:solidFill>
                      <a:prstDash val="solid"/>
                      <a:round/>
                      <a:headEnd len="sm" w="sm" type="none"/>
                      <a:tailEnd len="sm" w="sm" type="none"/>
                    </a:lnT>
                    <a:lnB cap="flat" cmpd="sng" w="9525">
                      <a:solidFill>
                        <a:srgbClr val="CFD8EC"/>
                      </a:solidFill>
                      <a:prstDash val="solid"/>
                      <a:round/>
                      <a:headEnd len="sm" w="sm" type="none"/>
                      <a:tailEnd len="sm" w="sm" type="none"/>
                    </a:lnB>
                    <a:solidFill>
                      <a:srgbClr val="C00000"/>
                    </a:solidFill>
                  </a:tcPr>
                </a:tc>
                <a:tc>
                  <a:txBody>
                    <a:bodyPr/>
                    <a:lstStyle/>
                    <a:p>
                      <a:pPr indent="0" lvl="0" marL="0" marR="0" rtl="0" algn="ctr">
                        <a:spcBef>
                          <a:spcPts val="0"/>
                        </a:spcBef>
                        <a:spcAft>
                          <a:spcPts val="0"/>
                        </a:spcAft>
                        <a:buNone/>
                      </a:pPr>
                      <a:r>
                        <a:rPr b="1" lang="en-GB" sz="1200" u="none" cap="none" strike="noStrike">
                          <a:solidFill>
                            <a:srgbClr val="FFFFFF"/>
                          </a:solidFill>
                          <a:latin typeface="Calibri"/>
                          <a:ea typeface="Calibri"/>
                          <a:cs typeface="Calibri"/>
                          <a:sym typeface="Calibri"/>
                        </a:rPr>
                        <a:t>Name</a:t>
                      </a:r>
                      <a:endParaRPr sz="1100"/>
                    </a:p>
                  </a:txBody>
                  <a:tcPr marT="34300" marB="34300" marR="54875" marL="54875" anchor="ctr">
                    <a:lnL cap="flat" cmpd="sng" w="9525">
                      <a:solidFill>
                        <a:srgbClr val="CFD8EC"/>
                      </a:solidFill>
                      <a:prstDash val="solid"/>
                      <a:round/>
                      <a:headEnd len="sm" w="sm" type="none"/>
                      <a:tailEnd len="sm" w="sm" type="none"/>
                    </a:lnL>
                    <a:lnR cap="flat" cmpd="sng" w="9525">
                      <a:solidFill>
                        <a:srgbClr val="CFD8EC"/>
                      </a:solidFill>
                      <a:prstDash val="solid"/>
                      <a:round/>
                      <a:headEnd len="sm" w="sm" type="none"/>
                      <a:tailEnd len="sm" w="sm" type="none"/>
                    </a:lnR>
                    <a:lnT cap="flat" cmpd="sng" w="9525">
                      <a:solidFill>
                        <a:srgbClr val="CFD8EC"/>
                      </a:solidFill>
                      <a:prstDash val="solid"/>
                      <a:round/>
                      <a:headEnd len="sm" w="sm" type="none"/>
                      <a:tailEnd len="sm" w="sm" type="none"/>
                    </a:lnT>
                    <a:lnB cap="flat" cmpd="sng" w="9525">
                      <a:solidFill>
                        <a:srgbClr val="CFD8EC"/>
                      </a:solidFill>
                      <a:prstDash val="solid"/>
                      <a:round/>
                      <a:headEnd len="sm" w="sm" type="none"/>
                      <a:tailEnd len="sm" w="sm" type="none"/>
                    </a:lnB>
                    <a:solidFill>
                      <a:srgbClr val="C00000"/>
                    </a:solidFill>
                  </a:tcPr>
                </a:tc>
                <a:tc>
                  <a:txBody>
                    <a:bodyPr/>
                    <a:lstStyle/>
                    <a:p>
                      <a:pPr indent="0" lvl="0" marL="0" marR="0" rtl="0" algn="ctr">
                        <a:spcBef>
                          <a:spcPts val="0"/>
                        </a:spcBef>
                        <a:spcAft>
                          <a:spcPts val="0"/>
                        </a:spcAft>
                        <a:buNone/>
                      </a:pPr>
                      <a:r>
                        <a:rPr b="1" lang="en-GB" sz="1200" u="none" cap="none" strike="noStrike">
                          <a:solidFill>
                            <a:srgbClr val="FFFFFF"/>
                          </a:solidFill>
                          <a:latin typeface="Calibri"/>
                          <a:ea typeface="Calibri"/>
                          <a:cs typeface="Calibri"/>
                          <a:sym typeface="Calibri"/>
                        </a:rPr>
                        <a:t>Photo</a:t>
                      </a:r>
                      <a:endParaRPr sz="1100"/>
                    </a:p>
                  </a:txBody>
                  <a:tcPr marT="34300" marB="34300" marR="54875" marL="54875" anchor="ctr">
                    <a:lnL cap="flat" cmpd="sng" w="9525">
                      <a:solidFill>
                        <a:srgbClr val="CFD8EC"/>
                      </a:solidFill>
                      <a:prstDash val="solid"/>
                      <a:round/>
                      <a:headEnd len="sm" w="sm" type="none"/>
                      <a:tailEnd len="sm" w="sm" type="none"/>
                    </a:lnL>
                    <a:lnR cap="flat" cmpd="sng" w="9525">
                      <a:solidFill>
                        <a:srgbClr val="CFD8EC"/>
                      </a:solidFill>
                      <a:prstDash val="solid"/>
                      <a:round/>
                      <a:headEnd len="sm" w="sm" type="none"/>
                      <a:tailEnd len="sm" w="sm" type="none"/>
                    </a:lnR>
                    <a:lnT cap="flat" cmpd="sng" w="9525">
                      <a:solidFill>
                        <a:srgbClr val="CFD8EC"/>
                      </a:solidFill>
                      <a:prstDash val="solid"/>
                      <a:round/>
                      <a:headEnd len="sm" w="sm" type="none"/>
                      <a:tailEnd len="sm" w="sm" type="none"/>
                    </a:lnT>
                    <a:lnB cap="flat" cmpd="sng" w="9525">
                      <a:solidFill>
                        <a:srgbClr val="CFD8EC"/>
                      </a:solidFill>
                      <a:prstDash val="solid"/>
                      <a:round/>
                      <a:headEnd len="sm" w="sm" type="none"/>
                      <a:tailEnd len="sm" w="sm" type="none"/>
                    </a:lnB>
                    <a:solidFill>
                      <a:srgbClr val="C00000"/>
                    </a:solidFill>
                  </a:tcPr>
                </a:tc>
                <a:tc>
                  <a:txBody>
                    <a:bodyPr/>
                    <a:lstStyle/>
                    <a:p>
                      <a:pPr indent="0" lvl="0" marL="0" marR="0" rtl="0" algn="ctr">
                        <a:spcBef>
                          <a:spcPts val="0"/>
                        </a:spcBef>
                        <a:spcAft>
                          <a:spcPts val="0"/>
                        </a:spcAft>
                        <a:buNone/>
                      </a:pPr>
                      <a:r>
                        <a:rPr b="1" lang="en-GB" sz="1200" u="none" cap="none" strike="noStrike">
                          <a:solidFill>
                            <a:srgbClr val="FFFFFF"/>
                          </a:solidFill>
                          <a:latin typeface="Calibri"/>
                          <a:ea typeface="Calibri"/>
                          <a:cs typeface="Calibri"/>
                          <a:sym typeface="Calibri"/>
                        </a:rPr>
                        <a:t>Email ID</a:t>
                      </a:r>
                      <a:endParaRPr sz="1100"/>
                    </a:p>
                  </a:txBody>
                  <a:tcPr marT="34300" marB="34300" marR="54875" marL="54875" anchor="ctr">
                    <a:lnL cap="flat" cmpd="sng" w="9525">
                      <a:solidFill>
                        <a:srgbClr val="CFD8EC"/>
                      </a:solidFill>
                      <a:prstDash val="solid"/>
                      <a:round/>
                      <a:headEnd len="sm" w="sm" type="none"/>
                      <a:tailEnd len="sm" w="sm" type="none"/>
                    </a:lnL>
                    <a:lnR cap="flat" cmpd="sng" w="9525">
                      <a:solidFill>
                        <a:srgbClr val="CFD8EC"/>
                      </a:solidFill>
                      <a:prstDash val="solid"/>
                      <a:round/>
                      <a:headEnd len="sm" w="sm" type="none"/>
                      <a:tailEnd len="sm" w="sm" type="none"/>
                    </a:lnR>
                    <a:lnT cap="flat" cmpd="sng" w="9525">
                      <a:solidFill>
                        <a:srgbClr val="CFD8EC"/>
                      </a:solidFill>
                      <a:prstDash val="solid"/>
                      <a:round/>
                      <a:headEnd len="sm" w="sm" type="none"/>
                      <a:tailEnd len="sm" w="sm" type="none"/>
                    </a:lnT>
                    <a:lnB cap="flat" cmpd="sng" w="9525">
                      <a:solidFill>
                        <a:srgbClr val="CFD8EC"/>
                      </a:solidFill>
                      <a:prstDash val="solid"/>
                      <a:round/>
                      <a:headEnd len="sm" w="sm" type="none"/>
                      <a:tailEnd len="sm" w="sm" type="none"/>
                    </a:lnB>
                    <a:solidFill>
                      <a:srgbClr val="C00000"/>
                    </a:solidFill>
                  </a:tcPr>
                </a:tc>
                <a:tc>
                  <a:txBody>
                    <a:bodyPr/>
                    <a:lstStyle/>
                    <a:p>
                      <a:pPr indent="0" lvl="0" marL="0" marR="0" rtl="0" algn="ctr">
                        <a:spcBef>
                          <a:spcPts val="0"/>
                        </a:spcBef>
                        <a:spcAft>
                          <a:spcPts val="0"/>
                        </a:spcAft>
                        <a:buNone/>
                      </a:pPr>
                      <a:r>
                        <a:rPr b="1" lang="en-GB" sz="1200" u="none" cap="none" strike="noStrike">
                          <a:solidFill>
                            <a:srgbClr val="FFFFFF"/>
                          </a:solidFill>
                          <a:latin typeface="Calibri"/>
                          <a:ea typeface="Calibri"/>
                          <a:cs typeface="Calibri"/>
                          <a:sym typeface="Calibri"/>
                        </a:rPr>
                        <a:t>Mobile No</a:t>
                      </a:r>
                      <a:endParaRPr sz="1100"/>
                    </a:p>
                  </a:txBody>
                  <a:tcPr marT="34300" marB="34300" marR="54875" marL="54875" anchor="ctr">
                    <a:lnL cap="flat" cmpd="sng" w="9525">
                      <a:solidFill>
                        <a:srgbClr val="CFD8EC"/>
                      </a:solidFill>
                      <a:prstDash val="solid"/>
                      <a:round/>
                      <a:headEnd len="sm" w="sm" type="none"/>
                      <a:tailEnd len="sm" w="sm" type="none"/>
                    </a:lnL>
                    <a:lnR cap="flat" cmpd="sng" w="9525">
                      <a:solidFill>
                        <a:srgbClr val="CFD8EC"/>
                      </a:solidFill>
                      <a:prstDash val="solid"/>
                      <a:round/>
                      <a:headEnd len="sm" w="sm" type="none"/>
                      <a:tailEnd len="sm" w="sm" type="none"/>
                    </a:lnR>
                    <a:lnT cap="flat" cmpd="sng" w="9525">
                      <a:solidFill>
                        <a:srgbClr val="CFD8EC"/>
                      </a:solidFill>
                      <a:prstDash val="solid"/>
                      <a:round/>
                      <a:headEnd len="sm" w="sm" type="none"/>
                      <a:tailEnd len="sm" w="sm" type="none"/>
                    </a:lnT>
                    <a:lnB cap="flat" cmpd="sng" w="9525">
                      <a:solidFill>
                        <a:srgbClr val="CFD8EC"/>
                      </a:solidFill>
                      <a:prstDash val="solid"/>
                      <a:round/>
                      <a:headEnd len="sm" w="sm" type="none"/>
                      <a:tailEnd len="sm" w="sm" type="none"/>
                    </a:lnB>
                    <a:solidFill>
                      <a:srgbClr val="C00000"/>
                    </a:solidFill>
                  </a:tcPr>
                </a:tc>
                <a:tc>
                  <a:txBody>
                    <a:bodyPr/>
                    <a:lstStyle/>
                    <a:p>
                      <a:pPr indent="0" lvl="0" marL="0" marR="0" rtl="0" algn="ctr">
                        <a:spcBef>
                          <a:spcPts val="0"/>
                        </a:spcBef>
                        <a:spcAft>
                          <a:spcPts val="0"/>
                        </a:spcAft>
                        <a:buNone/>
                      </a:pPr>
                      <a:r>
                        <a:rPr b="1" lang="en-GB" sz="1200" u="none" cap="none" strike="noStrike">
                          <a:solidFill>
                            <a:srgbClr val="FFFFFF"/>
                          </a:solidFill>
                          <a:latin typeface="Calibri"/>
                          <a:ea typeface="Calibri"/>
                          <a:cs typeface="Calibri"/>
                          <a:sym typeface="Calibri"/>
                        </a:rPr>
                        <a:t>GitHub URL</a:t>
                      </a:r>
                      <a:endParaRPr sz="1100"/>
                    </a:p>
                  </a:txBody>
                  <a:tcPr marT="34300" marB="34300" marR="54875" marL="54875" anchor="ctr">
                    <a:lnL cap="flat" cmpd="sng" w="9525">
                      <a:solidFill>
                        <a:srgbClr val="CFD8EC"/>
                      </a:solidFill>
                      <a:prstDash val="solid"/>
                      <a:round/>
                      <a:headEnd len="sm" w="sm" type="none"/>
                      <a:tailEnd len="sm" w="sm" type="none"/>
                    </a:lnL>
                    <a:lnR cap="flat" cmpd="sng" w="9525">
                      <a:solidFill>
                        <a:srgbClr val="CFD8EC"/>
                      </a:solidFill>
                      <a:prstDash val="solid"/>
                      <a:round/>
                      <a:headEnd len="sm" w="sm" type="none"/>
                      <a:tailEnd len="sm" w="sm" type="none"/>
                    </a:lnR>
                    <a:lnT cap="flat" cmpd="sng" w="9525">
                      <a:solidFill>
                        <a:srgbClr val="CFD8EC"/>
                      </a:solidFill>
                      <a:prstDash val="solid"/>
                      <a:round/>
                      <a:headEnd len="sm" w="sm" type="none"/>
                      <a:tailEnd len="sm" w="sm" type="none"/>
                    </a:lnT>
                    <a:lnB cap="flat" cmpd="sng" w="9525">
                      <a:solidFill>
                        <a:srgbClr val="CFD8EC"/>
                      </a:solidFill>
                      <a:prstDash val="solid"/>
                      <a:round/>
                      <a:headEnd len="sm" w="sm" type="none"/>
                      <a:tailEnd len="sm" w="sm" type="none"/>
                    </a:lnB>
                    <a:solidFill>
                      <a:srgbClr val="C00000"/>
                    </a:solidFill>
                  </a:tcPr>
                </a:tc>
              </a:tr>
              <a:tr h="693900">
                <a:tc>
                  <a:txBody>
                    <a:bodyPr/>
                    <a:lstStyle/>
                    <a:p>
                      <a:pPr indent="0" lvl="0" marL="0" marR="0" rtl="0" algn="ctr">
                        <a:spcBef>
                          <a:spcPts val="0"/>
                        </a:spcBef>
                        <a:spcAft>
                          <a:spcPts val="0"/>
                        </a:spcAft>
                        <a:buNone/>
                      </a:pPr>
                      <a:r>
                        <a:rPr b="0" lang="en-GB" sz="700" u="none" cap="none" strike="noStrike">
                          <a:solidFill>
                            <a:srgbClr val="000000"/>
                          </a:solidFill>
                          <a:latin typeface="Calibri"/>
                          <a:ea typeface="Calibri"/>
                          <a:cs typeface="Calibri"/>
                          <a:sym typeface="Calibri"/>
                        </a:rPr>
                        <a:t>CB.SC.U4CSE23037</a:t>
                      </a:r>
                      <a:endParaRPr sz="1100"/>
                    </a:p>
                  </a:txBody>
                  <a:tcPr marT="34300" marB="34300" marR="54875" marL="54875" anchor="ctr">
                    <a:lnL cap="flat" cmpd="sng" w="9525">
                      <a:solidFill>
                        <a:srgbClr val="CFD8EC"/>
                      </a:solidFill>
                      <a:prstDash val="solid"/>
                      <a:round/>
                      <a:headEnd len="sm" w="sm" type="none"/>
                      <a:tailEnd len="sm" w="sm" type="none"/>
                    </a:lnL>
                    <a:lnR cap="flat" cmpd="sng" w="9525">
                      <a:solidFill>
                        <a:srgbClr val="CFD8EC"/>
                      </a:solidFill>
                      <a:prstDash val="solid"/>
                      <a:round/>
                      <a:headEnd len="sm" w="sm" type="none"/>
                      <a:tailEnd len="sm" w="sm" type="none"/>
                    </a:lnR>
                    <a:lnT cap="flat" cmpd="sng" w="9525">
                      <a:solidFill>
                        <a:srgbClr val="CFD8EC"/>
                      </a:solidFill>
                      <a:prstDash val="solid"/>
                      <a:round/>
                      <a:headEnd len="sm" w="sm" type="none"/>
                      <a:tailEnd len="sm" w="sm" type="none"/>
                    </a:lnT>
                    <a:lnB cap="flat" cmpd="sng" w="9525">
                      <a:solidFill>
                        <a:srgbClr val="CFD8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GB" sz="700" u="none" cap="none" strike="noStrike">
                          <a:solidFill>
                            <a:srgbClr val="000000"/>
                          </a:solidFill>
                          <a:latin typeface="Calibri"/>
                          <a:ea typeface="Calibri"/>
                          <a:cs typeface="Calibri"/>
                          <a:sym typeface="Calibri"/>
                        </a:rPr>
                        <a:t>Kundhave S</a:t>
                      </a:r>
                      <a:endParaRPr sz="1100"/>
                    </a:p>
                  </a:txBody>
                  <a:tcPr marT="34300" marB="34300" marR="54875" marL="54875" anchor="ctr">
                    <a:lnL cap="flat" cmpd="sng" w="9525">
                      <a:solidFill>
                        <a:srgbClr val="CFD8EC"/>
                      </a:solidFill>
                      <a:prstDash val="solid"/>
                      <a:round/>
                      <a:headEnd len="sm" w="sm" type="none"/>
                      <a:tailEnd len="sm" w="sm" type="none"/>
                    </a:lnL>
                    <a:lnR cap="flat" cmpd="sng" w="9525">
                      <a:solidFill>
                        <a:srgbClr val="CFD8EC"/>
                      </a:solidFill>
                      <a:prstDash val="solid"/>
                      <a:round/>
                      <a:headEnd len="sm" w="sm" type="none"/>
                      <a:tailEnd len="sm" w="sm" type="none"/>
                    </a:lnR>
                    <a:lnT cap="flat" cmpd="sng" w="9525">
                      <a:solidFill>
                        <a:srgbClr val="CFD8EC"/>
                      </a:solidFill>
                      <a:prstDash val="solid"/>
                      <a:round/>
                      <a:headEnd len="sm" w="sm" type="none"/>
                      <a:tailEnd len="sm" w="sm" type="none"/>
                    </a:lnT>
                    <a:lnB cap="flat" cmpd="sng" w="9525">
                      <a:solidFill>
                        <a:srgbClr val="CFD8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t/>
                      </a:r>
                      <a:endParaRPr sz="1400" u="none" cap="none" strike="noStrike">
                        <a:solidFill>
                          <a:schemeClr val="dk1"/>
                        </a:solidFill>
                        <a:latin typeface="Calibri"/>
                        <a:ea typeface="Calibri"/>
                        <a:cs typeface="Calibri"/>
                        <a:sym typeface="Calibri"/>
                      </a:endParaRPr>
                    </a:p>
                  </a:txBody>
                  <a:tcPr marT="34300" marB="34300" marR="54875" marL="54875" anchor="ctr">
                    <a:lnL cap="flat" cmpd="sng" w="9525">
                      <a:solidFill>
                        <a:srgbClr val="CFD8EC"/>
                      </a:solidFill>
                      <a:prstDash val="solid"/>
                      <a:round/>
                      <a:headEnd len="sm" w="sm" type="none"/>
                      <a:tailEnd len="sm" w="sm" type="none"/>
                    </a:lnL>
                    <a:lnR cap="flat" cmpd="sng" w="9525">
                      <a:solidFill>
                        <a:srgbClr val="CFD8EC"/>
                      </a:solidFill>
                      <a:prstDash val="solid"/>
                      <a:round/>
                      <a:headEnd len="sm" w="sm" type="none"/>
                      <a:tailEnd len="sm" w="sm" type="none"/>
                    </a:lnR>
                    <a:lnT cap="flat" cmpd="sng" w="9525">
                      <a:solidFill>
                        <a:srgbClr val="CFD8EC"/>
                      </a:solidFill>
                      <a:prstDash val="solid"/>
                      <a:round/>
                      <a:headEnd len="sm" w="sm" type="none"/>
                      <a:tailEnd len="sm" w="sm" type="none"/>
                    </a:lnT>
                    <a:lnB cap="flat" cmpd="sng" w="9525">
                      <a:solidFill>
                        <a:srgbClr val="CFD8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GB" sz="700" u="none" cap="none" strike="noStrike">
                          <a:solidFill>
                            <a:srgbClr val="000000"/>
                          </a:solidFill>
                          <a:latin typeface="Calibri"/>
                          <a:ea typeface="Calibri"/>
                          <a:cs typeface="Calibri"/>
                          <a:sym typeface="Calibri"/>
                        </a:rPr>
                        <a:t>kundhave</a:t>
                      </a:r>
                      <a:r>
                        <a:rPr lang="en-GB" sz="700">
                          <a:latin typeface="Calibri"/>
                          <a:ea typeface="Calibri"/>
                          <a:cs typeface="Calibri"/>
                          <a:sym typeface="Calibri"/>
                        </a:rPr>
                        <a:t>05</a:t>
                      </a:r>
                      <a:r>
                        <a:rPr b="0" lang="en-GB" sz="700" u="none" cap="none" strike="noStrike">
                          <a:solidFill>
                            <a:srgbClr val="000000"/>
                          </a:solidFill>
                          <a:latin typeface="Calibri"/>
                          <a:ea typeface="Calibri"/>
                          <a:cs typeface="Calibri"/>
                          <a:sym typeface="Calibri"/>
                        </a:rPr>
                        <a:t>@gmail.com</a:t>
                      </a:r>
                      <a:endParaRPr sz="1100"/>
                    </a:p>
                  </a:txBody>
                  <a:tcPr marT="34300" marB="34300" marR="54875" marL="54875" anchor="ctr">
                    <a:lnL cap="flat" cmpd="sng" w="9525">
                      <a:solidFill>
                        <a:srgbClr val="CFD8EC"/>
                      </a:solidFill>
                      <a:prstDash val="solid"/>
                      <a:round/>
                      <a:headEnd len="sm" w="sm" type="none"/>
                      <a:tailEnd len="sm" w="sm" type="none"/>
                    </a:lnL>
                    <a:lnR cap="flat" cmpd="sng" w="9525">
                      <a:solidFill>
                        <a:srgbClr val="CFD8EC"/>
                      </a:solidFill>
                      <a:prstDash val="solid"/>
                      <a:round/>
                      <a:headEnd len="sm" w="sm" type="none"/>
                      <a:tailEnd len="sm" w="sm" type="none"/>
                    </a:lnR>
                    <a:lnT cap="flat" cmpd="sng" w="9525">
                      <a:solidFill>
                        <a:srgbClr val="CFD8EC"/>
                      </a:solidFill>
                      <a:prstDash val="solid"/>
                      <a:round/>
                      <a:headEnd len="sm" w="sm" type="none"/>
                      <a:tailEnd len="sm" w="sm" type="none"/>
                    </a:lnT>
                    <a:lnB cap="flat" cmpd="sng" w="9525">
                      <a:solidFill>
                        <a:srgbClr val="CFD8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GB" sz="700">
                          <a:latin typeface="Calibri"/>
                          <a:ea typeface="Calibri"/>
                          <a:cs typeface="Calibri"/>
                          <a:sym typeface="Calibri"/>
                        </a:rPr>
                        <a:t>9344268947</a:t>
                      </a:r>
                      <a:endParaRPr sz="1100"/>
                    </a:p>
                  </a:txBody>
                  <a:tcPr marT="34300" marB="34300" marR="54875" marL="54875" anchor="ctr">
                    <a:lnL cap="flat" cmpd="sng" w="9525">
                      <a:solidFill>
                        <a:srgbClr val="CFD8EC"/>
                      </a:solidFill>
                      <a:prstDash val="solid"/>
                      <a:round/>
                      <a:headEnd len="sm" w="sm" type="none"/>
                      <a:tailEnd len="sm" w="sm" type="none"/>
                    </a:lnL>
                    <a:lnR cap="flat" cmpd="sng" w="9525">
                      <a:solidFill>
                        <a:srgbClr val="CFD8EC"/>
                      </a:solidFill>
                      <a:prstDash val="solid"/>
                      <a:round/>
                      <a:headEnd len="sm" w="sm" type="none"/>
                      <a:tailEnd len="sm" w="sm" type="none"/>
                    </a:lnR>
                    <a:lnT cap="flat" cmpd="sng" w="9525">
                      <a:solidFill>
                        <a:srgbClr val="CFD8EC"/>
                      </a:solidFill>
                      <a:prstDash val="solid"/>
                      <a:round/>
                      <a:headEnd len="sm" w="sm" type="none"/>
                      <a:tailEnd len="sm" w="sm" type="none"/>
                    </a:lnT>
                    <a:lnB cap="flat" cmpd="sng" w="9525">
                      <a:solidFill>
                        <a:srgbClr val="CFD8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GB" sz="700">
                          <a:latin typeface="Calibri"/>
                          <a:ea typeface="Calibri"/>
                          <a:cs typeface="Calibri"/>
                          <a:sym typeface="Calibri"/>
                        </a:rPr>
                        <a:t>https://github.com/Kundhave</a:t>
                      </a:r>
                      <a:endParaRPr sz="1100"/>
                    </a:p>
                  </a:txBody>
                  <a:tcPr marT="34300" marB="34300" marR="54875" marL="54875" anchor="ctr">
                    <a:lnL cap="flat" cmpd="sng" w="9525">
                      <a:solidFill>
                        <a:srgbClr val="CFD8EC"/>
                      </a:solidFill>
                      <a:prstDash val="solid"/>
                      <a:round/>
                      <a:headEnd len="sm" w="sm" type="none"/>
                      <a:tailEnd len="sm" w="sm" type="none"/>
                    </a:lnL>
                    <a:lnR cap="flat" cmpd="sng" w="9525">
                      <a:solidFill>
                        <a:srgbClr val="CFD8EC"/>
                      </a:solidFill>
                      <a:prstDash val="solid"/>
                      <a:round/>
                      <a:headEnd len="sm" w="sm" type="none"/>
                      <a:tailEnd len="sm" w="sm" type="none"/>
                    </a:lnR>
                    <a:lnT cap="flat" cmpd="sng" w="9525">
                      <a:solidFill>
                        <a:srgbClr val="CFD8EC"/>
                      </a:solidFill>
                      <a:prstDash val="solid"/>
                      <a:round/>
                      <a:headEnd len="sm" w="sm" type="none"/>
                      <a:tailEnd len="sm" w="sm" type="none"/>
                    </a:lnT>
                    <a:lnB cap="flat" cmpd="sng" w="9525">
                      <a:solidFill>
                        <a:srgbClr val="CFD8EC"/>
                      </a:solidFill>
                      <a:prstDash val="solid"/>
                      <a:round/>
                      <a:headEnd len="sm" w="sm" type="none"/>
                      <a:tailEnd len="sm" w="sm" type="none"/>
                    </a:lnB>
                    <a:solidFill>
                      <a:srgbClr val="FFFFFF"/>
                    </a:solidFill>
                  </a:tcPr>
                </a:tc>
              </a:tr>
            </a:tbl>
          </a:graphicData>
        </a:graphic>
      </p:graphicFrame>
      <p:sp>
        <p:nvSpPr>
          <p:cNvPr id="139" name="Google Shape;139;p25"/>
          <p:cNvSpPr txBox="1"/>
          <p:nvPr/>
        </p:nvSpPr>
        <p:spPr>
          <a:xfrm>
            <a:off x="480073" y="3798480"/>
            <a:ext cx="4114800" cy="164700"/>
          </a:xfrm>
          <a:prstGeom prst="rect">
            <a:avLst/>
          </a:prstGeom>
          <a:noFill/>
          <a:ln>
            <a:noFill/>
          </a:ln>
        </p:spPr>
        <p:txBody>
          <a:bodyPr anchorCtr="0" anchor="t" bIns="20575" lIns="34275" spcFirstLastPara="1" rIns="34275" wrap="square" tIns="20575">
            <a:spAutoFit/>
          </a:bodyPr>
          <a:lstStyle/>
          <a:p>
            <a:pPr indent="0" lvl="0" marL="0" marR="0" rtl="0" algn="l">
              <a:spcBef>
                <a:spcPts val="0"/>
              </a:spcBef>
              <a:spcAft>
                <a:spcPts val="0"/>
              </a:spcAft>
              <a:buNone/>
            </a:pPr>
            <a:r>
              <a:rPr b="0" i="0" lang="en-GB" sz="800" u="none" cap="none" strike="noStrike">
                <a:solidFill>
                  <a:srgbClr val="000000"/>
                </a:solidFill>
                <a:latin typeface="Calibri"/>
                <a:ea typeface="Calibri"/>
                <a:cs typeface="Calibri"/>
                <a:sym typeface="Calibri"/>
              </a:rPr>
              <a:t>LinkedIn Product Demo: N/A</a:t>
            </a:r>
            <a:endParaRPr sz="1100"/>
          </a:p>
        </p:txBody>
      </p:sp>
      <p:sp>
        <p:nvSpPr>
          <p:cNvPr id="140" name="Google Shape;140;p25"/>
          <p:cNvSpPr txBox="1"/>
          <p:nvPr/>
        </p:nvSpPr>
        <p:spPr>
          <a:xfrm>
            <a:off x="5311446" y="4148580"/>
            <a:ext cx="4114800" cy="164700"/>
          </a:xfrm>
          <a:prstGeom prst="rect">
            <a:avLst/>
          </a:prstGeom>
          <a:noFill/>
          <a:ln>
            <a:noFill/>
          </a:ln>
        </p:spPr>
        <p:txBody>
          <a:bodyPr anchorCtr="0" anchor="t" bIns="20575" lIns="34275" spcFirstLastPara="1" rIns="34275" wrap="square" tIns="20575">
            <a:spAutoFit/>
          </a:bodyPr>
          <a:lstStyle/>
          <a:p>
            <a:pPr indent="0" lvl="0" marL="0" marR="0" rtl="0" algn="l">
              <a:spcBef>
                <a:spcPts val="0"/>
              </a:spcBef>
              <a:spcAft>
                <a:spcPts val="0"/>
              </a:spcAft>
              <a:buNone/>
            </a:pPr>
            <a:r>
              <a:rPr b="0" i="0" lang="en-GB" sz="800" u="none" cap="none" strike="noStrike">
                <a:solidFill>
                  <a:srgbClr val="000000"/>
                </a:solidFill>
                <a:latin typeface="Calibri"/>
                <a:ea typeface="Calibri"/>
                <a:cs typeface="Calibri"/>
                <a:sym typeface="Calibri"/>
              </a:rPr>
              <a:t>GitHub Repository: </a:t>
            </a:r>
            <a:r>
              <a:rPr lang="en-GB" sz="800">
                <a:latin typeface="Calibri"/>
                <a:ea typeface="Calibri"/>
                <a:cs typeface="Calibri"/>
                <a:sym typeface="Calibri"/>
              </a:rPr>
              <a:t>https://github.com/Kundhave/sift</a:t>
            </a:r>
            <a:endParaRPr sz="1100"/>
          </a:p>
        </p:txBody>
      </p:sp>
      <p:sp>
        <p:nvSpPr>
          <p:cNvPr id="141" name="Google Shape;141;p25"/>
          <p:cNvSpPr txBox="1"/>
          <p:nvPr/>
        </p:nvSpPr>
        <p:spPr>
          <a:xfrm>
            <a:off x="480073" y="4038495"/>
            <a:ext cx="5486400" cy="411000"/>
          </a:xfrm>
          <a:prstGeom prst="rect">
            <a:avLst/>
          </a:prstGeom>
          <a:noFill/>
          <a:ln>
            <a:noFill/>
          </a:ln>
        </p:spPr>
        <p:txBody>
          <a:bodyPr anchorCtr="0" anchor="t" bIns="20575" lIns="34275" spcFirstLastPara="1" rIns="34275" wrap="square" tIns="20575">
            <a:spAutoFit/>
          </a:bodyPr>
          <a:lstStyle/>
          <a:p>
            <a:pPr indent="0" lvl="0" marL="0" marR="0" rtl="0" algn="l">
              <a:spcBef>
                <a:spcPts val="0"/>
              </a:spcBef>
              <a:spcAft>
                <a:spcPts val="0"/>
              </a:spcAft>
              <a:buNone/>
            </a:pPr>
            <a:r>
              <a:rPr b="0" i="0" lang="en-GB" sz="800" u="none" cap="none" strike="noStrike">
                <a:solidFill>
                  <a:srgbClr val="000000"/>
                </a:solidFill>
                <a:latin typeface="Calibri"/>
                <a:ea typeface="Calibri"/>
                <a:cs typeface="Calibri"/>
                <a:sym typeface="Calibri"/>
              </a:rPr>
              <a:t>This presentation is prepared for Course</a:t>
            </a:r>
            <a:endParaRPr sz="1100"/>
          </a:p>
          <a:p>
            <a:pPr indent="0" lvl="0" marL="0" marR="0" rtl="0" algn="l">
              <a:spcBef>
                <a:spcPts val="0"/>
              </a:spcBef>
              <a:spcAft>
                <a:spcPts val="0"/>
              </a:spcAft>
              <a:buNone/>
            </a:pPr>
            <a:r>
              <a:rPr b="0" i="0" lang="en-GB" sz="800" u="none" cap="none" strike="noStrike">
                <a:solidFill>
                  <a:srgbClr val="000000"/>
                </a:solidFill>
                <a:latin typeface="Calibri"/>
                <a:ea typeface="Calibri"/>
                <a:cs typeface="Calibri"/>
                <a:sym typeface="Calibri"/>
              </a:rPr>
              <a:t>23CSE473 – Neural Networks &amp; Deep Learning  |  Review 3</a:t>
            </a:r>
            <a:endParaRPr sz="800">
              <a:latin typeface="Calibri"/>
              <a:ea typeface="Calibri"/>
              <a:cs typeface="Calibri"/>
              <a:sym typeface="Calibri"/>
            </a:endParaRPr>
          </a:p>
          <a:p>
            <a:pPr indent="0" lvl="0" marL="0" marR="0" rtl="0" algn="l">
              <a:spcBef>
                <a:spcPts val="0"/>
              </a:spcBef>
              <a:spcAft>
                <a:spcPts val="0"/>
              </a:spcAft>
              <a:buNone/>
            </a:pPr>
            <a:r>
              <a:t/>
            </a:r>
            <a:endParaRPr sz="800">
              <a:latin typeface="Calibri"/>
              <a:ea typeface="Calibri"/>
              <a:cs typeface="Calibri"/>
              <a:sym typeface="Calibri"/>
            </a:endParaRPr>
          </a:p>
        </p:txBody>
      </p:sp>
      <p:sp>
        <p:nvSpPr>
          <p:cNvPr id="142" name="Google Shape;142;p25"/>
          <p:cNvSpPr/>
          <p:nvPr/>
        </p:nvSpPr>
        <p:spPr>
          <a:xfrm>
            <a:off x="0" y="4574286"/>
            <a:ext cx="9144015" cy="34290"/>
          </a:xfrm>
          <a:prstGeom prst="rect">
            <a:avLst/>
          </a:prstGeom>
          <a:solidFill>
            <a:srgbClr val="0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3" name="Google Shape;143;p25"/>
          <p:cNvSpPr/>
          <p:nvPr/>
        </p:nvSpPr>
        <p:spPr>
          <a:xfrm>
            <a:off x="0" y="4608576"/>
            <a:ext cx="9144015" cy="534924"/>
          </a:xfrm>
          <a:prstGeom prst="rect">
            <a:avLst/>
          </a:prstGeom>
          <a:solidFill>
            <a:srgbClr val="B6114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pic>
        <p:nvPicPr>
          <p:cNvPr descr="wordmark.png" id="144" name="Google Shape;144;p25"/>
          <p:cNvPicPr preferRelativeResize="0"/>
          <p:nvPr/>
        </p:nvPicPr>
        <p:blipFill rotWithShape="1">
          <a:blip r:embed="rId4">
            <a:alphaModFix/>
          </a:blip>
          <a:srcRect b="0" l="0" r="0" t="0"/>
          <a:stretch/>
        </p:blipFill>
        <p:spPr>
          <a:xfrm>
            <a:off x="7441128" y="4677156"/>
            <a:ext cx="1440180" cy="458881"/>
          </a:xfrm>
          <a:prstGeom prst="rect">
            <a:avLst/>
          </a:prstGeom>
          <a:noFill/>
          <a:ln>
            <a:noFill/>
          </a:ln>
        </p:spPr>
      </p:pic>
      <p:pic>
        <p:nvPicPr>
          <p:cNvPr id="145" name="Google Shape;145;p25" title="CSE23037.PNG"/>
          <p:cNvPicPr preferRelativeResize="0"/>
          <p:nvPr/>
        </p:nvPicPr>
        <p:blipFill>
          <a:blip r:embed="rId5">
            <a:alphaModFix/>
          </a:blip>
          <a:stretch>
            <a:fillRect/>
          </a:stretch>
        </p:blipFill>
        <p:spPr>
          <a:xfrm>
            <a:off x="3436731" y="3019425"/>
            <a:ext cx="568920" cy="703726"/>
          </a:xfrm>
          <a:prstGeom prst="rect">
            <a:avLst/>
          </a:prstGeom>
          <a:noFill/>
          <a:ln>
            <a:noFill/>
          </a:ln>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Abstract: what Sift does and what was measured</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2</a:t>
            </a:r>
          </a:p>
        </p:txBody>
      </p:sp>
      <p:sp>
        <p:nvSpPr>
          <p:cNvPr id="8" name="TextBox 7"/>
          <p:cNvSpPr txBox="1"/>
          <p:nvPr/>
        </p:nvSpPr>
        <p:spPr>
          <a:xfrm>
            <a:off x="320040" y="731520"/>
            <a:ext cx="4160520" cy="2834640"/>
          </a:xfrm>
          <a:prstGeom prst="rect">
            <a:avLst/>
          </a:prstGeom>
          <a:noFill/>
        </p:spPr>
        <p:txBody>
          <a:bodyPr wrap="square" anchor="t" lIns="73152" rIns="73152" tIns="36576" bIns="36576">
            <a:spAutoFit/>
          </a:bodyPr>
          <a:lstStyle/>
          <a:p>
            <a:pPr algn="l">
              <a:spcAft>
                <a:spcPts val="600"/>
              </a:spcAft>
            </a:pPr>
            <a:r>
              <a:rPr sz="1300" b="1" i="0">
                <a:solidFill>
                  <a:srgbClr val="262626"/>
                </a:solidFill>
                <a:latin typeface="Calibri"/>
              </a:rPr>
              <a:t>Sift is a local verification layer between an AI coding agent and the developer.</a:t>
            </a:r>
          </a:p>
          <a:p>
            <a:pPr algn="l">
              <a:spcAft>
                <a:spcPts val="600"/>
              </a:spcAft>
            </a:pPr>
            <a:r>
              <a:rPr sz="1200" b="0" i="0">
                <a:solidFill>
                  <a:srgbClr val="262626"/>
                </a:solidFill>
                <a:latin typeface="Calibri"/>
              </a:rPr>
              <a:t>It consolidates the session's chat turns into one intent, labels each diff hunk </a:t>
            </a:r>
            <a:r>
              <a:rPr sz="1200" b="1" i="0">
                <a:solidFill>
                  <a:srgbClr val="262626"/>
                </a:solidFill>
                <a:latin typeface="Calibri"/>
              </a:rPr>
              <a:t>Aligned</a:t>
            </a:r>
            <a:r>
              <a:rPr sz="1200" b="0" i="0">
                <a:solidFill>
                  <a:srgbClr val="262626"/>
                </a:solidFill>
                <a:latin typeface="Calibri"/>
              </a:rPr>
              <a:t> or </a:t>
            </a:r>
            <a:r>
              <a:rPr sz="1200" b="1" i="0">
                <a:solidFill>
                  <a:srgbClr val="262626"/>
                </a:solidFill>
                <a:latin typeface="Calibri"/>
              </a:rPr>
              <a:t>Misaligned</a:t>
            </a:r>
            <a:r>
              <a:rPr sz="1200" b="0" i="0">
                <a:solidFill>
                  <a:srgbClr val="262626"/>
                </a:solidFill>
                <a:latin typeface="Calibri"/>
              </a:rPr>
              <a:t> (Collateral, Scope-Expansion, Purpose-Drift), calibrates the confidence, explains the verdict and ranks hunks for review.</a:t>
            </a:r>
          </a:p>
          <a:p>
            <a:pPr algn="l">
              <a:spcAft>
                <a:spcPts val="400"/>
              </a:spcAft>
            </a:pPr>
            <a:r>
              <a:rPr sz="1200" b="0" i="0">
                <a:solidFill>
                  <a:srgbClr val="262626"/>
                </a:solidFill>
                <a:latin typeface="Calibri"/>
              </a:rPr>
              <a:t>A ModernBERT-base cross-encoder is compared with five non-neural baselines, three neural baselines and a GAN-style baseline on repository-disjoint splits of Sift-IA v1.0.</a:t>
            </a:r>
          </a:p>
        </p:txBody>
      </p:sp>
      <p:sp>
        <p:nvSpPr>
          <p:cNvPr id="9" name="Rectangle 8"/>
          <p:cNvSpPr/>
          <p:nvPr/>
        </p:nvSpPr>
        <p:spPr>
          <a:xfrm>
            <a:off x="4663440" y="777240"/>
            <a:ext cx="2011680" cy="118872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804672"/>
            <a:ext cx="2011680" cy="594360"/>
          </a:xfrm>
          <a:prstGeom prst="rect">
            <a:avLst/>
          </a:prstGeom>
          <a:noFill/>
        </p:spPr>
        <p:txBody>
          <a:bodyPr wrap="square" anchor="ctr" lIns="73152" rIns="73152" tIns="36576" bIns="36576">
            <a:spAutoFit/>
          </a:bodyPr>
          <a:lstStyle/>
          <a:p>
            <a:pPr algn="ctr">
              <a:spcAft>
                <a:spcPts val="0"/>
              </a:spcAft>
            </a:pPr>
            <a:r>
              <a:rPr sz="2600" b="1" i="0">
                <a:solidFill>
                  <a:srgbClr val="FF0000"/>
                </a:solidFill>
                <a:latin typeface="Cambria"/>
              </a:rPr>
              <a:t>0.726</a:t>
            </a:r>
          </a:p>
        </p:txBody>
      </p:sp>
      <p:sp>
        <p:nvSpPr>
          <p:cNvPr id="11" name="TextBox 10"/>
          <p:cNvSpPr txBox="1"/>
          <p:nvPr/>
        </p:nvSpPr>
        <p:spPr>
          <a:xfrm>
            <a:off x="4709159" y="1371600"/>
            <a:ext cx="1920240" cy="570585"/>
          </a:xfrm>
          <a:prstGeom prst="rect">
            <a:avLst/>
          </a:prstGeom>
          <a:noFill/>
        </p:spPr>
        <p:txBody>
          <a:bodyPr wrap="square" anchor="t" lIns="73152" rIns="73152" tIns="36576" bIns="36576">
            <a:spAutoFit/>
          </a:bodyPr>
          <a:lstStyle/>
          <a:p>
            <a:pPr algn="ctr">
              <a:spcAft>
                <a:spcPts val="400"/>
              </a:spcAft>
            </a:pPr>
            <a:r>
              <a:rPr sz="1100" b="0" i="0">
                <a:solidFill>
                  <a:srgbClr val="595959"/>
                </a:solidFill>
                <a:latin typeface="Calibri"/>
              </a:rPr>
              <a:t>hard-tier pairwise AUC (B4/B5: 0.551)</a:t>
            </a:r>
          </a:p>
        </p:txBody>
      </p:sp>
      <p:sp>
        <p:nvSpPr>
          <p:cNvPr id="12" name="Rectangle 11"/>
          <p:cNvSpPr/>
          <p:nvPr/>
        </p:nvSpPr>
        <p:spPr>
          <a:xfrm>
            <a:off x="6812280" y="777240"/>
            <a:ext cx="2011680" cy="118872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2280" y="804672"/>
            <a:ext cx="2011680" cy="594360"/>
          </a:xfrm>
          <a:prstGeom prst="rect">
            <a:avLst/>
          </a:prstGeom>
          <a:noFill/>
        </p:spPr>
        <p:txBody>
          <a:bodyPr wrap="square" anchor="ctr" lIns="73152" rIns="73152" tIns="36576" bIns="36576">
            <a:spAutoFit/>
          </a:bodyPr>
          <a:lstStyle/>
          <a:p>
            <a:pPr algn="ctr">
              <a:spcAft>
                <a:spcPts val="0"/>
              </a:spcAft>
            </a:pPr>
            <a:r>
              <a:rPr sz="2600" b="1" i="0">
                <a:solidFill>
                  <a:srgbClr val="FF0000"/>
                </a:solidFill>
                <a:latin typeface="Cambria"/>
              </a:rPr>
              <a:t>0.868</a:t>
            </a:r>
          </a:p>
        </p:txBody>
      </p:sp>
      <p:sp>
        <p:nvSpPr>
          <p:cNvPr id="14" name="TextBox 13"/>
          <p:cNvSpPr txBox="1"/>
          <p:nvPr/>
        </p:nvSpPr>
        <p:spPr>
          <a:xfrm>
            <a:off x="6858000" y="1371600"/>
            <a:ext cx="1920240" cy="570585"/>
          </a:xfrm>
          <a:prstGeom prst="rect">
            <a:avLst/>
          </a:prstGeom>
          <a:noFill/>
        </p:spPr>
        <p:txBody>
          <a:bodyPr wrap="square" anchor="t" lIns="73152" rIns="73152" tIns="36576" bIns="36576">
            <a:spAutoFit/>
          </a:bodyPr>
          <a:lstStyle/>
          <a:p>
            <a:pPr algn="ctr">
              <a:spcAft>
                <a:spcPts val="400"/>
              </a:spcAft>
            </a:pPr>
            <a:r>
              <a:rPr sz="1100" b="0" i="0">
                <a:solidFill>
                  <a:srgbClr val="595959"/>
                </a:solidFill>
                <a:latin typeface="Calibri"/>
              </a:rPr>
              <a:t>NDCG@5 (random order: 0.724)</a:t>
            </a:r>
          </a:p>
        </p:txBody>
      </p:sp>
      <p:sp>
        <p:nvSpPr>
          <p:cNvPr id="15" name="Rectangle 14"/>
          <p:cNvSpPr/>
          <p:nvPr/>
        </p:nvSpPr>
        <p:spPr>
          <a:xfrm>
            <a:off x="4663440" y="2103120"/>
            <a:ext cx="2011680" cy="118872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2130551"/>
            <a:ext cx="2011680" cy="594360"/>
          </a:xfrm>
          <a:prstGeom prst="rect">
            <a:avLst/>
          </a:prstGeom>
          <a:noFill/>
        </p:spPr>
        <p:txBody>
          <a:bodyPr wrap="square" anchor="ctr" lIns="73152" rIns="73152" tIns="36576" bIns="36576">
            <a:spAutoFit/>
          </a:bodyPr>
          <a:lstStyle/>
          <a:p>
            <a:pPr algn="ctr">
              <a:spcAft>
                <a:spcPts val="0"/>
              </a:spcAft>
            </a:pPr>
            <a:r>
              <a:rPr sz="2600" b="1" i="0">
                <a:solidFill>
                  <a:srgbClr val="FF0000"/>
                </a:solidFill>
                <a:latin typeface="Cambria"/>
              </a:rPr>
              <a:t>22.9 MB</a:t>
            </a:r>
          </a:p>
        </p:txBody>
      </p:sp>
      <p:sp>
        <p:nvSpPr>
          <p:cNvPr id="17" name="TextBox 16"/>
          <p:cNvSpPr txBox="1"/>
          <p:nvPr/>
        </p:nvSpPr>
        <p:spPr>
          <a:xfrm>
            <a:off x="4709159" y="2697479"/>
            <a:ext cx="1920240" cy="570585"/>
          </a:xfrm>
          <a:prstGeom prst="rect">
            <a:avLst/>
          </a:prstGeom>
          <a:noFill/>
        </p:spPr>
        <p:txBody>
          <a:bodyPr wrap="square" anchor="t" lIns="73152" rIns="73152" tIns="36576" bIns="36576">
            <a:spAutoFit/>
          </a:bodyPr>
          <a:lstStyle/>
          <a:p>
            <a:pPr algn="ctr">
              <a:spcAft>
                <a:spcPts val="400"/>
              </a:spcAft>
            </a:pPr>
            <a:r>
              <a:rPr sz="1100" b="0" i="0">
                <a:solidFill>
                  <a:srgbClr val="595959"/>
                </a:solidFill>
                <a:latin typeface="Calibri"/>
              </a:rPr>
              <a:t>INT8 ONNX student, CPU p95 66.9 ms</a:t>
            </a:r>
          </a:p>
        </p:txBody>
      </p:sp>
      <p:sp>
        <p:nvSpPr>
          <p:cNvPr id="18" name="Rectangle 17"/>
          <p:cNvSpPr/>
          <p:nvPr/>
        </p:nvSpPr>
        <p:spPr>
          <a:xfrm>
            <a:off x="6812280" y="2103120"/>
            <a:ext cx="2011680" cy="118872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2280" y="2130551"/>
            <a:ext cx="2011680" cy="594360"/>
          </a:xfrm>
          <a:prstGeom prst="rect">
            <a:avLst/>
          </a:prstGeom>
          <a:noFill/>
        </p:spPr>
        <p:txBody>
          <a:bodyPr wrap="square" anchor="ctr" lIns="73152" rIns="73152" tIns="36576" bIns="36576">
            <a:spAutoFit/>
          </a:bodyPr>
          <a:lstStyle/>
          <a:p>
            <a:pPr algn="ctr">
              <a:spcAft>
                <a:spcPts val="0"/>
              </a:spcAft>
            </a:pPr>
            <a:r>
              <a:rPr sz="2600" b="1" i="0">
                <a:solidFill>
                  <a:srgbClr val="FF0000"/>
                </a:solidFill>
                <a:latin typeface="Cambria"/>
              </a:rPr>
              <a:t>18,000</a:t>
            </a:r>
          </a:p>
        </p:txBody>
      </p:sp>
      <p:sp>
        <p:nvSpPr>
          <p:cNvPr id="20" name="TextBox 19"/>
          <p:cNvSpPr txBox="1"/>
          <p:nvPr/>
        </p:nvSpPr>
        <p:spPr>
          <a:xfrm>
            <a:off x="6858000" y="2697479"/>
            <a:ext cx="1920240" cy="570585"/>
          </a:xfrm>
          <a:prstGeom prst="rect">
            <a:avLst/>
          </a:prstGeom>
          <a:noFill/>
        </p:spPr>
        <p:txBody>
          <a:bodyPr wrap="square" anchor="t" lIns="73152" rIns="73152" tIns="36576" bIns="36576">
            <a:spAutoFit/>
          </a:bodyPr>
          <a:lstStyle/>
          <a:p>
            <a:pPr algn="ctr">
              <a:spcAft>
                <a:spcPts val="400"/>
              </a:spcAft>
            </a:pPr>
            <a:r>
              <a:rPr sz="1100" b="0" i="0">
                <a:solidFill>
                  <a:srgbClr val="595959"/>
                </a:solidFill>
                <a:latin typeface="Calibri"/>
              </a:rPr>
              <a:t>hunk-intent pairs, 15 repositories</a:t>
            </a:r>
          </a:p>
        </p:txBody>
      </p:sp>
      <p:sp>
        <p:nvSpPr>
          <p:cNvPr id="21" name="Rectangle 20"/>
          <p:cNvSpPr/>
          <p:nvPr/>
        </p:nvSpPr>
        <p:spPr>
          <a:xfrm>
            <a:off x="320040" y="3611880"/>
            <a:ext cx="8503920" cy="50292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59" y="3648456"/>
            <a:ext cx="8412480" cy="429768"/>
          </a:xfrm>
          <a:prstGeom prst="rect">
            <a:avLst/>
          </a:prstGeom>
          <a:noFill/>
        </p:spPr>
        <p:txBody>
          <a:bodyPr wrap="square" anchor="t" lIns="73152" rIns="73152" tIns="36576" bIns="36576">
            <a:spAutoFit/>
          </a:bodyPr>
          <a:lstStyle/>
          <a:p>
            <a:pPr algn="l">
              <a:spcAft>
                <a:spcPts val="400"/>
              </a:spcAft>
            </a:pPr>
            <a:r>
              <a:rPr sz="1200" b="1" i="0">
                <a:solidFill>
                  <a:srgbClr val="B6114D"/>
                </a:solidFill>
                <a:latin typeface="Calibri"/>
              </a:rPr>
              <a:t>Honest weak spot: main macro-F1 0.680 is below B5 logistic regression (0.698); the advantage is ranking on the hard tier.</a:t>
            </a:r>
          </a:p>
        </p:txBody>
      </p:sp>
      <p:sp>
        <p:nvSpPr>
          <p:cNvPr id="23" name="TextBox 22"/>
          <p:cNvSpPr txBox="1"/>
          <p:nvPr/>
        </p:nvSpPr>
        <p:spPr>
          <a:xfrm>
            <a:off x="320040" y="4133087"/>
            <a:ext cx="8503920" cy="36576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All numbers: test split, single seed 473, labels constructed (no human validation).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Introduction: the review bottleneck</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3</a:t>
            </a:r>
          </a:p>
        </p:txBody>
      </p:sp>
      <p:sp>
        <p:nvSpPr>
          <p:cNvPr id="8" name="Rectangle 7"/>
          <p:cNvSpPr/>
          <p:nvPr/>
        </p:nvSpPr>
        <p:spPr>
          <a:xfrm>
            <a:off x="320040" y="777240"/>
            <a:ext cx="2743200" cy="1874519"/>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59" y="813816"/>
            <a:ext cx="2651760" cy="1801367"/>
          </a:xfrm>
          <a:prstGeom prst="rect">
            <a:avLst/>
          </a:prstGeom>
          <a:noFill/>
        </p:spPr>
        <p:txBody>
          <a:bodyPr wrap="square" anchor="t" lIns="73152" rIns="73152" tIns="36576" bIns="36576">
            <a:spAutoFit/>
          </a:bodyPr>
          <a:lstStyle/>
          <a:p>
            <a:pPr algn="l">
              <a:spcAft>
                <a:spcPts val="300"/>
              </a:spcAft>
            </a:pPr>
            <a:r>
              <a:rPr sz="1300" b="1" i="0">
                <a:solidFill>
                  <a:srgbClr val="FF0000"/>
                </a:solidFill>
                <a:latin typeface="Calibri"/>
              </a:rPr>
              <a:t>The problem</a:t>
            </a:r>
          </a:p>
          <a:p>
            <a:pPr algn="l" marL="146304" indent="-146304">
              <a:spcAft>
                <a:spcPts val="400"/>
              </a:spcAft>
              <a:buFont typeface="Arial"/>
              <a:buChar char="•"/>
            </a:pPr>
            <a:r>
              <a:rPr sz="1250" b="0" i="0">
                <a:solidFill>
                  <a:srgbClr val="262626"/>
                </a:solidFill>
                <a:latin typeface="Calibri"/>
              </a:rPr>
              <a:t>Agents emit large multi-file diffs faster than a developer can review them.</a:t>
            </a:r>
          </a:p>
          <a:p>
            <a:pPr algn="l" marL="146304" indent="-146304">
              <a:spcAft>
                <a:spcPts val="400"/>
              </a:spcAft>
              <a:buFont typeface="Arial"/>
              <a:buChar char="•"/>
            </a:pPr>
            <a:r>
              <a:rPr sz="1250" b="0" i="0">
                <a:solidFill>
                  <a:srgbClr val="262626"/>
                </a:solidFill>
                <a:latin typeface="Calibri"/>
              </a:rPr>
              <a:t>Code that compiles and passes tests can still contain collateral edits, unrequested features or off-purpose changes.</a:t>
            </a:r>
          </a:p>
        </p:txBody>
      </p:sp>
      <p:sp>
        <p:nvSpPr>
          <p:cNvPr id="10" name="Rectangle 9"/>
          <p:cNvSpPr/>
          <p:nvPr/>
        </p:nvSpPr>
        <p:spPr>
          <a:xfrm>
            <a:off x="3172968" y="777240"/>
            <a:ext cx="2743200" cy="1874519"/>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18688" y="813816"/>
            <a:ext cx="2651760" cy="1801367"/>
          </a:xfrm>
          <a:prstGeom prst="rect">
            <a:avLst/>
          </a:prstGeom>
          <a:noFill/>
        </p:spPr>
        <p:txBody>
          <a:bodyPr wrap="square" anchor="t" lIns="73152" rIns="73152" tIns="36576" bIns="36576">
            <a:spAutoFit/>
          </a:bodyPr>
          <a:lstStyle/>
          <a:p>
            <a:pPr algn="l">
              <a:spcAft>
                <a:spcPts val="300"/>
              </a:spcAft>
            </a:pPr>
            <a:r>
              <a:rPr sz="1300" b="1" i="0">
                <a:solidFill>
                  <a:srgbClr val="FF0000"/>
                </a:solidFill>
                <a:latin typeface="Calibri"/>
              </a:rPr>
              <a:t>Why scalar signals fail</a:t>
            </a:r>
          </a:p>
          <a:p>
            <a:pPr algn="l" marL="146304" indent="-146304">
              <a:spcAft>
                <a:spcPts val="400"/>
              </a:spcAft>
              <a:buFont typeface="Arial"/>
              <a:buChar char="•"/>
            </a:pPr>
            <a:r>
              <a:rPr sz="1250" b="0" i="0">
                <a:solidFill>
                  <a:srgbClr val="262626"/>
                </a:solidFill>
                <a:latin typeface="Calibri"/>
              </a:rPr>
              <a:t>Lines changed or files touched are identical for every hunk in one diff.</a:t>
            </a:r>
          </a:p>
          <a:p>
            <a:pPr algn="l" marL="146304" indent="-146304">
              <a:spcAft>
                <a:spcPts val="400"/>
              </a:spcAft>
              <a:buFont typeface="Arial"/>
              <a:buChar char="•"/>
            </a:pPr>
            <a:r>
              <a:rPr sz="1250" b="0" i="0">
                <a:solidFill>
                  <a:srgbClr val="262626"/>
                </a:solidFill>
                <a:latin typeface="Calibri"/>
              </a:rPr>
              <a:t>Ordering hunks by diff lines equals random order (NDCG@5 0.724).</a:t>
            </a:r>
          </a:p>
        </p:txBody>
      </p:sp>
      <p:sp>
        <p:nvSpPr>
          <p:cNvPr id="12" name="Rectangle 11"/>
          <p:cNvSpPr/>
          <p:nvPr/>
        </p:nvSpPr>
        <p:spPr>
          <a:xfrm>
            <a:off x="6025896" y="777240"/>
            <a:ext cx="2743200" cy="1874519"/>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71616" y="813816"/>
            <a:ext cx="2651760" cy="1801367"/>
          </a:xfrm>
          <a:prstGeom prst="rect">
            <a:avLst/>
          </a:prstGeom>
          <a:noFill/>
        </p:spPr>
        <p:txBody>
          <a:bodyPr wrap="square" anchor="t" lIns="73152" rIns="73152" tIns="36576" bIns="36576">
            <a:spAutoFit/>
          </a:bodyPr>
          <a:lstStyle/>
          <a:p>
            <a:pPr algn="l">
              <a:spcAft>
                <a:spcPts val="300"/>
              </a:spcAft>
            </a:pPr>
            <a:r>
              <a:rPr sz="1300" b="1" i="0">
                <a:solidFill>
                  <a:srgbClr val="FF0000"/>
                </a:solidFill>
                <a:latin typeface="Calibri"/>
              </a:rPr>
              <a:t>Objective</a:t>
            </a:r>
          </a:p>
          <a:p>
            <a:pPr algn="l" marL="146304" indent="-146304">
              <a:spcAft>
                <a:spcPts val="400"/>
              </a:spcAft>
              <a:buFont typeface="Arial"/>
              <a:buChar char="•"/>
            </a:pPr>
            <a:r>
              <a:rPr sz="1250" b="0" i="0">
                <a:solidFill>
                  <a:srgbClr val="262626"/>
                </a:solidFill>
                <a:latin typeface="Calibri"/>
              </a:rPr>
              <a:t>Consolidate the session intent, label every hunk Aligned or Misaligned, type the drift.</a:t>
            </a:r>
          </a:p>
          <a:p>
            <a:pPr algn="l" marL="146304" indent="-146304">
              <a:spcAft>
                <a:spcPts val="400"/>
              </a:spcAft>
              <a:buFont typeface="Arial"/>
              <a:buChar char="•"/>
            </a:pPr>
            <a:r>
              <a:rPr sz="1250" b="0" i="0">
                <a:solidFill>
                  <a:srgbClr val="262626"/>
                </a:solidFill>
                <a:latin typeface="Calibri"/>
              </a:rPr>
              <a:t>Rank hunks, with calibrated confidence and an explanation.</a:t>
            </a:r>
          </a:p>
        </p:txBody>
      </p:sp>
      <p:sp>
        <p:nvSpPr>
          <p:cNvPr id="14" name="TextBox 13"/>
          <p:cNvSpPr txBox="1"/>
          <p:nvPr/>
        </p:nvSpPr>
        <p:spPr>
          <a:xfrm>
            <a:off x="320040" y="2743200"/>
            <a:ext cx="8503920" cy="274320"/>
          </a:xfrm>
          <a:prstGeom prst="rect">
            <a:avLst/>
          </a:prstGeom>
          <a:noFill/>
        </p:spPr>
        <p:txBody>
          <a:bodyPr wrap="square" anchor="t" lIns="73152" rIns="73152" tIns="36576" bIns="36576">
            <a:spAutoFit/>
          </a:bodyPr>
          <a:lstStyle/>
          <a:p>
            <a:pPr algn="l">
              <a:spcAft>
                <a:spcPts val="400"/>
              </a:spcAft>
            </a:pPr>
            <a:r>
              <a:rPr sz="1300" b="1" i="0">
                <a:solidFill>
                  <a:srgbClr val="FF0000"/>
                </a:solidFill>
                <a:latin typeface="Calibri"/>
              </a:rPr>
              <a:t>Three drift types of a misaligned hunk (counts in Sift-IA v1.0)</a:t>
            </a:r>
          </a:p>
        </p:txBody>
      </p:sp>
      <p:sp>
        <p:nvSpPr>
          <p:cNvPr id="15" name="Rectangle 14"/>
          <p:cNvSpPr/>
          <p:nvPr/>
        </p:nvSpPr>
        <p:spPr>
          <a:xfrm>
            <a:off x="320040" y="3044952"/>
            <a:ext cx="2743200" cy="100584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59" y="3081528"/>
            <a:ext cx="2651760" cy="932688"/>
          </a:xfrm>
          <a:prstGeom prst="rect">
            <a:avLst/>
          </a:prstGeom>
          <a:noFill/>
        </p:spPr>
        <p:txBody>
          <a:bodyPr wrap="square" anchor="t" lIns="73152" rIns="73152" tIns="36576" bIns="36576">
            <a:spAutoFit/>
          </a:bodyPr>
          <a:lstStyle/>
          <a:p>
            <a:pPr algn="l">
              <a:spcAft>
                <a:spcPts val="300"/>
              </a:spcAft>
            </a:pPr>
            <a:r>
              <a:rPr sz="1250" b="1" i="0">
                <a:solidFill>
                  <a:srgbClr val="FF0000"/>
                </a:solidFill>
                <a:latin typeface="Calibri"/>
              </a:rPr>
              <a:t>Collateral: 1,782</a:t>
            </a:r>
          </a:p>
          <a:p>
            <a:pPr algn="l">
              <a:spcAft>
                <a:spcPts val="400"/>
              </a:spcAft>
            </a:pPr>
            <a:r>
              <a:rPr sz="1200" b="0" i="0">
                <a:solidFill>
                  <a:srgbClr val="262626"/>
                </a:solidFill>
                <a:latin typeface="Calibri"/>
              </a:rPr>
              <a:t>unrequested change next to the requested one, in a different file</a:t>
            </a:r>
          </a:p>
        </p:txBody>
      </p:sp>
      <p:sp>
        <p:nvSpPr>
          <p:cNvPr id="17" name="Rectangle 16"/>
          <p:cNvSpPr/>
          <p:nvPr/>
        </p:nvSpPr>
        <p:spPr>
          <a:xfrm>
            <a:off x="3172968" y="3044952"/>
            <a:ext cx="2743200" cy="100584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18688" y="3081528"/>
            <a:ext cx="2651760" cy="932688"/>
          </a:xfrm>
          <a:prstGeom prst="rect">
            <a:avLst/>
          </a:prstGeom>
          <a:noFill/>
        </p:spPr>
        <p:txBody>
          <a:bodyPr wrap="square" anchor="t" lIns="73152" rIns="73152" tIns="36576" bIns="36576">
            <a:spAutoFit/>
          </a:bodyPr>
          <a:lstStyle/>
          <a:p>
            <a:pPr algn="l">
              <a:spcAft>
                <a:spcPts val="300"/>
              </a:spcAft>
            </a:pPr>
            <a:r>
              <a:rPr sz="1250" b="1" i="0">
                <a:solidFill>
                  <a:srgbClr val="FF0000"/>
                </a:solidFill>
                <a:latin typeface="Calibri"/>
              </a:rPr>
              <a:t>Scope-Expansion: 1,307</a:t>
            </a:r>
          </a:p>
          <a:p>
            <a:pPr algn="l">
              <a:spcAft>
                <a:spcPts val="400"/>
              </a:spcAft>
            </a:pPr>
            <a:r>
              <a:rPr sz="1200" b="0" i="0">
                <a:solidFill>
                  <a:srgbClr val="262626"/>
                </a:solidFill>
                <a:latin typeface="Calibri"/>
              </a:rPr>
              <a:t>unrequested feature or behaviour in a file the session already edits</a:t>
            </a:r>
          </a:p>
        </p:txBody>
      </p:sp>
      <p:sp>
        <p:nvSpPr>
          <p:cNvPr id="19" name="Rectangle 18"/>
          <p:cNvSpPr/>
          <p:nvPr/>
        </p:nvSpPr>
        <p:spPr>
          <a:xfrm>
            <a:off x="6025896" y="3044952"/>
            <a:ext cx="2743200" cy="100584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71616" y="3081528"/>
            <a:ext cx="2651760" cy="932688"/>
          </a:xfrm>
          <a:prstGeom prst="rect">
            <a:avLst/>
          </a:prstGeom>
          <a:noFill/>
        </p:spPr>
        <p:txBody>
          <a:bodyPr wrap="square" anchor="t" lIns="73152" rIns="73152" tIns="36576" bIns="36576">
            <a:spAutoFit/>
          </a:bodyPr>
          <a:lstStyle/>
          <a:p>
            <a:pPr algn="l">
              <a:spcAft>
                <a:spcPts val="300"/>
              </a:spcAft>
            </a:pPr>
            <a:r>
              <a:rPr sz="1250" b="1" i="0">
                <a:solidFill>
                  <a:srgbClr val="FF0000"/>
                </a:solidFill>
                <a:latin typeface="Calibri"/>
              </a:rPr>
              <a:t>Purpose-Drift: 871</a:t>
            </a:r>
          </a:p>
          <a:p>
            <a:pPr algn="l">
              <a:spcAft>
                <a:spcPts val="400"/>
              </a:spcAft>
            </a:pPr>
            <a:r>
              <a:rPr sz="1200" b="0" i="0">
                <a:solidFill>
                  <a:srgbClr val="262626"/>
                </a:solidFill>
                <a:latin typeface="Calibri"/>
              </a:rPr>
              <a:t>serves a different purpose: the requested change is absent</a:t>
            </a:r>
          </a:p>
        </p:txBody>
      </p:sp>
      <p:sp>
        <p:nvSpPr>
          <p:cNvPr id="21" name="TextBox 20"/>
          <p:cNvSpPr txBox="1"/>
          <p:nvPr/>
        </p:nvSpPr>
        <p:spPr>
          <a:xfrm>
            <a:off x="320040" y="4114800"/>
            <a:ext cx="8503920" cy="41148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Why deep learning: judging one hunk against an intent needs both texts read jointly, which a cross-encoder does.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Related work: five journal papers and the base paper</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4</a:t>
            </a:r>
          </a:p>
        </p:txBody>
      </p:sp>
      <p:graphicFrame>
        <p:nvGraphicFramePr>
          <p:cNvPr id="8" name="Table 7"/>
          <p:cNvGraphicFramePr>
            <a:graphicFrameLocks noGrp="1"/>
          </p:cNvGraphicFramePr>
          <p:nvPr/>
        </p:nvGraphicFramePr>
        <p:xfrm>
          <a:off x="320040" y="749808"/>
          <a:ext cx="8503919" cy="3017520"/>
        </p:xfrm>
        <a:graphic>
          <a:graphicData uri="http://schemas.openxmlformats.org/drawingml/2006/table">
            <a:tbl>
              <a:tblPr firstRow="1" bandRow="0">
                <a:tableStyleId>{5C22544A-7EE6-4342-B048-85BDC9FD1C3A}</a:tableStyleId>
              </a:tblPr>
              <a:tblGrid>
                <a:gridCol w="265747"/>
                <a:gridCol w="3011805"/>
                <a:gridCol w="2657475"/>
                <a:gridCol w="2568892"/>
              </a:tblGrid>
              <a:tr h="274320">
                <a:tc>
                  <a:txBody>
                    <a:bodyPr wrap="square"/>
                    <a:lstStyle/>
                    <a:p>
                      <a:pPr algn="ctr"/>
                      <a:r>
                        <a:rPr sz="1100" b="1" i="0">
                          <a:solidFill>
                            <a:srgbClr val="FFFFFF"/>
                          </a:solidFill>
                          <a:latin typeface="Calibri"/>
                        </a:rPr>
                        <a:t>#</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l"/>
                      <a:r>
                        <a:rPr sz="1100" b="1" i="0">
                          <a:solidFill>
                            <a:srgbClr val="FFFFFF"/>
                          </a:solidFill>
                          <a:latin typeface="Calibri"/>
                        </a:rPr>
                        <a:t>Paper, venue, year</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l"/>
                      <a:r>
                        <a:rPr sz="1100" b="1" i="0">
                          <a:solidFill>
                            <a:srgbClr val="FFFFFF"/>
                          </a:solidFill>
                          <a:latin typeface="Calibri"/>
                        </a:rPr>
                        <a:t>Method and finding</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l"/>
                      <a:r>
                        <a:rPr sz="1100" b="1" i="0">
                          <a:solidFill>
                            <a:srgbClr val="FFFFFF"/>
                          </a:solidFill>
                          <a:latin typeface="Calibri"/>
                        </a:rPr>
                        <a:t>Relation to Sift (gap)</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r>
              <a:tr h="457200">
                <a:tc>
                  <a:txBody>
                    <a:bodyPr wrap="square"/>
                    <a:lstStyle/>
                    <a:p>
                      <a:pPr algn="ctr"/>
                      <a:r>
                        <a:rPr sz="1100" b="0" i="0">
                          <a:solidFill>
                            <a:srgbClr val="262626"/>
                          </a:solidFill>
                          <a:latin typeface="Calibri"/>
                        </a:rPr>
                        <a:t>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Xu et al., Code Comment Inconsistency Detection Based on Confidence Learning. IEEE TSE 50(3), 2024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MCCL: remove dataset noise by confidence learning, then detect inconsistent pairs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Motivates our denoising stage. Gap: method-comment pairs, not hunks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457200">
                <a:tc>
                  <a:txBody>
                    <a:bodyPr wrap="square"/>
                    <a:lstStyle/>
                    <a:p>
                      <a:pPr algn="ctr"/>
                      <a:r>
                        <a:rPr sz="1100" b="0" i="0">
                          <a:solidFill>
                            <a:srgbClr val="262626"/>
                          </a:solidFill>
                          <a:latin typeface="Calibri"/>
                        </a:rPr>
                        <a:t>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Huang et al., Are your comments outdated? J. Softw. Evol. Proc. 37(1), 2025</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CoCC: supervised classifier for outdated comments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Validates supervised pair classification. Gap: no calibration or ranking</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457200">
                <a:tc>
                  <a:txBody>
                    <a:bodyPr wrap="square"/>
                    <a:lstStyle/>
                    <a:p>
                      <a:pPr algn="ctr"/>
                      <a:r>
                        <a:rPr sz="1100" b="0" i="0">
                          <a:solidFill>
                            <a:srgbClr val="262626"/>
                          </a:solidFill>
                          <a:latin typeface="Calibri"/>
                        </a:rPr>
                        <a:t>3</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Yang et al., RComSync. Empirical Software Engineering 31(4), 2026</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In-context learning plus reranking for comment sync</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Supports ranking. Gap: cloud LLM, not local</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457200">
                <a:tc>
                  <a:txBody>
                    <a:bodyPr wrap="square"/>
                    <a:lstStyle/>
                    <a:p>
                      <a:pPr algn="ctr"/>
                      <a:r>
                        <a:rPr sz="1100" b="0" i="0">
                          <a:solidFill>
                            <a:srgbClr val="262626"/>
                          </a:solidFill>
                          <a:latin typeface="Calibri"/>
                        </a:rPr>
                        <a:t>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Fan et al., Exploring LLMs for Code-Change-Related Tasks. ACM TOSEM 34(6), 2025</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LLMs with in-context learning vs PEFT; bigger is not always better</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Justifies a compact fine-tuned encoder</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457200">
                <a:tc>
                  <a:txBody>
                    <a:bodyPr wrap="square"/>
                    <a:lstStyle/>
                    <a:p>
                      <a:pPr algn="ctr"/>
                      <a:r>
                        <a:rPr sz="1100" b="0" i="0">
                          <a:solidFill>
                            <a:srgbClr val="262626"/>
                          </a:solidFill>
                          <a:latin typeface="Calibri"/>
                        </a:rPr>
                        <a:t>5</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Wang et al., Best practices for code pre-trained models on SE classification. Expert Syst. Appl., 2025</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Embedding vs fine-tuning of code PTMs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Informs fine-tuning. Gap: single-input, not pair classification</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457200">
                <a:tc>
                  <a:txBody>
                    <a:bodyPr wrap="square"/>
                    <a:lstStyle/>
                    <a:p>
                      <a:pPr algn="ctr"/>
                      <a:r>
                        <a:rPr sz="1100" b="0" i="0">
                          <a:solidFill>
                            <a:srgbClr val="262626"/>
                          </a:solidFill>
                          <a:latin typeface="Calibri"/>
                        </a:rPr>
                        <a:t>B</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l"/>
                      <a:r>
                        <a:rPr sz="1100" b="0" i="0">
                          <a:solidFill>
                            <a:srgbClr val="262626"/>
                          </a:solidFill>
                          <a:latin typeface="Calibri"/>
                        </a:rPr>
                        <a:t>Northcutt, Jiang &amp; Chuang, Confident Learning. JAIR, 2021 (base paper)</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l"/>
                      <a:r>
                        <a:rPr sz="1100" b="0" i="0">
                          <a:solidFill>
                            <a:srgbClr val="262626"/>
                          </a:solidFill>
                          <a:latin typeface="Calibri"/>
                        </a:rPr>
                        <a:t>Prune, count, rank to find label errors; model-agnostic</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l"/>
                      <a:r>
                        <a:rPr sz="1100" b="0" i="0">
                          <a:solidFill>
                            <a:srgbClr val="262626"/>
                          </a:solidFill>
                          <a:latin typeface="Calibri"/>
                        </a:rPr>
                        <a:t>Used to find the 569 known label flips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r>
            </a:tbl>
          </a:graphicData>
        </a:graphic>
      </p:graphicFrame>
      <p:sp>
        <p:nvSpPr>
          <p:cNvPr id="9" name="TextBox 8"/>
          <p:cNvSpPr txBox="1"/>
          <p:nvPr/>
        </p:nvSpPr>
        <p:spPr>
          <a:xfrm>
            <a:off x="320040" y="4133087"/>
            <a:ext cx="8503920" cy="36576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Gap: no paper pairs a developer's multi-turn intent with individual diff hunks.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Base paper: Confident Learning (JAIR 2021)</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5</a:t>
            </a:r>
          </a:p>
        </p:txBody>
      </p:sp>
      <p:sp>
        <p:nvSpPr>
          <p:cNvPr id="8" name="Rectangle 7"/>
          <p:cNvSpPr/>
          <p:nvPr/>
        </p:nvSpPr>
        <p:spPr>
          <a:xfrm>
            <a:off x="320040" y="749808"/>
            <a:ext cx="4114800" cy="105156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59" y="786384"/>
            <a:ext cx="4023360" cy="978407"/>
          </a:xfrm>
          <a:prstGeom prst="rect">
            <a:avLst/>
          </a:prstGeom>
          <a:noFill/>
        </p:spPr>
        <p:txBody>
          <a:bodyPr wrap="square" anchor="t" lIns="73152" rIns="73152" tIns="36576" bIns="36576">
            <a:spAutoFit/>
          </a:bodyPr>
          <a:lstStyle/>
          <a:p>
            <a:pPr algn="l">
              <a:spcAft>
                <a:spcPts val="300"/>
              </a:spcAft>
            </a:pPr>
            <a:r>
              <a:rPr sz="1300" b="1" i="0">
                <a:solidFill>
                  <a:srgbClr val="FF0000"/>
                </a:solidFill>
                <a:latin typeface="Calibri"/>
              </a:rPr>
              <a:t>What it proposes</a:t>
            </a:r>
          </a:p>
          <a:p>
            <a:pPr algn="l">
              <a:spcAft>
                <a:spcPts val="400"/>
              </a:spcAft>
            </a:pPr>
            <a:r>
              <a:rPr sz="1100" b="0" i="0">
                <a:solidFill>
                  <a:srgbClr val="262626"/>
                </a:solidFill>
                <a:latin typeface="Calibri"/>
              </a:rPr>
              <a:t>A data-centric framework that finds label errors by estimating the joint distribution of noisy and true labels under class-conditional noise. Model-agnostic; open-source as cleanlab.</a:t>
            </a:r>
          </a:p>
        </p:txBody>
      </p:sp>
      <p:sp>
        <p:nvSpPr>
          <p:cNvPr id="10" name="TextBox 9"/>
          <p:cNvSpPr txBox="1"/>
          <p:nvPr/>
        </p:nvSpPr>
        <p:spPr>
          <a:xfrm>
            <a:off x="320040" y="1847088"/>
            <a:ext cx="4114800" cy="274320"/>
          </a:xfrm>
          <a:prstGeom prst="rect">
            <a:avLst/>
          </a:prstGeom>
          <a:noFill/>
        </p:spPr>
        <p:txBody>
          <a:bodyPr wrap="square" anchor="t" lIns="73152" rIns="73152" tIns="36576" bIns="36576">
            <a:spAutoFit/>
          </a:bodyPr>
          <a:lstStyle/>
          <a:p>
            <a:pPr algn="l">
              <a:spcAft>
                <a:spcPts val="400"/>
              </a:spcAft>
            </a:pPr>
            <a:r>
              <a:rPr sz="1300" b="1" i="0">
                <a:solidFill>
                  <a:srgbClr val="FF0000"/>
                </a:solidFill>
                <a:latin typeface="Calibri"/>
              </a:rPr>
              <a:t>Key idea: prune, count, rank</a:t>
            </a:r>
          </a:p>
        </p:txBody>
      </p:sp>
      <p:sp>
        <p:nvSpPr>
          <p:cNvPr id="11" name="Rectangle 10"/>
          <p:cNvSpPr/>
          <p:nvPr/>
        </p:nvSpPr>
        <p:spPr>
          <a:xfrm>
            <a:off x="320040" y="2130552"/>
            <a:ext cx="4114800" cy="603504"/>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59" y="2167128"/>
            <a:ext cx="4023360" cy="530352"/>
          </a:xfrm>
          <a:prstGeom prst="rect">
            <a:avLst/>
          </a:prstGeom>
          <a:noFill/>
        </p:spPr>
        <p:txBody>
          <a:bodyPr wrap="square" anchor="t" lIns="73152" rIns="73152" tIns="36576" bIns="36576">
            <a:spAutoFit/>
          </a:bodyPr>
          <a:lstStyle/>
          <a:p>
            <a:pPr algn="l">
              <a:spcAft>
                <a:spcPts val="400"/>
              </a:spcAft>
            </a:pPr>
            <a:r>
              <a:rPr sz="1100" b="1" i="0">
                <a:solidFill>
                  <a:srgbClr val="262626"/>
                </a:solidFill>
                <a:latin typeface="Calibri"/>
              </a:rPr>
              <a:t>Count:</a:t>
            </a:r>
            <a:r>
              <a:rPr sz="1100" b="0" i="0">
                <a:solidFill>
                  <a:srgbClr val="262626"/>
                </a:solidFill>
                <a:latin typeface="Calibri"/>
              </a:rPr>
              <a:t> per-class threshold t_j = mean self-confidence; confident joint C[ỹ,y*] estimates the noise transition matrix</a:t>
            </a:r>
          </a:p>
        </p:txBody>
      </p:sp>
      <p:sp>
        <p:nvSpPr>
          <p:cNvPr id="13" name="Rectangle 12"/>
          <p:cNvSpPr/>
          <p:nvPr/>
        </p:nvSpPr>
        <p:spPr>
          <a:xfrm>
            <a:off x="320040" y="2770632"/>
            <a:ext cx="4114800" cy="603504"/>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59" y="2807208"/>
            <a:ext cx="4023360" cy="530352"/>
          </a:xfrm>
          <a:prstGeom prst="rect">
            <a:avLst/>
          </a:prstGeom>
          <a:noFill/>
        </p:spPr>
        <p:txBody>
          <a:bodyPr wrap="square" anchor="t" lIns="73152" rIns="73152" tIns="36576" bIns="36576">
            <a:spAutoFit/>
          </a:bodyPr>
          <a:lstStyle/>
          <a:p>
            <a:pPr algn="l">
              <a:spcAft>
                <a:spcPts val="400"/>
              </a:spcAft>
            </a:pPr>
            <a:r>
              <a:rPr sz="1100" b="1" i="0">
                <a:solidFill>
                  <a:srgbClr val="262626"/>
                </a:solidFill>
                <a:latin typeface="Calibri"/>
              </a:rPr>
              <a:t>Prune:</a:t>
            </a:r>
            <a:r>
              <a:rPr sz="1100" b="0" i="0">
                <a:solidFill>
                  <a:srgbClr val="262626"/>
                </a:solidFill>
                <a:latin typeface="Calibri"/>
              </a:rPr>
              <a:t> remove examples likely mislabelled (prune by class or by noise rate)</a:t>
            </a:r>
          </a:p>
        </p:txBody>
      </p:sp>
      <p:sp>
        <p:nvSpPr>
          <p:cNvPr id="15" name="Rectangle 14"/>
          <p:cNvSpPr/>
          <p:nvPr/>
        </p:nvSpPr>
        <p:spPr>
          <a:xfrm>
            <a:off x="320040" y="3410712"/>
            <a:ext cx="4114800" cy="603504"/>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59" y="3447288"/>
            <a:ext cx="4023360" cy="530352"/>
          </a:xfrm>
          <a:prstGeom prst="rect">
            <a:avLst/>
          </a:prstGeom>
          <a:noFill/>
        </p:spPr>
        <p:txBody>
          <a:bodyPr wrap="square" anchor="t" lIns="73152" rIns="73152" tIns="36576" bIns="36576">
            <a:spAutoFit/>
          </a:bodyPr>
          <a:lstStyle/>
          <a:p>
            <a:pPr algn="l">
              <a:spcAft>
                <a:spcPts val="400"/>
              </a:spcAft>
            </a:pPr>
            <a:r>
              <a:rPr sz="1100" b="1" i="0">
                <a:solidFill>
                  <a:srgbClr val="262626"/>
                </a:solidFill>
                <a:latin typeface="Calibri"/>
              </a:rPr>
              <a:t>Rank:</a:t>
            </a:r>
            <a:r>
              <a:rPr sz="1100" b="0" i="0">
                <a:solidFill>
                  <a:srgbClr val="262626"/>
                </a:solidFill>
                <a:latin typeface="Calibri"/>
              </a:rPr>
              <a:t> order by self-confidence p(ỹ=i; x); train on the cleaned set</a:t>
            </a:r>
          </a:p>
        </p:txBody>
      </p:sp>
      <p:sp>
        <p:nvSpPr>
          <p:cNvPr id="17" name="TextBox 16"/>
          <p:cNvSpPr txBox="1"/>
          <p:nvPr/>
        </p:nvSpPr>
        <p:spPr>
          <a:xfrm>
            <a:off x="4617720" y="731520"/>
            <a:ext cx="4206240" cy="274320"/>
          </a:xfrm>
          <a:prstGeom prst="rect">
            <a:avLst/>
          </a:prstGeom>
          <a:noFill/>
        </p:spPr>
        <p:txBody>
          <a:bodyPr wrap="square" anchor="t" lIns="73152" rIns="73152" tIns="36576" bIns="36576">
            <a:spAutoFit/>
          </a:bodyPr>
          <a:lstStyle/>
          <a:p>
            <a:pPr algn="l">
              <a:spcAft>
                <a:spcPts val="400"/>
              </a:spcAft>
            </a:pPr>
            <a:r>
              <a:rPr sz="1250" b="1" i="0">
                <a:solidFill>
                  <a:srgbClr val="FF0000"/>
                </a:solidFill>
                <a:latin typeface="Calibri"/>
              </a:rPr>
              <a:t>Reported results (paper, CIFAR-10 test accuracy %)</a:t>
            </a:r>
          </a:p>
        </p:txBody>
      </p:sp>
      <p:graphicFrame>
        <p:nvGraphicFramePr>
          <p:cNvPr id="18" name="Table 17"/>
          <p:cNvGraphicFramePr>
            <a:graphicFrameLocks noGrp="1"/>
          </p:cNvGraphicFramePr>
          <p:nvPr/>
        </p:nvGraphicFramePr>
        <p:xfrm>
          <a:off x="4617720" y="1024128"/>
          <a:ext cx="4206238" cy="1325880"/>
        </p:xfrm>
        <a:graphic>
          <a:graphicData uri="http://schemas.openxmlformats.org/drawingml/2006/table">
            <a:tbl>
              <a:tblPr firstRow="1" bandRow="0">
                <a:tableStyleId>{5C22544A-7EE6-4342-B048-85BDC9FD1C3A}</a:tableStyleId>
              </a:tblPr>
              <a:tblGrid>
                <a:gridCol w="2294312"/>
                <a:gridCol w="955963"/>
                <a:gridCol w="955963"/>
              </a:tblGrid>
              <a:tr h="265176">
                <a:tc>
                  <a:txBody>
                    <a:bodyPr wrap="square"/>
                    <a:lstStyle/>
                    <a:p>
                      <a:pPr algn="l"/>
                      <a:r>
                        <a:rPr sz="1100" b="1" i="0">
                          <a:solidFill>
                            <a:srgbClr val="FFFFFF"/>
                          </a:solidFill>
                          <a:latin typeface="Calibri"/>
                        </a:rPr>
                        <a:t>Method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20% noise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40% noise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r>
              <a:tr h="265176">
                <a:tc>
                  <a:txBody>
                    <a:bodyPr wrap="square"/>
                    <a:lstStyle/>
                    <a:p>
                      <a:pPr algn="l"/>
                      <a:r>
                        <a:rPr sz="1100" b="0" i="0">
                          <a:solidFill>
                            <a:srgbClr val="262626"/>
                          </a:solidFill>
                          <a:latin typeface="Calibri"/>
                        </a:rPr>
                        <a:t>Confident learning (C_ỹ,y*)</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ctr"/>
                      <a:r>
                        <a:rPr sz="1100" b="0" i="0">
                          <a:solidFill>
                            <a:srgbClr val="262626"/>
                          </a:solidFill>
                          <a:latin typeface="Calibri"/>
                        </a:rPr>
                        <a:t>91.1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ctr"/>
                      <a:r>
                        <a:rPr sz="1100" b="0" i="0">
                          <a:solidFill>
                            <a:srgbClr val="262626"/>
                          </a:solidFill>
                          <a:latin typeface="Calibri"/>
                        </a:rPr>
                        <a:t>86.7</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r>
              <a:tr h="265176">
                <a:tc>
                  <a:txBody>
                    <a:bodyPr wrap="square"/>
                    <a:lstStyle/>
                    <a:p>
                      <a:pPr algn="l"/>
                      <a:r>
                        <a:rPr sz="1100" b="0" i="0">
                          <a:solidFill>
                            <a:srgbClr val="262626"/>
                          </a:solidFill>
                          <a:latin typeface="Calibri"/>
                        </a:rPr>
                        <a:t>INCV</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87.8</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84.4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65176">
                <a:tc>
                  <a:txBody>
                    <a:bodyPr wrap="square"/>
                    <a:lstStyle/>
                    <a:p>
                      <a:pPr algn="l"/>
                      <a:r>
                        <a:rPr sz="1100" b="0" i="0">
                          <a:solidFill>
                            <a:srgbClr val="262626"/>
                          </a:solidFill>
                          <a:latin typeface="Calibri"/>
                        </a:rPr>
                        <a:t>Co-Teaching</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81.2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62.9</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65176">
                <a:tc>
                  <a:txBody>
                    <a:bodyPr wrap="square"/>
                    <a:lstStyle/>
                    <a:p>
                      <a:pPr algn="l"/>
                      <a:r>
                        <a:rPr sz="1100" b="0" i="0">
                          <a:solidFill>
                            <a:srgbClr val="262626"/>
                          </a:solidFill>
                          <a:latin typeface="Calibri"/>
                        </a:rPr>
                        <a:t>Baseline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78.4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60.2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bl>
          </a:graphicData>
        </a:graphic>
      </p:graphicFrame>
      <p:sp>
        <p:nvSpPr>
          <p:cNvPr id="19" name="TextBox 18"/>
          <p:cNvSpPr txBox="1"/>
          <p:nvPr/>
        </p:nvSpPr>
        <p:spPr>
          <a:xfrm>
            <a:off x="4617720" y="2423160"/>
            <a:ext cx="4206240" cy="1645920"/>
          </a:xfrm>
          <a:prstGeom prst="rect">
            <a:avLst/>
          </a:prstGeom>
          <a:noFill/>
        </p:spPr>
        <p:txBody>
          <a:bodyPr wrap="square" anchor="t" lIns="73152" rIns="73152" tIns="36576" bIns="36576">
            <a:spAutoFit/>
          </a:bodyPr>
          <a:lstStyle/>
          <a:p>
            <a:pPr algn="l">
              <a:spcAft>
                <a:spcPts val="400"/>
              </a:spcAft>
            </a:pPr>
            <a:r>
              <a:rPr sz="1100" b="0" i="1">
                <a:solidFill>
                  <a:srgbClr val="595959"/>
                </a:solidFill>
                <a:latin typeface="Calibri"/>
              </a:rPr>
              <a:t>Sparsity 0; mean of ten trials in the paper.</a:t>
            </a:r>
          </a:p>
          <a:p>
            <a:pPr algn="l" marL="146304" indent="-146304">
              <a:spcAft>
                <a:spcPts val="400"/>
              </a:spcAft>
              <a:buFont typeface="Arial"/>
              <a:buChar char="•"/>
            </a:pPr>
            <a:r>
              <a:rPr sz="1150" b="0" i="0">
                <a:solidFill>
                  <a:srgbClr val="262626"/>
                </a:solidFill>
                <a:latin typeface="Calibri"/>
              </a:rPr>
              <a:t>Also finds real label errors in ImageNet (e.g. 645 missile images labelled as the parent class projectile), MNIST and Amazon Reviews.</a:t>
            </a:r>
          </a:p>
          <a:p>
            <a:pPr algn="l" marL="146304" indent="-146304">
              <a:spcAft>
                <a:spcPts val="400"/>
              </a:spcAft>
              <a:buFont typeface="Arial"/>
              <a:buChar char="•"/>
            </a:pPr>
            <a:r>
              <a:rPr sz="1150" b="0" i="0">
                <a:solidFill>
                  <a:srgbClr val="262626"/>
                </a:solidFill>
                <a:latin typeface="Calibri"/>
              </a:rPr>
              <a:t>Assumes class-conditional noise; proves conditions under which it exactly finds label errors.</a:t>
            </a:r>
          </a:p>
        </p:txBody>
      </p:sp>
      <p:sp>
        <p:nvSpPr>
          <p:cNvPr id="20" name="TextBox 19"/>
          <p:cNvSpPr txBox="1"/>
          <p:nvPr/>
        </p:nvSpPr>
        <p:spPr>
          <a:xfrm>
            <a:off x="320040" y="4160520"/>
            <a:ext cx="8503920" cy="36576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Northcutt, Curtis G.; Jiang, Lu; Chuang, Isaac L. Journal of Artificial Intelligence Research, 2021.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How Sift uses it: finding the 569 label flips</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6</a:t>
            </a:r>
          </a:p>
        </p:txBody>
      </p:sp>
      <p:pic>
        <p:nvPicPr>
          <p:cNvPr id="8" name="Picture 7" descr="cl_detect.png"/>
          <p:cNvPicPr>
            <a:picLocks noChangeAspect="1"/>
          </p:cNvPicPr>
          <p:nvPr/>
        </p:nvPicPr>
        <p:blipFill>
          <a:blip r:embed="rId4"/>
          <a:stretch>
            <a:fillRect/>
          </a:stretch>
        </p:blipFill>
        <p:spPr>
          <a:xfrm>
            <a:off x="4635800" y="749808"/>
            <a:ext cx="4170078" cy="3246120"/>
          </a:xfrm>
          <a:prstGeom prst="rect">
            <a:avLst/>
          </a:prstGeom>
        </p:spPr>
      </p:pic>
      <p:sp>
        <p:nvSpPr>
          <p:cNvPr id="9" name="TextBox 8"/>
          <p:cNvSpPr txBox="1"/>
          <p:nvPr/>
        </p:nvSpPr>
        <p:spPr>
          <a:xfrm>
            <a:off x="320040" y="731520"/>
            <a:ext cx="4206240" cy="3383280"/>
          </a:xfrm>
          <a:prstGeom prst="rect">
            <a:avLst/>
          </a:prstGeom>
          <a:noFill/>
        </p:spPr>
        <p:txBody>
          <a:bodyPr wrap="square" anchor="t" lIns="73152" rIns="73152" tIns="36576" bIns="36576">
            <a:spAutoFit/>
          </a:bodyPr>
          <a:lstStyle/>
          <a:p>
            <a:pPr algn="l">
              <a:spcAft>
                <a:spcPts val="400"/>
              </a:spcAft>
            </a:pPr>
            <a:r>
              <a:rPr sz="1300" b="1" i="0">
                <a:solidFill>
                  <a:srgbClr val="FF0000"/>
                </a:solidFill>
                <a:latin typeface="Calibri"/>
              </a:rPr>
              <a:t>Procedure</a:t>
            </a:r>
          </a:p>
          <a:p>
            <a:pPr algn="l" marL="146304" indent="-146304">
              <a:spcAft>
                <a:spcPts val="400"/>
              </a:spcAft>
              <a:buFont typeface="Arial"/>
              <a:buChar char="•"/>
            </a:pPr>
            <a:r>
              <a:rPr sz="1150" b="0" i="0">
                <a:solidFill>
                  <a:srgbClr val="262626"/>
                </a:solidFill>
                <a:latin typeface="Calibri"/>
              </a:rPr>
              <a:t>Out-of-fold probabilities for all 12,600 training rows from the cross-encoder.</a:t>
            </a:r>
          </a:p>
          <a:p>
            <a:pPr algn="l" marL="146304" indent="-146304">
              <a:spcAft>
                <a:spcPts val="400"/>
              </a:spcAft>
              <a:buFont typeface="Arial"/>
              <a:buChar char="•"/>
            </a:pPr>
            <a:r>
              <a:rPr sz="1150" b="0" i="0">
                <a:solidFill>
                  <a:srgbClr val="262626"/>
                </a:solidFill>
                <a:latin typeface="Calibri"/>
              </a:rPr>
              <a:t>cleanlab confident learning flags suspected label errors, scored against the known flips.</a:t>
            </a:r>
          </a:p>
          <a:p>
            <a:pPr algn="l" marL="146304" indent="-146304">
              <a:spcAft>
                <a:spcPts val="400"/>
              </a:spcAft>
              <a:buFont typeface="Arial"/>
              <a:buChar char="•"/>
            </a:pPr>
            <a:r>
              <a:rPr sz="1150" b="0" i="0">
                <a:solidFill>
                  <a:srgbClr val="262626"/>
                </a:solidFill>
                <a:latin typeface="Calibri"/>
              </a:rPr>
              <a:t>Rules remove non-semantic and duplicate hunks first.</a:t>
            </a:r>
          </a:p>
          <a:p>
            <a:pPr algn="l">
              <a:spcAft>
                <a:spcPts val="400"/>
              </a:spcAft>
            </a:pPr>
            <a:r>
              <a:rPr sz="1300" b="1" i="0">
                <a:solidFill>
                  <a:srgbClr val="FF0000"/>
                </a:solidFill>
                <a:latin typeface="Calibri"/>
              </a:rPr>
              <a:t>Result</a:t>
            </a:r>
          </a:p>
          <a:p>
            <a:pPr algn="l" marL="146304" indent="-146304">
              <a:spcAft>
                <a:spcPts val="400"/>
              </a:spcAft>
              <a:buFont typeface="Arial"/>
              <a:buChar char="•"/>
            </a:pPr>
            <a:r>
              <a:rPr sz="1150" b="0" i="0">
                <a:solidFill>
                  <a:srgbClr val="262626"/>
                </a:solidFill>
                <a:latin typeface="Calibri"/>
              </a:rPr>
              <a:t>Flagged 1,470, true flips found 220: </a:t>
            </a:r>
            <a:r>
              <a:rPr sz="1150" b="1" i="0">
                <a:solidFill>
                  <a:srgbClr val="262626"/>
                </a:solidFill>
                <a:latin typeface="Calibri"/>
              </a:rPr>
              <a:t>precision 0.150, recall 0.387</a:t>
            </a:r>
            <a:r>
              <a:rPr sz="1150" b="0" i="0">
                <a:solidFill>
                  <a:srgbClr val="262626"/>
                </a:solidFill>
                <a:latin typeface="Calibri"/>
              </a:rPr>
              <a:t>.</a:t>
            </a:r>
          </a:p>
          <a:p>
            <a:pPr algn="l" marL="146304" indent="-146304">
              <a:spcAft>
                <a:spcPts val="400"/>
              </a:spcAft>
              <a:buFont typeface="Arial"/>
              <a:buChar char="•"/>
            </a:pPr>
            <a:r>
              <a:rPr sz="1150" b="0" i="0">
                <a:solidFill>
                  <a:srgbClr val="262626"/>
                </a:solidFill>
                <a:latin typeface="Calibri"/>
              </a:rPr>
              <a:t>Random flagging would give precision 0.045.</a:t>
            </a:r>
          </a:p>
          <a:p>
            <a:pPr algn="l" marL="146304" indent="-146304">
              <a:spcAft>
                <a:spcPts val="400"/>
              </a:spcAft>
              <a:buFont typeface="Arial"/>
              <a:buChar char="•"/>
            </a:pPr>
            <a:r>
              <a:rPr sz="1150" b="0" i="0">
                <a:solidFill>
                  <a:srgbClr val="262626"/>
                </a:solidFill>
                <a:latin typeface="Calibri"/>
              </a:rPr>
              <a:t>Final drop list (CL + rules): precision 0.138, recall 0.385.</a:t>
            </a:r>
          </a:p>
        </p:txBody>
      </p:sp>
      <p:sp>
        <p:nvSpPr>
          <p:cNvPr id="10" name="TextBox 9"/>
          <p:cNvSpPr txBox="1"/>
          <p:nvPr/>
        </p:nvSpPr>
        <p:spPr>
          <a:xfrm>
            <a:off x="320040" y="4114800"/>
            <a:ext cx="8503920" cy="41148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Better than random, but a weak detector: most flagged rows are not true flips.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Related model papers: what Sift reuses</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7</a:t>
            </a:r>
          </a:p>
        </p:txBody>
      </p:sp>
      <p:graphicFrame>
        <p:nvGraphicFramePr>
          <p:cNvPr id="8" name="Table 7"/>
          <p:cNvGraphicFramePr>
            <a:graphicFrameLocks noGrp="1"/>
          </p:cNvGraphicFramePr>
          <p:nvPr/>
        </p:nvGraphicFramePr>
        <p:xfrm>
          <a:off x="320040" y="713232"/>
          <a:ext cx="8503919" cy="3090672"/>
        </p:xfrm>
        <a:graphic>
          <a:graphicData uri="http://schemas.openxmlformats.org/drawingml/2006/table">
            <a:tbl>
              <a:tblPr firstRow="1" bandRow="0">
                <a:tableStyleId>{5C22544A-7EE6-4342-B048-85BDC9FD1C3A}</a:tableStyleId>
              </a:tblPr>
              <a:tblGrid>
                <a:gridCol w="4754880"/>
                <a:gridCol w="3749039"/>
              </a:tblGrid>
              <a:tr h="256032">
                <a:tc>
                  <a:txBody>
                    <a:bodyPr wrap="square"/>
                    <a:lstStyle/>
                    <a:p>
                      <a:pPr algn="l"/>
                      <a:r>
                        <a:rPr sz="1100" b="1" i="0">
                          <a:solidFill>
                            <a:srgbClr val="FFFFFF"/>
                          </a:solidFill>
                          <a:latin typeface="Calibri"/>
                        </a:rPr>
                        <a:t>Paper</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l"/>
                      <a:r>
                        <a:rPr sz="1100" b="1" i="0">
                          <a:solidFill>
                            <a:srgbClr val="FFFFFF"/>
                          </a:solidFill>
                          <a:latin typeface="Calibri"/>
                        </a:rPr>
                        <a:t>Role in Sift</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r>
              <a:tr h="283464">
                <a:tc>
                  <a:txBody>
                    <a:bodyPr wrap="square"/>
                    <a:lstStyle/>
                    <a:p>
                      <a:pPr algn="l"/>
                      <a:r>
                        <a:rPr sz="1100" b="0" i="0">
                          <a:solidFill>
                            <a:srgbClr val="262626"/>
                          </a:solidFill>
                          <a:latin typeface="Calibri"/>
                        </a:rPr>
                        <a:t>Panthaplackel et al., Deep Just-In-Time Inconsistency Detection, AAAI 2021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Closest prior task: comment vs code change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83464">
                <a:tc>
                  <a:txBody>
                    <a:bodyPr wrap="square"/>
                    <a:lstStyle/>
                    <a:p>
                      <a:pPr algn="l"/>
                      <a:r>
                        <a:rPr sz="1100" b="0" i="0">
                          <a:solidFill>
                            <a:srgbClr val="262626"/>
                          </a:solidFill>
                          <a:latin typeface="Calibri"/>
                        </a:rPr>
                        <a:t>Herzig &amp; Zeller, The Impact of Tangled Code Changes, MSR 2013</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Motivates our limitation: seed commits may be tangled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83464">
                <a:tc>
                  <a:txBody>
                    <a:bodyPr wrap="square"/>
                    <a:lstStyle/>
                    <a:p>
                      <a:pPr algn="l"/>
                      <a:r>
                        <a:rPr sz="1100" b="0" i="0">
                          <a:solidFill>
                            <a:srgbClr val="262626"/>
                          </a:solidFill>
                          <a:latin typeface="Calibri"/>
                        </a:rPr>
                        <a:t>Nogueira &amp; Cho, Passage Re-ranking with BERT, 2019</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Cross-encoder pattern: concatenate texts, classify from [CLS]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83464">
                <a:tc>
                  <a:txBody>
                    <a:bodyPr wrap="square"/>
                    <a:lstStyle/>
                    <a:p>
                      <a:pPr algn="l"/>
                      <a:r>
                        <a:rPr sz="1100" b="0" i="0">
                          <a:solidFill>
                            <a:srgbClr val="262626"/>
                          </a:solidFill>
                          <a:latin typeface="Calibri"/>
                        </a:rPr>
                        <a:t>Warner et al., ModernBERT, 2024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Encoder backbone (8k context), fine-tuned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83464">
                <a:tc>
                  <a:txBody>
                    <a:bodyPr wrap="square"/>
                    <a:lstStyle/>
                    <a:p>
                      <a:pPr algn="l"/>
                      <a:r>
                        <a:rPr sz="1100" b="0" i="0">
                          <a:solidFill>
                            <a:srgbClr val="262626"/>
                          </a:solidFill>
                          <a:latin typeface="Calibri"/>
                        </a:rPr>
                        <a:t>Feng et al., CodeBERT, EMNLP Findings 2020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Code-aware baseline (reduced training)</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83464">
                <a:tc>
                  <a:txBody>
                    <a:bodyPr wrap="square"/>
                    <a:lstStyle/>
                    <a:p>
                      <a:pPr algn="l"/>
                      <a:r>
                        <a:rPr sz="1100" b="0" i="0">
                          <a:solidFill>
                            <a:srgbClr val="262626"/>
                          </a:solidFill>
                          <a:latin typeface="Calibri"/>
                        </a:rPr>
                        <a:t>Lin et al., Focal Loss for Dense Object Detection, ICCV 2017</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Alignment loss for the 78:22 class ratio</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83464">
                <a:tc>
                  <a:txBody>
                    <a:bodyPr wrap="square"/>
                    <a:lstStyle/>
                    <a:p>
                      <a:pPr algn="l"/>
                      <a:r>
                        <a:rPr sz="1100" b="0" i="0">
                          <a:solidFill>
                            <a:srgbClr val="262626"/>
                          </a:solidFill>
                          <a:latin typeface="Calibri"/>
                        </a:rPr>
                        <a:t>Guo et al., On Calibration of Modern Neural Networks, ICML 2017</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Temperature scaling on validation</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83464">
                <a:tc>
                  <a:txBody>
                    <a:bodyPr wrap="square"/>
                    <a:lstStyle/>
                    <a:p>
                      <a:pPr algn="l"/>
                      <a:r>
                        <a:rPr sz="1100" b="0" i="0">
                          <a:solidFill>
                            <a:srgbClr val="262626"/>
                          </a:solidFill>
                          <a:latin typeface="Calibri"/>
                        </a:rPr>
                        <a:t>Hinton et al., Distilling the Knowledge in a Neural Network, 2015</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Distillation to the MiniLM student</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83464">
                <a:tc>
                  <a:txBody>
                    <a:bodyPr wrap="square"/>
                    <a:lstStyle/>
                    <a:p>
                      <a:pPr algn="l"/>
                      <a:r>
                        <a:rPr sz="1100" b="0" i="0">
                          <a:solidFill>
                            <a:srgbClr val="262626"/>
                          </a:solidFill>
                          <a:latin typeface="Calibri"/>
                        </a:rPr>
                        <a:t>Sundararajan et al., Axiomatic Attribution (Integrated Gradients), ICML 2017</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Token attributions for explanations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83464">
                <a:tc>
                  <a:txBody>
                    <a:bodyPr wrap="square"/>
                    <a:lstStyle/>
                    <a:p>
                      <a:pPr algn="l"/>
                      <a:r>
                        <a:rPr sz="1100" b="0" i="0">
                          <a:solidFill>
                            <a:srgbClr val="262626"/>
                          </a:solidFill>
                          <a:latin typeface="Calibri"/>
                        </a:rPr>
                        <a:t>Han et al., Co-teaching, NeurIPS 2018</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Noisy-label training; named, not run</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bl>
          </a:graphicData>
        </a:graphic>
      </p:graphicFrame>
      <p:sp>
        <p:nvSpPr>
          <p:cNvPr id="9" name="TextBox 8"/>
          <p:cNvSpPr txBox="1"/>
          <p:nvPr/>
        </p:nvSpPr>
        <p:spPr>
          <a:xfrm>
            <a:off x="320040" y="4133087"/>
            <a:ext cx="8503920" cy="36576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No new architecture is claimed; published results on other tasks are not comparable with ours.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Proposed method: system architecture</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8</a:t>
            </a:r>
          </a:p>
        </p:txBody>
      </p:sp>
      <p:pic>
        <p:nvPicPr>
          <p:cNvPr id="8" name="Picture 7" descr="architecture.png"/>
          <p:cNvPicPr>
            <a:picLocks noChangeAspect="1"/>
          </p:cNvPicPr>
          <p:nvPr/>
        </p:nvPicPr>
        <p:blipFill>
          <a:blip r:embed="rId4"/>
          <a:stretch>
            <a:fillRect/>
          </a:stretch>
        </p:blipFill>
        <p:spPr>
          <a:xfrm>
            <a:off x="456003" y="713232"/>
            <a:ext cx="8231993" cy="3310128"/>
          </a:xfrm>
          <a:prstGeom prst="rect">
            <a:avLst/>
          </a:prstGeom>
        </p:spPr>
      </p:pic>
      <p:sp>
        <p:nvSpPr>
          <p:cNvPr id="9" name="TextBox 8"/>
          <p:cNvSpPr txBox="1"/>
          <p:nvPr/>
        </p:nvSpPr>
        <p:spPr>
          <a:xfrm>
            <a:off x="320040" y="4114800"/>
            <a:ext cx="8503920" cy="41148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Everything runs locally; the UI can switch between the main model, the INT8 student and the baselines.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Model, loss and heads</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9</a:t>
            </a:r>
          </a:p>
        </p:txBody>
      </p:sp>
      <p:sp>
        <p:nvSpPr>
          <p:cNvPr id="8" name="Rectangle 7"/>
          <p:cNvSpPr/>
          <p:nvPr/>
        </p:nvSpPr>
        <p:spPr>
          <a:xfrm>
            <a:off x="320040" y="749808"/>
            <a:ext cx="4160520" cy="141732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59" y="786384"/>
            <a:ext cx="4069080" cy="1344168"/>
          </a:xfrm>
          <a:prstGeom prst="rect">
            <a:avLst/>
          </a:prstGeom>
          <a:noFill/>
        </p:spPr>
        <p:txBody>
          <a:bodyPr wrap="square" anchor="t" lIns="73152" rIns="73152" tIns="36576" bIns="36576">
            <a:spAutoFit/>
          </a:bodyPr>
          <a:lstStyle/>
          <a:p>
            <a:pPr algn="l">
              <a:spcAft>
                <a:spcPts val="300"/>
              </a:spcAft>
            </a:pPr>
            <a:r>
              <a:rPr sz="1300" b="1" i="0">
                <a:solidFill>
                  <a:srgbClr val="FF0000"/>
                </a:solidFill>
                <a:latin typeface="Calibri"/>
              </a:rPr>
              <a:t>Cross-encoder (ModernBERT-base)</a:t>
            </a:r>
          </a:p>
          <a:p>
            <a:pPr algn="l" marL="146304" indent="-146304">
              <a:spcAft>
                <a:spcPts val="400"/>
              </a:spcAft>
              <a:buFont typeface="Arial"/>
              <a:buChar char="•"/>
            </a:pPr>
            <a:r>
              <a:rPr sz="1150" b="0" i="0">
                <a:solidFill>
                  <a:srgbClr val="262626"/>
                </a:solidFill>
                <a:latin typeface="Calibri"/>
              </a:rPr>
              <a:t>Input: [CLS] consolidated intent [SEP] hunk</a:t>
            </a:r>
          </a:p>
          <a:p>
            <a:pPr algn="l" marL="146304" indent="-146304">
              <a:spcAft>
                <a:spcPts val="400"/>
              </a:spcAft>
              <a:buFont typeface="Arial"/>
              <a:buChar char="•"/>
            </a:pPr>
            <a:r>
              <a:rPr sz="1150" b="0" i="0">
                <a:solidFill>
                  <a:srgbClr val="262626"/>
                </a:solidFill>
                <a:latin typeface="Calibri"/>
              </a:rPr>
              <a:t>149.0 M parameters, 22 layers, 768 hidden, 12 heads</a:t>
            </a:r>
          </a:p>
          <a:p>
            <a:pPr algn="l" marL="146304" indent="-146304">
              <a:spcAft>
                <a:spcPts val="400"/>
              </a:spcAft>
              <a:buFont typeface="Arial"/>
              <a:buChar char="•"/>
            </a:pPr>
            <a:r>
              <a:rPr sz="1150" b="0" i="0">
                <a:solidFill>
                  <a:srgbClr val="262626"/>
                </a:solidFill>
                <a:latin typeface="Calibri"/>
              </a:rPr>
              <a:t>Pooled [CLS] feeds three heads</a:t>
            </a:r>
          </a:p>
        </p:txBody>
      </p:sp>
      <p:sp>
        <p:nvSpPr>
          <p:cNvPr id="10" name="Rectangle 9"/>
          <p:cNvSpPr/>
          <p:nvPr/>
        </p:nvSpPr>
        <p:spPr>
          <a:xfrm>
            <a:off x="320040" y="2240280"/>
            <a:ext cx="4160520" cy="182880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59" y="2276856"/>
            <a:ext cx="4069080" cy="1755648"/>
          </a:xfrm>
          <a:prstGeom prst="rect">
            <a:avLst/>
          </a:prstGeom>
          <a:noFill/>
        </p:spPr>
        <p:txBody>
          <a:bodyPr wrap="square" anchor="t" lIns="73152" rIns="73152" tIns="36576" bIns="36576">
            <a:spAutoFit/>
          </a:bodyPr>
          <a:lstStyle/>
          <a:p>
            <a:pPr algn="l">
              <a:spcAft>
                <a:spcPts val="300"/>
              </a:spcAft>
            </a:pPr>
            <a:r>
              <a:rPr sz="1300" b="1" i="0">
                <a:solidFill>
                  <a:srgbClr val="FF0000"/>
                </a:solidFill>
                <a:latin typeface="Calibri"/>
              </a:rPr>
              <a:t>Heads and loss</a:t>
            </a:r>
          </a:p>
          <a:p>
            <a:pPr algn="l" marL="146304" indent="-146304">
              <a:spcAft>
                <a:spcPts val="400"/>
              </a:spcAft>
              <a:buFont typeface="Arial"/>
              <a:buChar char="•"/>
            </a:pPr>
            <a:r>
              <a:rPr sz="1150" b="0" i="0">
                <a:solidFill>
                  <a:srgbClr val="262626"/>
                </a:solidFill>
                <a:latin typeface="Calibri"/>
              </a:rPr>
              <a:t>Alignment: 2-class, focal loss (gamma = 2)</a:t>
            </a:r>
          </a:p>
          <a:p>
            <a:pPr algn="l" marL="146304" indent="-146304">
              <a:spcAft>
                <a:spcPts val="400"/>
              </a:spcAft>
              <a:buFont typeface="Arial"/>
              <a:buChar char="•"/>
            </a:pPr>
            <a:r>
              <a:rPr sz="1150" b="0" i="0">
                <a:solidFill>
                  <a:srgbClr val="262626"/>
                </a:solidFill>
                <a:latin typeface="Calibri"/>
              </a:rPr>
              <a:t>Drift type: 3-class, masked to misaligned rows</a:t>
            </a:r>
          </a:p>
          <a:p>
            <a:pPr algn="l" marL="146304" indent="-146304">
              <a:spcAft>
                <a:spcPts val="400"/>
              </a:spcAft>
              <a:buFont typeface="Arial"/>
              <a:buChar char="•"/>
            </a:pPr>
            <a:r>
              <a:rPr sz="1150" b="0" i="0">
                <a:solidFill>
                  <a:srgbClr val="262626"/>
                </a:solidFill>
                <a:latin typeface="Calibri"/>
              </a:rPr>
              <a:t>Confidence: calibration head; temperature scaling afterwards</a:t>
            </a:r>
          </a:p>
          <a:p>
            <a:pPr algn="l">
              <a:spcAft>
                <a:spcPts val="400"/>
              </a:spcAft>
            </a:pPr>
            <a:r>
              <a:rPr sz="1250" b="1" i="0">
                <a:solidFill>
                  <a:srgbClr val="B6114D"/>
                </a:solidFill>
                <a:latin typeface="Calibri"/>
              </a:rPr>
              <a:t>L = 0.6 L_align + 0.3 L_drift + 0.1 L_cal</a:t>
            </a:r>
          </a:p>
          <a:p>
            <a:pPr algn="l">
              <a:spcAft>
                <a:spcPts val="400"/>
              </a:spcAft>
            </a:pPr>
            <a:r>
              <a:rPr sz="1150" b="0" i="1">
                <a:solidFill>
                  <a:srgbClr val="262626"/>
                </a:solidFill>
                <a:latin typeface="Calibri"/>
              </a:rPr>
              <a:t>FL = -alpha (1 - p_t)^gamma log p_t</a:t>
            </a:r>
          </a:p>
        </p:txBody>
      </p:sp>
      <p:graphicFrame>
        <p:nvGraphicFramePr>
          <p:cNvPr id="12" name="Table 11"/>
          <p:cNvGraphicFramePr>
            <a:graphicFrameLocks noGrp="1"/>
          </p:cNvGraphicFramePr>
          <p:nvPr/>
        </p:nvGraphicFramePr>
        <p:xfrm>
          <a:off x="4617720" y="749808"/>
          <a:ext cx="4206240" cy="3246120"/>
        </p:xfrm>
        <a:graphic>
          <a:graphicData uri="http://schemas.openxmlformats.org/drawingml/2006/table">
            <a:tbl>
              <a:tblPr firstRow="1" bandRow="0">
                <a:tableStyleId>{5C22544A-7EE6-4342-B048-85BDC9FD1C3A}</a:tableStyleId>
              </a:tblPr>
              <a:tblGrid>
                <a:gridCol w="1554480"/>
                <a:gridCol w="2651760"/>
              </a:tblGrid>
              <a:tr h="324612">
                <a:tc>
                  <a:txBody>
                    <a:bodyPr wrap="square"/>
                    <a:lstStyle/>
                    <a:p>
                      <a:pPr algn="l"/>
                      <a:r>
                        <a:rPr sz="1100" b="1" i="0">
                          <a:solidFill>
                            <a:srgbClr val="FFFFFF"/>
                          </a:solidFill>
                          <a:latin typeface="Calibri"/>
                        </a:rPr>
                        <a:t>Setting</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l"/>
                      <a:r>
                        <a:rPr sz="1100" b="1" i="0">
                          <a:solidFill>
                            <a:srgbClr val="FFFFFF"/>
                          </a:solidFill>
                          <a:latin typeface="Calibri"/>
                        </a:rPr>
                        <a:t>Value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r>
              <a:tr h="324612">
                <a:tc>
                  <a:txBody>
                    <a:bodyPr wrap="square"/>
                    <a:lstStyle/>
                    <a:p>
                      <a:pPr algn="l"/>
                      <a:r>
                        <a:rPr sz="1100" b="0" i="0">
                          <a:solidFill>
                            <a:srgbClr val="262626"/>
                          </a:solidFill>
                          <a:latin typeface="Calibri"/>
                        </a:rPr>
                        <a:t>Max length / batch</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512 / 8 x 2 (effective 16)</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324612">
                <a:tc>
                  <a:txBody>
                    <a:bodyPr wrap="square"/>
                    <a:lstStyle/>
                    <a:p>
                      <a:pPr algn="l"/>
                      <a:r>
                        <a:rPr sz="1100" b="0" i="0">
                          <a:solidFill>
                            <a:srgbClr val="262626"/>
                          </a:solidFill>
                          <a:latin typeface="Calibri"/>
                        </a:rPr>
                        <a:t>Optimiser, lr</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AdamW, 2e-05, cosine, 10% warm-up</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324612">
                <a:tc>
                  <a:txBody>
                    <a:bodyPr wrap="square"/>
                    <a:lstStyle/>
                    <a:p>
                      <a:pPr algn="l"/>
                      <a:r>
                        <a:rPr sz="1100" b="0" i="0">
                          <a:solidFill>
                            <a:srgbClr val="262626"/>
                          </a:solidFill>
                          <a:latin typeface="Calibri"/>
                        </a:rPr>
                        <a:t>Precision</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bf16, gradient checkpointing</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324612">
                <a:tc>
                  <a:txBody>
                    <a:bodyPr wrap="square"/>
                    <a:lstStyle/>
                    <a:p>
                      <a:pPr algn="l"/>
                      <a:r>
                        <a:rPr sz="1100" b="0" i="0">
                          <a:solidFill>
                            <a:srgbClr val="262626"/>
                          </a:solidFill>
                          <a:latin typeface="Calibri"/>
                        </a:rPr>
                        <a:t>Epochs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up to 6, early stop (patience 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324612">
                <a:tc>
                  <a:txBody>
                    <a:bodyPr wrap="square"/>
                    <a:lstStyle/>
                    <a:p>
                      <a:pPr algn="l"/>
                      <a:r>
                        <a:rPr sz="1100" b="0" i="0">
                          <a:solidFill>
                            <a:srgbClr val="262626"/>
                          </a:solidFill>
                          <a:latin typeface="Calibri"/>
                        </a:rPr>
                        <a:t>Training rows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10,128 of 12,600 after denoising</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324612">
                <a:tc>
                  <a:txBody>
                    <a:bodyPr wrap="square"/>
                    <a:lstStyle/>
                    <a:p>
                      <a:pPr algn="l"/>
                      <a:r>
                        <a:rPr sz="1100" b="0" i="0">
                          <a:solidFill>
                            <a:srgbClr val="262626"/>
                          </a:solidFill>
                          <a:latin typeface="Calibri"/>
                        </a:rPr>
                        <a:t>Best val macro-F1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0.716</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324612">
                <a:tc>
                  <a:txBody>
                    <a:bodyPr wrap="square"/>
                    <a:lstStyle/>
                    <a:p>
                      <a:pPr algn="l"/>
                      <a:r>
                        <a:rPr sz="1100" b="0" i="0">
                          <a:solidFill>
                            <a:srgbClr val="262626"/>
                          </a:solidFill>
                          <a:latin typeface="Calibri"/>
                        </a:rPr>
                        <a:t>Train time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28 min, peak 3.1 GB</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324612">
                <a:tc>
                  <a:txBody>
                    <a:bodyPr wrap="square"/>
                    <a:lstStyle/>
                    <a:p>
                      <a:pPr algn="l"/>
                      <a:r>
                        <a:rPr sz="1100" b="0" i="0">
                          <a:solidFill>
                            <a:srgbClr val="262626"/>
                          </a:solidFill>
                          <a:latin typeface="Calibri"/>
                        </a:rPr>
                        <a:t>Hardware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RTX 4050 Laptop, 6 GB</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324612">
                <a:tc>
                  <a:txBody>
                    <a:bodyPr wrap="square"/>
                    <a:lstStyle/>
                    <a:p>
                      <a:pPr algn="l"/>
                      <a:r>
                        <a:rPr sz="1100" b="0" i="0">
                          <a:solidFill>
                            <a:srgbClr val="262626"/>
                          </a:solidFill>
                          <a:latin typeface="Calibri"/>
                        </a:rPr>
                        <a:t>Seed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473 (single seed)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bl>
          </a:graphicData>
        </a:graphic>
      </p:graphicFrame>
      <p:sp>
        <p:nvSpPr>
          <p:cNvPr id="13" name="TextBox 12"/>
          <p:cNvSpPr txBox="1"/>
          <p:nvPr/>
        </p:nvSpPr>
        <p:spPr>
          <a:xfrm>
            <a:off x="320040" y="4133087"/>
            <a:ext cx="8503920" cy="36576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Known method, new task: ModernBERT, focal loss and temperature scaling are existing techniques.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Dataset: Sift-IA v1.0</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10</a:t>
            </a:r>
          </a:p>
        </p:txBody>
      </p:sp>
      <p:graphicFrame>
        <p:nvGraphicFramePr>
          <p:cNvPr id="8" name="Table 7"/>
          <p:cNvGraphicFramePr>
            <a:graphicFrameLocks noGrp="1"/>
          </p:cNvGraphicFramePr>
          <p:nvPr/>
        </p:nvGraphicFramePr>
        <p:xfrm>
          <a:off x="320040" y="749808"/>
          <a:ext cx="4937757" cy="1325880"/>
        </p:xfrm>
        <a:graphic>
          <a:graphicData uri="http://schemas.openxmlformats.org/drawingml/2006/table">
            <a:tbl>
              <a:tblPr firstRow="1" bandRow="0">
                <a:tableStyleId>{5C22544A-7EE6-4342-B048-85BDC9FD1C3A}</a:tableStyleId>
              </a:tblPr>
              <a:tblGrid>
                <a:gridCol w="1126155"/>
                <a:gridCol w="606391"/>
                <a:gridCol w="779646"/>
                <a:gridCol w="779646"/>
                <a:gridCol w="779646"/>
                <a:gridCol w="866273"/>
              </a:tblGrid>
              <a:tr h="265176">
                <a:tc>
                  <a:txBody>
                    <a:bodyPr wrap="square"/>
                    <a:lstStyle/>
                    <a:p>
                      <a:pPr algn="l"/>
                      <a:r>
                        <a:rPr sz="1100" b="1" i="0">
                          <a:solidFill>
                            <a:srgbClr val="FFFFFF"/>
                          </a:solidFill>
                          <a:latin typeface="Calibri"/>
                        </a:rPr>
                        <a:t>Split</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Repos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Sessions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Hunks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Aligned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Misaligned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r>
              <a:tr h="265176">
                <a:tc>
                  <a:txBody>
                    <a:bodyPr wrap="square"/>
                    <a:lstStyle/>
                    <a:p>
                      <a:pPr algn="l"/>
                      <a:r>
                        <a:rPr sz="1100" b="0" i="0">
                          <a:solidFill>
                            <a:srgbClr val="262626"/>
                          </a:solidFill>
                          <a:latin typeface="Calibri"/>
                        </a:rPr>
                        <a:t>Train</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7</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4,266</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12,600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9,828</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2,772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65176">
                <a:tc>
                  <a:txBody>
                    <a:bodyPr wrap="square"/>
                    <a:lstStyle/>
                    <a:p>
                      <a:pPr algn="l"/>
                      <a:r>
                        <a:rPr sz="1100" b="0" i="0">
                          <a:solidFill>
                            <a:srgbClr val="262626"/>
                          </a:solidFill>
                          <a:latin typeface="Calibri"/>
                        </a:rPr>
                        <a:t>Validation</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5</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921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2,700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2,106</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594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65176">
                <a:tc>
                  <a:txBody>
                    <a:bodyPr wrap="square"/>
                    <a:lstStyle/>
                    <a:p>
                      <a:pPr algn="l"/>
                      <a:r>
                        <a:rPr sz="1100" b="0" i="0">
                          <a:solidFill>
                            <a:srgbClr val="262626"/>
                          </a:solidFill>
                          <a:latin typeface="Calibri"/>
                        </a:rPr>
                        <a:t>Test</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3</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924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2,700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2,106</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594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65176">
                <a:tc>
                  <a:txBody>
                    <a:bodyPr wrap="square"/>
                    <a:lstStyle/>
                    <a:p>
                      <a:pPr algn="l"/>
                      <a:r>
                        <a:rPr sz="1100" b="0" i="0">
                          <a:solidFill>
                            <a:srgbClr val="262626"/>
                          </a:solidFill>
                          <a:latin typeface="Calibri"/>
                        </a:rPr>
                        <a:t>Total</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ctr"/>
                      <a:r>
                        <a:rPr sz="1100" b="0" i="0">
                          <a:solidFill>
                            <a:srgbClr val="262626"/>
                          </a:solidFill>
                          <a:latin typeface="Calibri"/>
                        </a:rPr>
                        <a:t>15</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ctr"/>
                      <a:r>
                        <a:rPr sz="1100" b="0" i="0">
                          <a:solidFill>
                            <a:srgbClr val="262626"/>
                          </a:solidFill>
                          <a:latin typeface="Calibri"/>
                        </a:rPr>
                        <a:t>6,111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ctr"/>
                      <a:r>
                        <a:rPr sz="1100" b="0" i="0">
                          <a:solidFill>
                            <a:srgbClr val="262626"/>
                          </a:solidFill>
                          <a:latin typeface="Calibri"/>
                        </a:rPr>
                        <a:t>18,000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ctr"/>
                      <a:r>
                        <a:rPr sz="1100" b="0" i="0">
                          <a:solidFill>
                            <a:srgbClr val="262626"/>
                          </a:solidFill>
                          <a:latin typeface="Calibri"/>
                        </a:rPr>
                        <a:t>14,040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ctr"/>
                      <a:r>
                        <a:rPr sz="1100" b="0" i="0">
                          <a:solidFill>
                            <a:srgbClr val="262626"/>
                          </a:solidFill>
                          <a:latin typeface="Calibri"/>
                        </a:rPr>
                        <a:t>3,960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r>
            </a:tbl>
          </a:graphicData>
        </a:graphic>
      </p:graphicFrame>
      <p:sp>
        <p:nvSpPr>
          <p:cNvPr id="9" name="TextBox 8"/>
          <p:cNvSpPr txBox="1"/>
          <p:nvPr/>
        </p:nvSpPr>
        <p:spPr>
          <a:xfrm>
            <a:off x="320040" y="2103120"/>
            <a:ext cx="4937760" cy="2011680"/>
          </a:xfrm>
          <a:prstGeom prst="rect">
            <a:avLst/>
          </a:prstGeom>
          <a:noFill/>
        </p:spPr>
        <p:txBody>
          <a:bodyPr wrap="square" anchor="t" lIns="73152" rIns="73152" tIns="36576" bIns="36576">
            <a:spAutoFit/>
          </a:bodyPr>
          <a:lstStyle/>
          <a:p>
            <a:pPr algn="l">
              <a:spcAft>
                <a:spcPts val="200"/>
              </a:spcAft>
            </a:pPr>
            <a:r>
              <a:rPr sz="1250" b="1" i="0">
                <a:solidFill>
                  <a:srgbClr val="FF0000"/>
                </a:solidFill>
                <a:latin typeface="Calibri"/>
              </a:rPr>
              <a:t>Repositories</a:t>
            </a:r>
          </a:p>
          <a:p>
            <a:pPr algn="l">
              <a:spcAft>
                <a:spcPts val="100"/>
              </a:spcAft>
            </a:pPr>
            <a:r>
              <a:rPr sz="1100" b="0" i="0">
                <a:solidFill>
                  <a:srgbClr val="262626"/>
                </a:solidFill>
                <a:latin typeface="Calibri"/>
              </a:rPr>
              <a:t>Train: black, click, express, fastify, flask, requests, rich</a:t>
            </a:r>
          </a:p>
          <a:p>
            <a:pPr algn="l">
              <a:spcAft>
                <a:spcPts val="100"/>
              </a:spcAft>
            </a:pPr>
            <a:r>
              <a:rPr sz="1100" b="0" i="0">
                <a:solidFill>
                  <a:srgbClr val="262626"/>
                </a:solidFill>
                <a:latin typeface="Calibri"/>
              </a:rPr>
              <a:t>Validation: chalk, got, koa, sqlmodel, typer</a:t>
            </a:r>
          </a:p>
          <a:p>
            <a:pPr algn="l">
              <a:spcAft>
                <a:spcPts val="500"/>
              </a:spcAft>
            </a:pPr>
            <a:r>
              <a:rPr sz="1100" b="0" i="0">
                <a:solidFill>
                  <a:srgbClr val="262626"/>
                </a:solidFill>
                <a:latin typeface="Calibri"/>
              </a:rPr>
              <a:t>Test: attrs, axios, httpx</a:t>
            </a:r>
          </a:p>
          <a:p>
            <a:pPr algn="l">
              <a:spcAft>
                <a:spcPts val="200"/>
              </a:spcAft>
            </a:pPr>
            <a:r>
              <a:rPr sz="1250" b="1" i="0">
                <a:solidFill>
                  <a:srgbClr val="FF0000"/>
                </a:solidFill>
                <a:latin typeface="Calibri"/>
              </a:rPr>
              <a:t>Measured language mix (hunks)</a:t>
            </a:r>
          </a:p>
          <a:p>
            <a:pPr algn="l">
              <a:spcAft>
                <a:spcPts val="400"/>
              </a:spcAft>
            </a:pPr>
            <a:r>
              <a:rPr sz="1100" b="0" i="0">
                <a:solidFill>
                  <a:srgbClr val="262626"/>
                </a:solidFill>
                <a:latin typeface="Calibri"/>
              </a:rPr>
              <a:t>Python 10,205, JavaScript 6,726, TypeScript 1,069 (val only; test has none)</a:t>
            </a:r>
          </a:p>
        </p:txBody>
      </p:sp>
      <p:sp>
        <p:nvSpPr>
          <p:cNvPr id="10" name="Rectangle 9"/>
          <p:cNvSpPr/>
          <p:nvPr/>
        </p:nvSpPr>
        <p:spPr>
          <a:xfrm>
            <a:off x="5440680" y="749808"/>
            <a:ext cx="3383280" cy="329184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0" y="786384"/>
            <a:ext cx="3291840" cy="3218688"/>
          </a:xfrm>
          <a:prstGeom prst="rect">
            <a:avLst/>
          </a:prstGeom>
          <a:noFill/>
        </p:spPr>
        <p:txBody>
          <a:bodyPr wrap="square" anchor="t" lIns="73152" rIns="73152" tIns="36576" bIns="36576">
            <a:spAutoFit/>
          </a:bodyPr>
          <a:lstStyle/>
          <a:p>
            <a:pPr algn="l">
              <a:spcAft>
                <a:spcPts val="300"/>
              </a:spcAft>
            </a:pPr>
            <a:r>
              <a:rPr sz="1300" b="1" i="0">
                <a:solidFill>
                  <a:srgbClr val="FF0000"/>
                </a:solidFill>
                <a:latin typeface="Calibri"/>
              </a:rPr>
              <a:t>How labels are built</a:t>
            </a:r>
          </a:p>
          <a:p>
            <a:pPr algn="l" marL="146304" indent="-146304">
              <a:spcAft>
                <a:spcPts val="400"/>
              </a:spcAft>
              <a:buFont typeface="Arial"/>
              <a:buChar char="•"/>
            </a:pPr>
            <a:r>
              <a:rPr sz="1200" b="1" i="0">
                <a:solidFill>
                  <a:srgbClr val="262626"/>
                </a:solidFill>
                <a:latin typeface="Calibri"/>
              </a:rPr>
              <a:t>Aligned:</a:t>
            </a:r>
            <a:r>
              <a:rPr sz="1200" b="0" i="0">
                <a:solidFill>
                  <a:srgbClr val="262626"/>
                </a:solidFill>
                <a:latin typeface="Calibri"/>
              </a:rPr>
              <a:t> a real hunk from the seed commit that produced the intent.</a:t>
            </a:r>
          </a:p>
          <a:p>
            <a:pPr algn="l" marL="146304" indent="-146304">
              <a:spcAft>
                <a:spcPts val="400"/>
              </a:spcAft>
              <a:buFont typeface="Arial"/>
              <a:buChar char="•"/>
            </a:pPr>
            <a:r>
              <a:rPr sz="1200" b="1" i="0">
                <a:solidFill>
                  <a:srgbClr val="262626"/>
                </a:solidFill>
                <a:latin typeface="Calibri"/>
              </a:rPr>
              <a:t>Misaligned:</a:t>
            </a:r>
            <a:r>
              <a:rPr sz="1200" b="0" i="0">
                <a:solidFill>
                  <a:srgbClr val="262626"/>
                </a:solidFill>
                <a:latin typeface="Calibri"/>
              </a:rPr>
              <a:t> a donor hunk from a different commit inserted into the session.</a:t>
            </a:r>
          </a:p>
          <a:p>
            <a:pPr algn="l" marL="146304" indent="-146304">
              <a:spcAft>
                <a:spcPts val="400"/>
              </a:spcAft>
              <a:buFont typeface="Arial"/>
              <a:buChar char="•"/>
            </a:pPr>
            <a:r>
              <a:rPr sz="1200" b="0" i="0">
                <a:solidFill>
                  <a:srgbClr val="262626"/>
                </a:solidFill>
                <a:latin typeface="Calibri"/>
              </a:rPr>
              <a:t>Collateral: donor touches a different file. Scope-Expansion: same file, session hunks kept. Purpose-Drift: same file, own hunk removed.</a:t>
            </a:r>
          </a:p>
          <a:p>
            <a:pPr algn="l" marL="146304" indent="-146304">
              <a:spcAft>
                <a:spcPts val="400"/>
              </a:spcAft>
              <a:buFont typeface="Arial"/>
              <a:buChar char="•"/>
            </a:pPr>
            <a:r>
              <a:rPr sz="1200" b="0" i="0">
                <a:solidFill>
                  <a:srgbClr val="262626"/>
                </a:solidFill>
                <a:latin typeface="Calibri"/>
              </a:rPr>
              <a:t>Difficulty tiers (misaligned): random 1,960, hard 2,000</a:t>
            </a:r>
          </a:p>
          <a:p>
            <a:pPr algn="l" marL="146304" indent="-146304">
              <a:spcAft>
                <a:spcPts val="400"/>
              </a:spcAft>
              <a:buFont typeface="Arial"/>
              <a:buChar char="•"/>
            </a:pPr>
            <a:r>
              <a:rPr sz="1200" b="0" i="0">
                <a:solidFill>
                  <a:srgbClr val="262626"/>
                </a:solidFill>
                <a:latin typeface="Calibri"/>
              </a:rPr>
              <a:t>Train on label, evaluate on label_clean; val and test labels are clean.</a:t>
            </a:r>
          </a:p>
        </p:txBody>
      </p:sp>
      <p:sp>
        <p:nvSpPr>
          <p:cNvPr id="12" name="TextBox 11"/>
          <p:cNvSpPr txBox="1"/>
          <p:nvPr/>
        </p:nvSpPr>
        <p:spPr>
          <a:xfrm>
            <a:off x="320040" y="4114800"/>
            <a:ext cx="8503920" cy="41148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Limit: constructed labels, no human validation yet; only Python and JavaScript in test.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IEEE DataPort: dataset record and status</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11</a:t>
            </a:r>
          </a:p>
        </p:txBody>
      </p:sp>
      <p:sp>
        <p:nvSpPr>
          <p:cNvPr id="8" name="Rectangle 7"/>
          <p:cNvSpPr/>
          <p:nvPr/>
        </p:nvSpPr>
        <p:spPr>
          <a:xfrm>
            <a:off x="320040" y="749808"/>
            <a:ext cx="8503920" cy="77724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59" y="786384"/>
            <a:ext cx="8412480" cy="704088"/>
          </a:xfrm>
          <a:prstGeom prst="rect">
            <a:avLst/>
          </a:prstGeom>
          <a:noFill/>
        </p:spPr>
        <p:txBody>
          <a:bodyPr wrap="square" anchor="t" lIns="73152" rIns="73152" tIns="36576" bIns="36576">
            <a:spAutoFit/>
          </a:bodyPr>
          <a:lstStyle/>
          <a:p>
            <a:pPr algn="l">
              <a:spcAft>
                <a:spcPts val="300"/>
              </a:spcAft>
            </a:pPr>
            <a:r>
              <a:rPr sz="1250" b="1" i="0">
                <a:solidFill>
                  <a:srgbClr val="FF0000"/>
                </a:solidFill>
                <a:latin typeface="Calibri"/>
              </a:rPr>
              <a:t>IEEE DataPort record</a:t>
            </a:r>
          </a:p>
          <a:p>
            <a:pPr algn="l">
              <a:spcAft>
                <a:spcPts val="400"/>
              </a:spcAft>
            </a:pPr>
            <a:r>
              <a:rPr sz="1050" b="0" i="0">
                <a:solidFill>
                  <a:srgbClr val="C00000"/>
                </a:solidFill>
                <a:latin typeface="Calibri"/>
                <a:hlinkClick r:id="rId4"/>
              </a:rPr>
              <a:t>https://ieee-dataport.org/documents/sift-ia-intent-implementation-alignment-dataset-code-diff-hunks-produced-ai-coding-agents</a:t>
            </a:r>
          </a:p>
        </p:txBody>
      </p:sp>
      <p:sp>
        <p:nvSpPr>
          <p:cNvPr id="10" name="Rectangle 9"/>
          <p:cNvSpPr/>
          <p:nvPr/>
        </p:nvSpPr>
        <p:spPr>
          <a:xfrm>
            <a:off x="320040" y="1627632"/>
            <a:ext cx="4160520" cy="246888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59" y="1664208"/>
            <a:ext cx="4069080" cy="2395728"/>
          </a:xfrm>
          <a:prstGeom prst="rect">
            <a:avLst/>
          </a:prstGeom>
          <a:noFill/>
        </p:spPr>
        <p:txBody>
          <a:bodyPr wrap="square" anchor="t" lIns="73152" rIns="73152" tIns="36576" bIns="36576">
            <a:spAutoFit/>
          </a:bodyPr>
          <a:lstStyle/>
          <a:p>
            <a:pPr algn="l">
              <a:spcAft>
                <a:spcPts val="300"/>
              </a:spcAft>
            </a:pPr>
            <a:r>
              <a:rPr sz="1300" b="1" i="0">
                <a:solidFill>
                  <a:srgbClr val="FF0000"/>
                </a:solidFill>
                <a:latin typeface="Calibri"/>
              </a:rPr>
              <a:t>Status (supported by our records)</a:t>
            </a:r>
          </a:p>
          <a:p>
            <a:pPr algn="l" marL="146304" indent="-146304">
              <a:spcAft>
                <a:spcPts val="400"/>
              </a:spcAft>
              <a:buFont typeface="Arial"/>
              <a:buChar char="•"/>
            </a:pPr>
            <a:r>
              <a:rPr sz="1250" b="0" i="0">
                <a:solidFill>
                  <a:srgbClr val="262626"/>
                </a:solidFill>
                <a:latin typeface="Calibri"/>
              </a:rPr>
              <a:t>Record link is listed in the project submission tracker.</a:t>
            </a:r>
          </a:p>
          <a:p>
            <a:pPr algn="l" marL="146304" indent="-146304">
              <a:spcAft>
                <a:spcPts val="400"/>
              </a:spcAft>
              <a:buFont typeface="Arial"/>
              <a:buChar char="•"/>
            </a:pPr>
            <a:r>
              <a:rPr sz="1250" b="0" i="0">
                <a:solidFill>
                  <a:srgbClr val="262626"/>
                </a:solidFill>
                <a:latin typeface="Calibri"/>
              </a:rPr>
              <a:t>Dataset description document prepared (IEEE DataPort template).</a:t>
            </a:r>
          </a:p>
          <a:p>
            <a:pPr algn="l" marL="146304" indent="-146304">
              <a:spcAft>
                <a:spcPts val="400"/>
              </a:spcAft>
              <a:buFont typeface="Arial"/>
              <a:buChar char="•"/>
            </a:pPr>
            <a:r>
              <a:rPr sz="1250" b="0" i="0">
                <a:solidFill>
                  <a:srgbClr val="262626"/>
                </a:solidFill>
                <a:latin typeface="Calibri"/>
              </a:rPr>
              <a:t>DOI to be inserted once the upload is published; </a:t>
            </a:r>
            <a:r>
              <a:rPr sz="1250" b="1" i="0">
                <a:solidFill>
                  <a:srgbClr val="262626"/>
                </a:solidFill>
                <a:latin typeface="Calibri"/>
              </a:rPr>
              <a:t>not yet claimed</a:t>
            </a:r>
            <a:r>
              <a:rPr sz="1250" b="0" i="0">
                <a:solidFill>
                  <a:srgbClr val="262626"/>
                </a:solidFill>
                <a:latin typeface="Calibri"/>
              </a:rPr>
              <a:t>.</a:t>
            </a:r>
          </a:p>
          <a:p>
            <a:pPr algn="l" marL="146304" indent="-146304">
              <a:spcAft>
                <a:spcPts val="400"/>
              </a:spcAft>
              <a:buFont typeface="Arial"/>
              <a:buChar char="•"/>
            </a:pPr>
            <a:r>
              <a:rPr sz="1250" b="0" i="0">
                <a:solidFill>
                  <a:srgbClr val="262626"/>
                </a:solidFill>
                <a:latin typeface="Calibri"/>
              </a:rPr>
              <a:t>Licences: MIT, BSD-3-Clause, Apache-2.0 sources; licence texts included.</a:t>
            </a:r>
          </a:p>
        </p:txBody>
      </p:sp>
      <p:sp>
        <p:nvSpPr>
          <p:cNvPr id="12" name="Rectangle 11"/>
          <p:cNvSpPr/>
          <p:nvPr/>
        </p:nvSpPr>
        <p:spPr>
          <a:xfrm>
            <a:off x="4617720" y="1627632"/>
            <a:ext cx="4206240" cy="246888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1664208"/>
            <a:ext cx="4114800" cy="2395728"/>
          </a:xfrm>
          <a:prstGeom prst="rect">
            <a:avLst/>
          </a:prstGeom>
          <a:noFill/>
        </p:spPr>
        <p:txBody>
          <a:bodyPr wrap="square" anchor="t" lIns="73152" rIns="73152" tIns="36576" bIns="36576">
            <a:spAutoFit/>
          </a:bodyPr>
          <a:lstStyle/>
          <a:p>
            <a:pPr algn="l">
              <a:spcAft>
                <a:spcPts val="300"/>
              </a:spcAft>
            </a:pPr>
            <a:r>
              <a:rPr sz="1300" b="1" i="0">
                <a:solidFill>
                  <a:srgbClr val="FF0000"/>
                </a:solidFill>
                <a:latin typeface="Calibri"/>
              </a:rPr>
              <a:t>Release contents (per the description)</a:t>
            </a:r>
          </a:p>
          <a:p>
            <a:pPr algn="l" marL="146304" indent="-146304">
              <a:spcAft>
                <a:spcPts val="400"/>
              </a:spcAft>
              <a:buFont typeface="Arial"/>
              <a:buChar char="•"/>
            </a:pPr>
            <a:r>
              <a:rPr sz="1250" b="0" i="0">
                <a:solidFill>
                  <a:srgbClr val="262626"/>
                </a:solidFill>
                <a:latin typeface="Calibri"/>
              </a:rPr>
              <a:t>Three CSV splits (12,600 / 2,700 / 2,700 rows) and a JSONL copy.</a:t>
            </a:r>
          </a:p>
          <a:p>
            <a:pPr algn="l" marL="146304" indent="-146304">
              <a:spcAft>
                <a:spcPts val="400"/>
              </a:spcAft>
              <a:buFont typeface="Arial"/>
              <a:buChar char="•"/>
            </a:pPr>
            <a:r>
              <a:rPr sz="1250" b="0" i="0">
                <a:solidFill>
                  <a:srgbClr val="262626"/>
                </a:solidFill>
                <a:latin typeface="Calibri"/>
              </a:rPr>
              <a:t>Noise manifest: 4,529 rows with ground-truth noise labels.</a:t>
            </a:r>
          </a:p>
          <a:p>
            <a:pPr algn="l" marL="146304" indent="-146304">
              <a:spcAft>
                <a:spcPts val="400"/>
              </a:spcAft>
              <a:buFont typeface="Arial"/>
              <a:buChar char="•"/>
            </a:pPr>
            <a:r>
              <a:rPr sz="1250" b="0" i="0">
                <a:solidFill>
                  <a:srgbClr val="262626"/>
                </a:solidFill>
                <a:latin typeface="Calibri"/>
              </a:rPr>
              <a:t>sessions.csv with 6,111 sessions and source repositories file.</a:t>
            </a:r>
          </a:p>
          <a:p>
            <a:pPr algn="l" marL="146304" indent="-146304">
              <a:spcAft>
                <a:spcPts val="400"/>
              </a:spcAft>
              <a:buFont typeface="Arial"/>
              <a:buChar char="•"/>
            </a:pPr>
            <a:r>
              <a:rPr sz="1250" b="0" i="0">
                <a:solidFill>
                  <a:srgbClr val="262626"/>
                </a:solidFill>
                <a:latin typeface="Calibri"/>
              </a:rPr>
              <a:t>Blind 900-sample gold annotation sheet (labels withheld).</a:t>
            </a:r>
          </a:p>
          <a:p>
            <a:pPr algn="l" marL="146304" indent="-146304">
              <a:spcAft>
                <a:spcPts val="400"/>
              </a:spcAft>
              <a:buFont typeface="Arial"/>
              <a:buChar char="•"/>
            </a:pPr>
            <a:r>
              <a:rPr sz="1250" b="0" i="0">
                <a:solidFill>
                  <a:srgbClr val="262626"/>
                </a:solidFill>
                <a:latin typeface="Calibri"/>
              </a:rPr>
              <a:t>Four scripts that regenerate the dataset from a fixed seed.</a:t>
            </a:r>
          </a:p>
        </p:txBody>
      </p:sp>
      <p:sp>
        <p:nvSpPr>
          <p:cNvPr id="14" name="TextBox 13"/>
          <p:cNvSpPr txBox="1"/>
          <p:nvPr/>
        </p:nvSpPr>
        <p:spPr>
          <a:xfrm>
            <a:off x="320040" y="4133087"/>
            <a:ext cx="8503920" cy="36576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Doubles as a denoising benchmark: five noise types shipped with ground truth.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Noise analysis and denoising</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12</a:t>
            </a:r>
          </a:p>
        </p:txBody>
      </p:sp>
      <p:graphicFrame>
        <p:nvGraphicFramePr>
          <p:cNvPr id="8" name="Table 7"/>
          <p:cNvGraphicFramePr>
            <a:graphicFrameLocks noGrp="1"/>
          </p:cNvGraphicFramePr>
          <p:nvPr/>
        </p:nvGraphicFramePr>
        <p:xfrm>
          <a:off x="320040" y="749808"/>
          <a:ext cx="4343400" cy="2377440"/>
        </p:xfrm>
        <a:graphic>
          <a:graphicData uri="http://schemas.openxmlformats.org/drawingml/2006/table">
            <a:tbl>
              <a:tblPr firstRow="1" bandRow="0">
                <a:tableStyleId>{5C22544A-7EE6-4342-B048-85BDC9FD1C3A}</a:tableStyleId>
              </a:tblPr>
              <a:tblGrid>
                <a:gridCol w="1447800"/>
                <a:gridCol w="542925"/>
                <a:gridCol w="2352675"/>
              </a:tblGrid>
              <a:tr h="274320">
                <a:tc>
                  <a:txBody>
                    <a:bodyPr wrap="square"/>
                    <a:lstStyle/>
                    <a:p>
                      <a:pPr algn="l"/>
                      <a:r>
                        <a:rPr sz="1100" b="1" i="0">
                          <a:solidFill>
                            <a:srgbClr val="FFFFFF"/>
                          </a:solidFill>
                          <a:latin typeface="Calibri"/>
                        </a:rPr>
                        <a:t>Noise type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Rows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l"/>
                      <a:r>
                        <a:rPr sz="1100" b="1" i="0">
                          <a:solidFill>
                            <a:srgbClr val="FFFFFF"/>
                          </a:solidFill>
                          <a:latin typeface="Calibri"/>
                        </a:rPr>
                        <a:t>Handling</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r>
              <a:tr h="420624">
                <a:tc>
                  <a:txBody>
                    <a:bodyPr wrap="square"/>
                    <a:lstStyle/>
                    <a:p>
                      <a:pPr algn="l"/>
                      <a:r>
                        <a:rPr sz="1100" b="0" i="0">
                          <a:solidFill>
                            <a:srgbClr val="262626"/>
                          </a:solidFill>
                          <a:latin typeface="Calibri"/>
                        </a:rPr>
                        <a:t>Intent-turn</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2,730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consolidation drops chit-chat, retractions, repeats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420624">
                <a:tc>
                  <a:txBody>
                    <a:bodyPr wrap="square"/>
                    <a:lstStyle/>
                    <a:p>
                      <a:pPr algn="l"/>
                      <a:r>
                        <a:rPr sz="1100" b="0" i="0">
                          <a:solidFill>
                            <a:srgbClr val="262626"/>
                          </a:solidFill>
                          <a:latin typeface="Calibri"/>
                        </a:rPr>
                        <a:t>Duplicate hunk</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937</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rule filter</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420624">
                <a:tc>
                  <a:txBody>
                    <a:bodyPr wrap="square"/>
                    <a:lstStyle/>
                    <a:p>
                      <a:pPr algn="l"/>
                      <a:r>
                        <a:rPr sz="1100" b="0" i="0">
                          <a:solidFill>
                            <a:srgbClr val="262626"/>
                          </a:solidFill>
                          <a:latin typeface="Calibri"/>
                        </a:rPr>
                        <a:t>Non-semantic</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714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rule filter (whitespace, lockfile, version bump)</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420624">
                <a:tc>
                  <a:txBody>
                    <a:bodyPr wrap="square"/>
                    <a:lstStyle/>
                    <a:p>
                      <a:pPr algn="l"/>
                      <a:r>
                        <a:rPr sz="1100" b="0" i="0">
                          <a:solidFill>
                            <a:srgbClr val="262626"/>
                          </a:solidFill>
                          <a:latin typeface="Calibri"/>
                        </a:rPr>
                        <a:t>Label flip (train only)</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569</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confident learning</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420624">
                <a:tc>
                  <a:txBody>
                    <a:bodyPr wrap="square"/>
                    <a:lstStyle/>
                    <a:p>
                      <a:pPr algn="l"/>
                      <a:r>
                        <a:rPr sz="1100" b="0" i="0">
                          <a:solidFill>
                            <a:srgbClr val="262626"/>
                          </a:solidFill>
                          <a:latin typeface="Calibri"/>
                        </a:rPr>
                        <a:t>Truncation</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198</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flagged as exceeds_max_len</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bl>
          </a:graphicData>
        </a:graphic>
      </p:graphicFrame>
      <p:sp>
        <p:nvSpPr>
          <p:cNvPr id="9" name="TextBox 8"/>
          <p:cNvSpPr txBox="1"/>
          <p:nvPr/>
        </p:nvSpPr>
        <p:spPr>
          <a:xfrm>
            <a:off x="320040" y="3154680"/>
            <a:ext cx="4343400" cy="960120"/>
          </a:xfrm>
          <a:prstGeom prst="rect">
            <a:avLst/>
          </a:prstGeom>
          <a:noFill/>
        </p:spPr>
        <p:txBody>
          <a:bodyPr wrap="square" anchor="t" lIns="73152" rIns="73152" tIns="36576" bIns="36576">
            <a:spAutoFit/>
          </a:bodyPr>
          <a:lstStyle/>
          <a:p>
            <a:pPr algn="l" marL="146304" indent="-146304">
              <a:spcAft>
                <a:spcPts val="400"/>
              </a:spcAft>
              <a:buFont typeface="Arial"/>
              <a:buChar char="•"/>
            </a:pPr>
            <a:r>
              <a:rPr sz="1150" b="0" i="0">
                <a:solidFill>
                  <a:srgbClr val="262626"/>
                </a:solidFill>
                <a:latin typeface="Calibri"/>
              </a:rPr>
              <a:t>4,529 of 18,000 rows (25.2%) carry at least one noise type.</a:t>
            </a:r>
          </a:p>
          <a:p>
            <a:pPr algn="l" marL="146304" indent="-146304">
              <a:spcAft>
                <a:spcPts val="400"/>
              </a:spcAft>
              <a:buFont typeface="Arial"/>
              <a:buChar char="•"/>
            </a:pPr>
            <a:r>
              <a:rPr sz="1150" b="0" i="0">
                <a:solidFill>
                  <a:srgbClr val="262626"/>
                </a:solidFill>
                <a:latin typeface="Calibri"/>
              </a:rPr>
              <a:t>Rules removed 886 rows; confident learning flagged 1,470.</a:t>
            </a:r>
          </a:p>
        </p:txBody>
      </p:sp>
      <p:pic>
        <p:nvPicPr>
          <p:cNvPr id="10" name="Picture 9" descr="noise_robust.png"/>
          <p:cNvPicPr>
            <a:picLocks noChangeAspect="1"/>
          </p:cNvPicPr>
          <p:nvPr/>
        </p:nvPicPr>
        <p:blipFill>
          <a:blip r:embed="rId4"/>
          <a:stretch>
            <a:fillRect/>
          </a:stretch>
        </p:blipFill>
        <p:spPr>
          <a:xfrm>
            <a:off x="4800600" y="933526"/>
            <a:ext cx="4023360" cy="2924403"/>
          </a:xfrm>
          <a:prstGeom prst="rect">
            <a:avLst/>
          </a:prstGeom>
        </p:spPr>
      </p:pic>
      <p:sp>
        <p:nvSpPr>
          <p:cNvPr id="11" name="TextBox 10"/>
          <p:cNvSpPr txBox="1"/>
          <p:nvPr/>
        </p:nvSpPr>
        <p:spPr>
          <a:xfrm>
            <a:off x="320040" y="4114800"/>
            <a:ext cx="8503920" cy="41148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At 20% noise: denoise 0.607 vs 0.520. Reduced setting, one seed, not monotonic.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K-means on the model's pooled embeddings</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13</a:t>
            </a:r>
          </a:p>
        </p:txBody>
      </p:sp>
      <p:pic>
        <p:nvPicPr>
          <p:cNvPr id="8" name="Picture 7" descr="kmeans_tsne.png"/>
          <p:cNvPicPr>
            <a:picLocks noChangeAspect="1"/>
          </p:cNvPicPr>
          <p:nvPr/>
        </p:nvPicPr>
        <p:blipFill>
          <a:blip r:embed="rId4"/>
          <a:stretch>
            <a:fillRect/>
          </a:stretch>
        </p:blipFill>
        <p:spPr>
          <a:xfrm>
            <a:off x="337184" y="731520"/>
            <a:ext cx="8469630" cy="2606040"/>
          </a:xfrm>
          <a:prstGeom prst="rect">
            <a:avLst/>
          </a:prstGeom>
        </p:spPr>
      </p:pic>
      <p:sp>
        <p:nvSpPr>
          <p:cNvPr id="9" name="Rectangle 8"/>
          <p:cNvSpPr/>
          <p:nvPr/>
        </p:nvSpPr>
        <p:spPr>
          <a:xfrm>
            <a:off x="320040" y="3383280"/>
            <a:ext cx="2011680" cy="713232"/>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3410712"/>
            <a:ext cx="2011680" cy="356616"/>
          </a:xfrm>
          <a:prstGeom prst="rect">
            <a:avLst/>
          </a:prstGeom>
          <a:noFill/>
        </p:spPr>
        <p:txBody>
          <a:bodyPr wrap="square" anchor="ctr" lIns="73152" rIns="73152" tIns="36576" bIns="36576">
            <a:spAutoFit/>
          </a:bodyPr>
          <a:lstStyle/>
          <a:p>
            <a:pPr algn="ctr">
              <a:spcAft>
                <a:spcPts val="0"/>
              </a:spcAft>
            </a:pPr>
            <a:r>
              <a:rPr sz="2000" b="1" i="0">
                <a:solidFill>
                  <a:srgbClr val="FF0000"/>
                </a:solidFill>
                <a:latin typeface="Cambria"/>
              </a:rPr>
              <a:t>k = 4</a:t>
            </a:r>
          </a:p>
        </p:txBody>
      </p:sp>
      <p:sp>
        <p:nvSpPr>
          <p:cNvPr id="11" name="TextBox 10"/>
          <p:cNvSpPr txBox="1"/>
          <p:nvPr/>
        </p:nvSpPr>
        <p:spPr>
          <a:xfrm>
            <a:off x="365759" y="3739896"/>
            <a:ext cx="1920240" cy="342351"/>
          </a:xfrm>
          <a:prstGeom prst="rect">
            <a:avLst/>
          </a:prstGeom>
          <a:noFill/>
        </p:spPr>
        <p:txBody>
          <a:bodyPr wrap="square" anchor="t" lIns="73152" rIns="73152" tIns="36576" bIns="36576">
            <a:spAutoFit/>
          </a:bodyPr>
          <a:lstStyle/>
          <a:p>
            <a:pPr algn="ctr">
              <a:spcAft>
                <a:spcPts val="400"/>
              </a:spcAft>
            </a:pPr>
            <a:r>
              <a:rPr sz="1100" b="0" i="0">
                <a:solidFill>
                  <a:srgbClr val="595959"/>
                </a:solidFill>
                <a:latin typeface="Calibri"/>
              </a:rPr>
              <a:t>silhouette 0.119</a:t>
            </a:r>
          </a:p>
        </p:txBody>
      </p:sp>
      <p:sp>
        <p:nvSpPr>
          <p:cNvPr id="12" name="Rectangle 11"/>
          <p:cNvSpPr/>
          <p:nvPr/>
        </p:nvSpPr>
        <p:spPr>
          <a:xfrm>
            <a:off x="2468880" y="3383280"/>
            <a:ext cx="2194560" cy="713232"/>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68880" y="3410712"/>
            <a:ext cx="2194560" cy="356616"/>
          </a:xfrm>
          <a:prstGeom prst="rect">
            <a:avLst/>
          </a:prstGeom>
          <a:noFill/>
        </p:spPr>
        <p:txBody>
          <a:bodyPr wrap="square" anchor="ctr" lIns="73152" rIns="73152" tIns="36576" bIns="36576">
            <a:spAutoFit/>
          </a:bodyPr>
          <a:lstStyle/>
          <a:p>
            <a:pPr algn="ctr">
              <a:spcAft>
                <a:spcPts val="0"/>
              </a:spcAft>
            </a:pPr>
            <a:r>
              <a:rPr sz="2000" b="1" i="0">
                <a:solidFill>
                  <a:srgbClr val="FF0000"/>
                </a:solidFill>
                <a:latin typeface="Cambria"/>
              </a:rPr>
              <a:t>0.800</a:t>
            </a:r>
          </a:p>
        </p:txBody>
      </p:sp>
      <p:sp>
        <p:nvSpPr>
          <p:cNvPr id="14" name="TextBox 13"/>
          <p:cNvSpPr txBox="1"/>
          <p:nvPr/>
        </p:nvSpPr>
        <p:spPr>
          <a:xfrm>
            <a:off x="2514600" y="3739896"/>
            <a:ext cx="2103120" cy="342351"/>
          </a:xfrm>
          <a:prstGeom prst="rect">
            <a:avLst/>
          </a:prstGeom>
          <a:noFill/>
        </p:spPr>
        <p:txBody>
          <a:bodyPr wrap="square" anchor="t" lIns="73152" rIns="73152" tIns="36576" bIns="36576">
            <a:spAutoFit/>
          </a:bodyPr>
          <a:lstStyle/>
          <a:p>
            <a:pPr algn="ctr">
              <a:spcAft>
                <a:spcPts val="400"/>
              </a:spcAft>
            </a:pPr>
            <a:r>
              <a:rPr sz="1100" b="0" i="0">
                <a:solidFill>
                  <a:srgbClr val="595959"/>
                </a:solidFill>
                <a:latin typeface="Calibri"/>
              </a:rPr>
              <a:t>purity vs 0.780 majority</a:t>
            </a:r>
          </a:p>
        </p:txBody>
      </p:sp>
      <p:sp>
        <p:nvSpPr>
          <p:cNvPr id="15" name="Rectangle 14"/>
          <p:cNvSpPr/>
          <p:nvPr/>
        </p:nvSpPr>
        <p:spPr>
          <a:xfrm>
            <a:off x="4800600" y="3383280"/>
            <a:ext cx="1920240" cy="713232"/>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00600" y="3410712"/>
            <a:ext cx="1920240" cy="356616"/>
          </a:xfrm>
          <a:prstGeom prst="rect">
            <a:avLst/>
          </a:prstGeom>
          <a:noFill/>
        </p:spPr>
        <p:txBody>
          <a:bodyPr wrap="square" anchor="ctr" lIns="73152" rIns="73152" tIns="36576" bIns="36576">
            <a:spAutoFit/>
          </a:bodyPr>
          <a:lstStyle/>
          <a:p>
            <a:pPr algn="ctr">
              <a:spcAft>
                <a:spcPts val="0"/>
              </a:spcAft>
            </a:pPr>
            <a:r>
              <a:rPr sz="2000" b="1" i="0">
                <a:solidFill>
                  <a:srgbClr val="FF0000"/>
                </a:solidFill>
                <a:latin typeface="Cambria"/>
              </a:rPr>
              <a:t>0.102</a:t>
            </a:r>
          </a:p>
        </p:txBody>
      </p:sp>
      <p:sp>
        <p:nvSpPr>
          <p:cNvPr id="17" name="TextBox 16"/>
          <p:cNvSpPr txBox="1"/>
          <p:nvPr/>
        </p:nvSpPr>
        <p:spPr>
          <a:xfrm>
            <a:off x="4846320" y="3739896"/>
            <a:ext cx="1828800" cy="342351"/>
          </a:xfrm>
          <a:prstGeom prst="rect">
            <a:avLst/>
          </a:prstGeom>
          <a:noFill/>
        </p:spPr>
        <p:txBody>
          <a:bodyPr wrap="square" anchor="t" lIns="73152" rIns="73152" tIns="36576" bIns="36576">
            <a:spAutoFit/>
          </a:bodyPr>
          <a:lstStyle/>
          <a:p>
            <a:pPr algn="ctr">
              <a:spcAft>
                <a:spcPts val="400"/>
              </a:spcAft>
            </a:pPr>
            <a:r>
              <a:rPr sz="1100" b="0" i="0">
                <a:solidFill>
                  <a:srgbClr val="595959"/>
                </a:solidFill>
                <a:latin typeface="Calibri"/>
              </a:rPr>
              <a:t>NMI vs alignment</a:t>
            </a:r>
          </a:p>
        </p:txBody>
      </p:sp>
      <p:sp>
        <p:nvSpPr>
          <p:cNvPr id="18" name="Rectangle 17"/>
          <p:cNvSpPr/>
          <p:nvPr/>
        </p:nvSpPr>
        <p:spPr>
          <a:xfrm>
            <a:off x="6858000" y="3383280"/>
            <a:ext cx="1965960" cy="713232"/>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3410712"/>
            <a:ext cx="1965960" cy="356616"/>
          </a:xfrm>
          <a:prstGeom prst="rect">
            <a:avLst/>
          </a:prstGeom>
          <a:noFill/>
        </p:spPr>
        <p:txBody>
          <a:bodyPr wrap="square" anchor="ctr" lIns="73152" rIns="73152" tIns="36576" bIns="36576">
            <a:spAutoFit/>
          </a:bodyPr>
          <a:lstStyle/>
          <a:p>
            <a:pPr algn="ctr">
              <a:spcAft>
                <a:spcPts val="0"/>
              </a:spcAft>
            </a:pPr>
            <a:r>
              <a:rPr sz="2000" b="1" i="0">
                <a:solidFill>
                  <a:srgbClr val="FF0000"/>
                </a:solidFill>
                <a:latin typeface="Cambria"/>
              </a:rPr>
              <a:t>+0.010</a:t>
            </a:r>
          </a:p>
        </p:txBody>
      </p:sp>
      <p:sp>
        <p:nvSpPr>
          <p:cNvPr id="20" name="TextBox 19"/>
          <p:cNvSpPr txBox="1"/>
          <p:nvPr/>
        </p:nvSpPr>
        <p:spPr>
          <a:xfrm>
            <a:off x="6903720" y="3739896"/>
            <a:ext cx="1874519" cy="342351"/>
          </a:xfrm>
          <a:prstGeom prst="rect">
            <a:avLst/>
          </a:prstGeom>
          <a:noFill/>
        </p:spPr>
        <p:txBody>
          <a:bodyPr wrap="square" anchor="t" lIns="73152" rIns="73152" tIns="36576" bIns="36576">
            <a:spAutoFit/>
          </a:bodyPr>
          <a:lstStyle/>
          <a:p>
            <a:pPr algn="ctr">
              <a:spcAft>
                <a:spcPts val="400"/>
              </a:spcAft>
            </a:pPr>
            <a:r>
              <a:rPr sz="1100" b="0" i="0">
                <a:solidFill>
                  <a:srgbClr val="595959"/>
                </a:solidFill>
                <a:latin typeface="Calibri"/>
              </a:rPr>
              <a:t>macro-F1 with cluster features</a:t>
            </a:r>
          </a:p>
        </p:txBody>
      </p:sp>
      <p:sp>
        <p:nvSpPr>
          <p:cNvPr id="21" name="TextBox 20"/>
          <p:cNvSpPr txBox="1"/>
          <p:nvPr/>
        </p:nvSpPr>
        <p:spPr>
          <a:xfrm>
            <a:off x="320040" y="4114800"/>
            <a:ext cx="8503920" cy="41148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Honest result: k-means adds almost nothing to ranking (NDCG@5 +0.005, single seed).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GAN comparison: adversarial baseline on frozen embeddings</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14</a:t>
            </a:r>
          </a:p>
        </p:txBody>
      </p:sp>
      <p:pic>
        <p:nvPicPr>
          <p:cNvPr id="8" name="Picture 7" descr="gan_bars.png"/>
          <p:cNvPicPr>
            <a:picLocks noChangeAspect="1"/>
          </p:cNvPicPr>
          <p:nvPr/>
        </p:nvPicPr>
        <p:blipFill>
          <a:blip r:embed="rId4"/>
          <a:stretch>
            <a:fillRect/>
          </a:stretch>
        </p:blipFill>
        <p:spPr>
          <a:xfrm>
            <a:off x="621743" y="731520"/>
            <a:ext cx="3694272" cy="2651760"/>
          </a:xfrm>
          <a:prstGeom prst="rect">
            <a:avLst/>
          </a:prstGeom>
        </p:spPr>
      </p:pic>
      <p:pic>
        <p:nvPicPr>
          <p:cNvPr id="9" name="Picture 8" descr="gan_curves.png"/>
          <p:cNvPicPr>
            <a:picLocks noChangeAspect="1"/>
          </p:cNvPicPr>
          <p:nvPr/>
        </p:nvPicPr>
        <p:blipFill>
          <a:blip r:embed="rId5"/>
          <a:stretch>
            <a:fillRect/>
          </a:stretch>
        </p:blipFill>
        <p:spPr>
          <a:xfrm>
            <a:off x="4858898" y="731520"/>
            <a:ext cx="3861042" cy="2651760"/>
          </a:xfrm>
          <a:prstGeom prst="rect">
            <a:avLst/>
          </a:prstGeom>
        </p:spPr>
      </p:pic>
      <p:sp>
        <p:nvSpPr>
          <p:cNvPr id="10" name="TextBox 9"/>
          <p:cNvSpPr txBox="1"/>
          <p:nvPr/>
        </p:nvSpPr>
        <p:spPr>
          <a:xfrm>
            <a:off x="320040" y="3401568"/>
            <a:ext cx="8503920" cy="731520"/>
          </a:xfrm>
          <a:prstGeom prst="rect">
            <a:avLst/>
          </a:prstGeom>
          <a:noFill/>
        </p:spPr>
        <p:txBody>
          <a:bodyPr wrap="square" anchor="t" lIns="73152" rIns="73152" tIns="36576" bIns="36576">
            <a:spAutoFit/>
          </a:bodyPr>
          <a:lstStyle/>
          <a:p>
            <a:pPr algn="l" marL="146304" indent="-146304">
              <a:spcAft>
                <a:spcPts val="400"/>
              </a:spcAft>
              <a:buFont typeface="Arial"/>
              <a:buChar char="•"/>
            </a:pPr>
            <a:r>
              <a:rPr sz="1150" b="0" i="0">
                <a:solidFill>
                  <a:srgbClr val="262626"/>
                </a:solidFill>
                <a:latin typeface="Calibri"/>
              </a:rPr>
              <a:t>Interpretation chosen: adversarially trained scorer on frozen MiniLM embeddings. GAN-style macro-F1 0.630, NDCG@5 0.864 vs main 0.680 / 0.868.</a:t>
            </a:r>
          </a:p>
          <a:p>
            <a:pPr algn="l" marL="146304" indent="-146304">
              <a:spcAft>
                <a:spcPts val="400"/>
              </a:spcAft>
              <a:buFont typeface="Arial"/>
              <a:buChar char="•"/>
            </a:pPr>
            <a:r>
              <a:rPr sz="1150" b="0" i="0">
                <a:solidFill>
                  <a:srgbClr val="262626"/>
                </a:solidFill>
                <a:latin typeface="Calibri"/>
              </a:rPr>
              <a:t>Training instability: generator collapsed at epoch 1, minimum diversity 0.249, final 0.291.</a:t>
            </a:r>
          </a:p>
        </p:txBody>
      </p:sp>
      <p:sp>
        <p:nvSpPr>
          <p:cNvPr id="11" name="TextBox 10"/>
          <p:cNvSpPr txBox="1"/>
          <p:nvPr/>
        </p:nvSpPr>
        <p:spPr>
          <a:xfrm>
            <a:off x="320040" y="4133087"/>
            <a:ext cx="8503920" cy="36576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A training-free frozen cosine score reaches NDCG@5 0.874, above the main model.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Explainability: Integrated Gradients and faithfulness</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15</a:t>
            </a:r>
          </a:p>
        </p:txBody>
      </p:sp>
      <p:pic>
        <p:nvPicPr>
          <p:cNvPr id="8" name="Picture 7" descr="faith.png"/>
          <p:cNvPicPr>
            <a:picLocks noChangeAspect="1"/>
          </p:cNvPicPr>
          <p:nvPr/>
        </p:nvPicPr>
        <p:blipFill>
          <a:blip r:embed="rId4"/>
          <a:stretch>
            <a:fillRect/>
          </a:stretch>
        </p:blipFill>
        <p:spPr>
          <a:xfrm>
            <a:off x="274320" y="746673"/>
            <a:ext cx="3931920" cy="2987213"/>
          </a:xfrm>
          <a:prstGeom prst="rect">
            <a:avLst/>
          </a:prstGeom>
        </p:spPr>
      </p:pic>
      <p:pic>
        <p:nvPicPr>
          <p:cNvPr id="9" name="Picture 8" descr="xai_case_collateral.png"/>
          <p:cNvPicPr>
            <a:picLocks noChangeAspect="1"/>
          </p:cNvPicPr>
          <p:nvPr/>
        </p:nvPicPr>
        <p:blipFill>
          <a:blip r:embed="rId5"/>
          <a:stretch>
            <a:fillRect/>
          </a:stretch>
        </p:blipFill>
        <p:spPr>
          <a:xfrm>
            <a:off x="4323761" y="731520"/>
            <a:ext cx="4519836" cy="2743200"/>
          </a:xfrm>
          <a:prstGeom prst="rect">
            <a:avLst/>
          </a:prstGeom>
        </p:spPr>
      </p:pic>
      <p:sp>
        <p:nvSpPr>
          <p:cNvPr id="10" name="TextBox 9"/>
          <p:cNvSpPr txBox="1"/>
          <p:nvPr/>
        </p:nvSpPr>
        <p:spPr>
          <a:xfrm>
            <a:off x="320040" y="3730752"/>
            <a:ext cx="3931920" cy="411480"/>
          </a:xfrm>
          <a:prstGeom prst="rect">
            <a:avLst/>
          </a:prstGeom>
          <a:noFill/>
        </p:spPr>
        <p:txBody>
          <a:bodyPr wrap="square" anchor="t" lIns="73152" rIns="73152" tIns="36576" bIns="36576">
            <a:spAutoFit/>
          </a:bodyPr>
          <a:lstStyle/>
          <a:p>
            <a:pPr algn="l">
              <a:spcAft>
                <a:spcPts val="400"/>
              </a:spcAft>
            </a:pPr>
            <a:r>
              <a:rPr sz="1100" b="0" i="0">
                <a:solidFill>
                  <a:srgbClr val="262626"/>
                </a:solidFill>
                <a:latin typeface="Calibri"/>
              </a:rPr>
              <a:t>n = 100 test pairs; k = 5: 0.386 (IG) vs 0.482 (random)</a:t>
            </a:r>
          </a:p>
        </p:txBody>
      </p:sp>
      <p:sp>
        <p:nvSpPr>
          <p:cNvPr id="11" name="TextBox 10"/>
          <p:cNvSpPr txBox="1"/>
          <p:nvPr/>
        </p:nvSpPr>
        <p:spPr>
          <a:xfrm>
            <a:off x="4343400" y="3474720"/>
            <a:ext cx="4480560" cy="640080"/>
          </a:xfrm>
          <a:prstGeom prst="rect">
            <a:avLst/>
          </a:prstGeom>
          <a:noFill/>
        </p:spPr>
        <p:txBody>
          <a:bodyPr wrap="square" anchor="t" lIns="73152" rIns="73152" tIns="36576" bIns="36576">
            <a:spAutoFit/>
          </a:bodyPr>
          <a:lstStyle/>
          <a:p>
            <a:pPr algn="l">
              <a:spcAft>
                <a:spcPts val="400"/>
              </a:spcAft>
            </a:pPr>
            <a:r>
              <a:rPr sz="1100" b="0" i="0">
                <a:solidFill>
                  <a:srgbClr val="262626"/>
                </a:solidFill>
                <a:latin typeface="Calibri"/>
              </a:rPr>
              <a:t>Worked example: attrs hunk, P(misaligned) 0.957, truth misaligned / collateral; red lines and tokens push toward misaligned.</a:t>
            </a:r>
          </a:p>
        </p:txBody>
      </p:sp>
      <p:sp>
        <p:nvSpPr>
          <p:cNvPr id="12" name="TextBox 11"/>
          <p:cNvSpPr txBox="1"/>
          <p:nvPr/>
        </p:nvSpPr>
        <p:spPr>
          <a:xfrm>
            <a:off x="320040" y="4160520"/>
            <a:ext cx="8503920" cy="36576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Attribution is evidence about the model, not proof of the cause.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Results: master model comparison (test split)</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16</a:t>
            </a:r>
          </a:p>
        </p:txBody>
      </p:sp>
      <p:graphicFrame>
        <p:nvGraphicFramePr>
          <p:cNvPr id="8" name="Table 7"/>
          <p:cNvGraphicFramePr>
            <a:graphicFrameLocks noGrp="1"/>
          </p:cNvGraphicFramePr>
          <p:nvPr/>
        </p:nvGraphicFramePr>
        <p:xfrm>
          <a:off x="320040" y="731520"/>
          <a:ext cx="8503917" cy="3168396"/>
        </p:xfrm>
        <a:graphic>
          <a:graphicData uri="http://schemas.openxmlformats.org/drawingml/2006/table">
            <a:tbl>
              <a:tblPr firstRow="1" bandRow="0">
                <a:tableStyleId>{5C22544A-7EE6-4342-B048-85BDC9FD1C3A}</a:tableStyleId>
              </a:tblPr>
              <a:tblGrid>
                <a:gridCol w="3239588"/>
                <a:gridCol w="1012371"/>
                <a:gridCol w="1012371"/>
                <a:gridCol w="1214845"/>
                <a:gridCol w="1113608"/>
                <a:gridCol w="911134"/>
              </a:tblGrid>
              <a:tr h="256032">
                <a:tc>
                  <a:txBody>
                    <a:bodyPr wrap="square"/>
                    <a:lstStyle/>
                    <a:p>
                      <a:pPr algn="l"/>
                      <a:r>
                        <a:rPr sz="1100" b="1" i="0">
                          <a:solidFill>
                            <a:srgbClr val="FFFFFF"/>
                          </a:solidFill>
                          <a:latin typeface="Calibri"/>
                        </a:rPr>
                        <a:t>Model</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macro-F1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NDCG@5</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AUC random</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AUC hard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ECE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r>
              <a:tr h="224028">
                <a:tc>
                  <a:txBody>
                    <a:bodyPr wrap="square"/>
                    <a:lstStyle/>
                    <a:p>
                      <a:pPr algn="l"/>
                      <a:r>
                        <a:rPr sz="1100" b="0" i="0">
                          <a:solidFill>
                            <a:srgbClr val="262626"/>
                          </a:solidFill>
                          <a:latin typeface="Calibri"/>
                        </a:rPr>
                        <a:t>B1 random order</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n/a</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0.724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n/a</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n/a</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n/a</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24028">
                <a:tc>
                  <a:txBody>
                    <a:bodyPr wrap="square"/>
                    <a:lstStyle/>
                    <a:p>
                      <a:pPr algn="l"/>
                      <a:r>
                        <a:rPr sz="1100" b="0" i="0">
                          <a:solidFill>
                            <a:srgbClr val="262626"/>
                          </a:solidFill>
                          <a:latin typeface="Calibri"/>
                        </a:rPr>
                        <a:t>B2 diff lines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n/a</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0.724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n/a</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n/a</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n/a</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24028">
                <a:tc>
                  <a:txBody>
                    <a:bodyPr wrap="square"/>
                    <a:lstStyle/>
                    <a:p>
                      <a:pPr algn="l"/>
                      <a:r>
                        <a:rPr sz="1100" b="0" i="0">
                          <a:solidFill>
                            <a:srgbClr val="262626"/>
                          </a:solidFill>
                          <a:latin typeface="Calibri"/>
                        </a:rPr>
                        <a:t>B3 hunk size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n/a</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0.721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0.479</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0.493</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n/a</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24028">
                <a:tc>
                  <a:txBody>
                    <a:bodyPr wrap="square"/>
                    <a:lstStyle/>
                    <a:p>
                      <a:pPr algn="l"/>
                      <a:r>
                        <a:rPr sz="1100" b="0" i="0">
                          <a:solidFill>
                            <a:srgbClr val="262626"/>
                          </a:solidFill>
                          <a:latin typeface="Calibri"/>
                        </a:rPr>
                        <a:t>B4 TF-IDF dissimilarity</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n/a</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0.830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0.812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0.551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n/a</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24028">
                <a:tc>
                  <a:txBody>
                    <a:bodyPr wrap="square"/>
                    <a:lstStyle/>
                    <a:p>
                      <a:pPr algn="l"/>
                      <a:r>
                        <a:rPr sz="1100" b="0" i="0">
                          <a:solidFill>
                            <a:srgbClr val="262626"/>
                          </a:solidFill>
                          <a:latin typeface="Calibri"/>
                        </a:rPr>
                        <a:t>B5 logistic regression</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1" i="0">
                          <a:solidFill>
                            <a:srgbClr val="262626"/>
                          </a:solidFill>
                          <a:latin typeface="Calibri"/>
                        </a:rPr>
                        <a:t>0.698</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0.816</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0.777</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0.551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n/a</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24028">
                <a:tc>
                  <a:txBody>
                    <a:bodyPr wrap="square"/>
                    <a:lstStyle/>
                    <a:p>
                      <a:pPr algn="l"/>
                      <a:r>
                        <a:rPr sz="1100" b="0" i="0">
                          <a:solidFill>
                            <a:srgbClr val="262626"/>
                          </a:solidFill>
                          <a:latin typeface="Calibri"/>
                        </a:rPr>
                        <a:t>Siamese BiLSTM</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0.562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0.783</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0.641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0.526</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0.234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24028">
                <a:tc>
                  <a:txBody>
                    <a:bodyPr wrap="square"/>
                    <a:lstStyle/>
                    <a:p>
                      <a:pPr algn="l"/>
                      <a:r>
                        <a:rPr sz="1100" b="0" i="0">
                          <a:solidFill>
                            <a:srgbClr val="262626"/>
                          </a:solidFill>
                          <a:latin typeface="Calibri"/>
                        </a:rPr>
                        <a:t>MiniLM-L6 cross-encoder</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0.616</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0.835</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0.741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0.636</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0.059</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24028">
                <a:tc>
                  <a:txBody>
                    <a:bodyPr wrap="square"/>
                    <a:lstStyle/>
                    <a:p>
                      <a:pPr algn="l"/>
                      <a:r>
                        <a:rPr sz="1100" b="0" i="0">
                          <a:solidFill>
                            <a:srgbClr val="262626"/>
                          </a:solidFill>
                          <a:latin typeface="Calibri"/>
                        </a:rPr>
                        <a:t>CodeBERT cross-encoder</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0.460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0.779</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0.549</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0.600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0.103</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24028">
                <a:tc>
                  <a:txBody>
                    <a:bodyPr wrap="square"/>
                    <a:lstStyle/>
                    <a:p>
                      <a:pPr algn="l"/>
                      <a:r>
                        <a:rPr sz="1100" b="0" i="0">
                          <a:solidFill>
                            <a:srgbClr val="262626"/>
                          </a:solidFill>
                          <a:latin typeface="Calibri"/>
                        </a:rPr>
                        <a:t>Main: ModernBERT-base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ctr"/>
                      <a:r>
                        <a:rPr sz="1100" b="0" i="0">
                          <a:solidFill>
                            <a:srgbClr val="262626"/>
                          </a:solidFill>
                          <a:latin typeface="Calibri"/>
                        </a:rPr>
                        <a:t>0.680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ctr"/>
                      <a:r>
                        <a:rPr sz="1100" b="0" i="0">
                          <a:solidFill>
                            <a:srgbClr val="262626"/>
                          </a:solidFill>
                          <a:latin typeface="Calibri"/>
                        </a:rPr>
                        <a:t>0.868</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ctr"/>
                      <a:r>
                        <a:rPr sz="1100" b="0" i="0">
                          <a:solidFill>
                            <a:srgbClr val="262626"/>
                          </a:solidFill>
                          <a:latin typeface="Calibri"/>
                        </a:rPr>
                        <a:t>0.800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ctr"/>
                      <a:r>
                        <a:rPr sz="1100" b="1" i="0">
                          <a:solidFill>
                            <a:srgbClr val="262626"/>
                          </a:solidFill>
                          <a:latin typeface="Calibri"/>
                        </a:rPr>
                        <a:t>0.726</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ctr"/>
                      <a:r>
                        <a:rPr sz="1100" b="0" i="0">
                          <a:solidFill>
                            <a:srgbClr val="262626"/>
                          </a:solidFill>
                          <a:latin typeface="Calibri"/>
                        </a:rPr>
                        <a:t>0.066</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r>
              <a:tr h="224028">
                <a:tc>
                  <a:txBody>
                    <a:bodyPr wrap="square"/>
                    <a:lstStyle/>
                    <a:p>
                      <a:pPr algn="l"/>
                      <a:r>
                        <a:rPr sz="1100" b="0" i="0">
                          <a:solidFill>
                            <a:srgbClr val="262626"/>
                          </a:solidFill>
                          <a:latin typeface="Calibri"/>
                        </a:rPr>
                        <a:t>Frozen cosine (no training)</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0.614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1" i="0">
                          <a:solidFill>
                            <a:srgbClr val="262626"/>
                          </a:solidFill>
                          <a:latin typeface="Calibri"/>
                        </a:rPr>
                        <a:t>0.874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1" i="0">
                          <a:solidFill>
                            <a:srgbClr val="262626"/>
                          </a:solidFill>
                          <a:latin typeface="Calibri"/>
                        </a:rPr>
                        <a:t>0.814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0.719</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n/a</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24028">
                <a:tc>
                  <a:txBody>
                    <a:bodyPr wrap="square"/>
                    <a:lstStyle/>
                    <a:p>
                      <a:pPr algn="l"/>
                      <a:r>
                        <a:rPr sz="1100" b="0" i="0">
                          <a:solidFill>
                            <a:srgbClr val="262626"/>
                          </a:solidFill>
                          <a:latin typeface="Calibri"/>
                        </a:rPr>
                        <a:t>GAN-style (unsupervised)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0.630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0.864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0.784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0.708</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n/a</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24028">
                <a:tc>
                  <a:txBody>
                    <a:bodyPr wrap="square"/>
                    <a:lstStyle/>
                    <a:p>
                      <a:pPr algn="l"/>
                      <a:r>
                        <a:rPr sz="1100" b="0" i="0">
                          <a:solidFill>
                            <a:srgbClr val="262626"/>
                          </a:solidFill>
                          <a:latin typeface="Calibri"/>
                        </a:rPr>
                        <a:t>Distilled student (fp32)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0.667</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0.869</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0.794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0.678</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0.107</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24028">
                <a:tc>
                  <a:txBody>
                    <a:bodyPr wrap="square"/>
                    <a:lstStyle/>
                    <a:p>
                      <a:pPr algn="l"/>
                      <a:r>
                        <a:rPr sz="1100" b="0" i="0">
                          <a:solidFill>
                            <a:srgbClr val="262626"/>
                          </a:solidFill>
                          <a:latin typeface="Calibri"/>
                        </a:rPr>
                        <a:t>Student INT8 ONNX</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0.667</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0.869</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n/a</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n/a</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1" i="0">
                          <a:solidFill>
                            <a:srgbClr val="262626"/>
                          </a:solidFill>
                          <a:latin typeface="Calibri"/>
                        </a:rPr>
                        <a:t>0.051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bl>
          </a:graphicData>
        </a:graphic>
      </p:graphicFrame>
      <p:sp>
        <p:nvSpPr>
          <p:cNvPr id="9" name="TextBox 8"/>
          <p:cNvSpPr txBox="1"/>
          <p:nvPr/>
        </p:nvSpPr>
        <p:spPr>
          <a:xfrm>
            <a:off x="320040" y="4005072"/>
            <a:ext cx="8503920" cy="50292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Best per column in bold. n/a = not measured for that model. Single seed 473; baselines had a smaller training budget.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Results: per-tier AUC and NDCG@K</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17</a:t>
            </a:r>
          </a:p>
        </p:txBody>
      </p:sp>
      <p:pic>
        <p:nvPicPr>
          <p:cNvPr id="8" name="Picture 7" descr="tier_auc.png"/>
          <p:cNvPicPr>
            <a:picLocks noChangeAspect="1"/>
          </p:cNvPicPr>
          <p:nvPr/>
        </p:nvPicPr>
        <p:blipFill>
          <a:blip r:embed="rId4"/>
          <a:stretch>
            <a:fillRect/>
          </a:stretch>
        </p:blipFill>
        <p:spPr>
          <a:xfrm>
            <a:off x="274320" y="847821"/>
            <a:ext cx="4297680" cy="3068381"/>
          </a:xfrm>
          <a:prstGeom prst="rect">
            <a:avLst/>
          </a:prstGeom>
        </p:spPr>
      </p:pic>
      <p:pic>
        <p:nvPicPr>
          <p:cNvPr id="9" name="Picture 8" descr="ndcg_vs_k_all_models.png"/>
          <p:cNvPicPr>
            <a:picLocks noChangeAspect="1"/>
          </p:cNvPicPr>
          <p:nvPr/>
        </p:nvPicPr>
        <p:blipFill>
          <a:blip r:embed="rId5"/>
          <a:stretch>
            <a:fillRect/>
          </a:stretch>
        </p:blipFill>
        <p:spPr>
          <a:xfrm>
            <a:off x="4663440" y="778764"/>
            <a:ext cx="4206240" cy="2804160"/>
          </a:xfrm>
          <a:prstGeom prst="rect">
            <a:avLst/>
          </a:prstGeom>
        </p:spPr>
      </p:pic>
      <p:sp>
        <p:nvSpPr>
          <p:cNvPr id="10" name="TextBox 9"/>
          <p:cNvSpPr txBox="1"/>
          <p:nvPr/>
        </p:nvSpPr>
        <p:spPr>
          <a:xfrm>
            <a:off x="4709160" y="3611880"/>
            <a:ext cx="4114800" cy="502920"/>
          </a:xfrm>
          <a:prstGeom prst="rect">
            <a:avLst/>
          </a:prstGeom>
          <a:noFill/>
        </p:spPr>
        <p:txBody>
          <a:bodyPr wrap="square" anchor="t" lIns="73152" rIns="73152" tIns="36576" bIns="36576">
            <a:spAutoFit/>
          </a:bodyPr>
          <a:lstStyle/>
          <a:p>
            <a:pPr algn="l">
              <a:spcAft>
                <a:spcPts val="400"/>
              </a:spcAft>
            </a:pPr>
            <a:r>
              <a:rPr sz="1100" b="0" i="0">
                <a:solidFill>
                  <a:srgbClr val="262626"/>
                </a:solidFill>
                <a:latin typeface="Calibri"/>
              </a:rPr>
              <a:t>456 rankable test sessions; hard-tier pairs 623, random-tier pairs 607.</a:t>
            </a:r>
          </a:p>
        </p:txBody>
      </p:sp>
      <p:sp>
        <p:nvSpPr>
          <p:cNvPr id="11" name="TextBox 10"/>
          <p:cNvSpPr txBox="1"/>
          <p:nvPr/>
        </p:nvSpPr>
        <p:spPr>
          <a:xfrm>
            <a:off x="320040" y="4133087"/>
            <a:ext cx="8503920" cy="36576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Hard tier: main 0.726 vs 0.551 for B4. Random tier: B4 0.812 vs main 0.800.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Results: precision-recall curves and confusion matrix</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18</a:t>
            </a:r>
          </a:p>
        </p:txBody>
      </p:sp>
      <p:pic>
        <p:nvPicPr>
          <p:cNvPr id="8" name="Picture 7" descr="pr_curves_all_models.png"/>
          <p:cNvPicPr>
            <a:picLocks noChangeAspect="1"/>
          </p:cNvPicPr>
          <p:nvPr/>
        </p:nvPicPr>
        <p:blipFill>
          <a:blip r:embed="rId4"/>
          <a:stretch>
            <a:fillRect/>
          </a:stretch>
        </p:blipFill>
        <p:spPr>
          <a:xfrm>
            <a:off x="631371" y="731520"/>
            <a:ext cx="4132217" cy="3337560"/>
          </a:xfrm>
          <a:prstGeom prst="rect">
            <a:avLst/>
          </a:prstGeom>
        </p:spPr>
      </p:pic>
      <p:graphicFrame>
        <p:nvGraphicFramePr>
          <p:cNvPr id="9" name="Table 8"/>
          <p:cNvGraphicFramePr>
            <a:graphicFrameLocks noGrp="1"/>
          </p:cNvGraphicFramePr>
          <p:nvPr/>
        </p:nvGraphicFramePr>
        <p:xfrm>
          <a:off x="5257800" y="868680"/>
          <a:ext cx="3566159" cy="932688"/>
        </p:xfrm>
        <a:graphic>
          <a:graphicData uri="http://schemas.openxmlformats.org/drawingml/2006/table">
            <a:tbl>
              <a:tblPr firstRow="1" bandRow="0">
                <a:tableStyleId>{5C22544A-7EE6-4342-B048-85BDC9FD1C3A}</a:tableStyleId>
              </a:tblPr>
              <a:tblGrid>
                <a:gridCol w="1304692"/>
                <a:gridCol w="1043754"/>
                <a:gridCol w="1217713"/>
              </a:tblGrid>
              <a:tr h="310896">
                <a:tc>
                  <a:txBody>
                    <a:bodyPr wrap="square"/>
                    <a:lstStyle/>
                    <a:p>
                      <a:pPr algn="l"/>
                      <a:r>
                        <a:rPr sz="1100" b="1" i="0">
                          <a:solidFill>
                            <a:srgbClr val="FFFFFF"/>
                          </a:solidFill>
                          <a:latin typeface="Calibri"/>
                        </a:rPr>
                        <a:t>Main model</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Pred aligned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Pred misaligned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r>
              <a:tr h="310896">
                <a:tc>
                  <a:txBody>
                    <a:bodyPr wrap="square"/>
                    <a:lstStyle/>
                    <a:p>
                      <a:pPr algn="l"/>
                      <a:r>
                        <a:rPr sz="1100" b="0" i="0">
                          <a:solidFill>
                            <a:srgbClr val="262626"/>
                          </a:solidFill>
                          <a:latin typeface="Calibri"/>
                        </a:rPr>
                        <a:t>True aligned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1,841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265</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310896">
                <a:tc>
                  <a:txBody>
                    <a:bodyPr wrap="square"/>
                    <a:lstStyle/>
                    <a:p>
                      <a:pPr algn="l"/>
                      <a:r>
                        <a:rPr sz="1100" b="0" i="0">
                          <a:solidFill>
                            <a:srgbClr val="262626"/>
                          </a:solidFill>
                          <a:latin typeface="Calibri"/>
                        </a:rPr>
                        <a:t>True misaligned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311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283</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bl>
          </a:graphicData>
        </a:graphic>
      </p:graphicFrame>
      <p:sp>
        <p:nvSpPr>
          <p:cNvPr id="10" name="TextBox 9"/>
          <p:cNvSpPr txBox="1"/>
          <p:nvPr/>
        </p:nvSpPr>
        <p:spPr>
          <a:xfrm>
            <a:off x="5212080" y="2011680"/>
            <a:ext cx="3657600" cy="2011680"/>
          </a:xfrm>
          <a:prstGeom prst="rect">
            <a:avLst/>
          </a:prstGeom>
          <a:noFill/>
        </p:spPr>
        <p:txBody>
          <a:bodyPr wrap="square" anchor="t" lIns="73152" rIns="73152" tIns="36576" bIns="36576">
            <a:spAutoFit/>
          </a:bodyPr>
          <a:lstStyle/>
          <a:p>
            <a:pPr algn="l" marL="146304" indent="-146304">
              <a:spcAft>
                <a:spcPts val="400"/>
              </a:spcAft>
              <a:buFont typeface="Arial"/>
              <a:buChar char="•"/>
            </a:pPr>
            <a:r>
              <a:rPr sz="1200" b="0" i="0">
                <a:solidFill>
                  <a:srgbClr val="262626"/>
                </a:solidFill>
                <a:latin typeface="Calibri"/>
              </a:rPr>
              <a:t>PR-AUC 0.515 (prevalence 0.22)</a:t>
            </a:r>
          </a:p>
          <a:p>
            <a:pPr algn="l" marL="146304" indent="-146304">
              <a:spcAft>
                <a:spcPts val="400"/>
              </a:spcAft>
              <a:buFont typeface="Arial"/>
              <a:buChar char="•"/>
            </a:pPr>
            <a:r>
              <a:rPr sz="1200" b="0" i="0">
                <a:solidFill>
                  <a:srgbClr val="262626"/>
                </a:solidFill>
                <a:latin typeface="Calibri"/>
              </a:rPr>
              <a:t>ROC-AUC 0.777</a:t>
            </a:r>
          </a:p>
          <a:p>
            <a:pPr algn="l" marL="146304" indent="-146304">
              <a:spcAft>
                <a:spcPts val="400"/>
              </a:spcAft>
              <a:buFont typeface="Arial"/>
              <a:buChar char="•"/>
            </a:pPr>
            <a:r>
              <a:rPr sz="1200" b="0" i="0">
                <a:solidFill>
                  <a:srgbClr val="262626"/>
                </a:solidFill>
                <a:latin typeface="Calibri"/>
              </a:rPr>
              <a:t>Precision 0.516, recall 0.476</a:t>
            </a:r>
          </a:p>
          <a:p>
            <a:pPr algn="l" marL="146304" indent="-146304">
              <a:spcAft>
                <a:spcPts val="400"/>
              </a:spcAft>
              <a:buFont typeface="Arial"/>
              <a:buChar char="•"/>
            </a:pPr>
            <a:r>
              <a:rPr sz="1200" b="0" i="0">
                <a:solidFill>
                  <a:srgbClr val="262626"/>
                </a:solidFill>
                <a:latin typeface="Calibri"/>
              </a:rPr>
              <a:t>Specificity 0.874 at threshold 0.30 (chosen on validation)</a:t>
            </a:r>
          </a:p>
        </p:txBody>
      </p:sp>
      <p:sp>
        <p:nvSpPr>
          <p:cNvPr id="11" name="TextBox 10"/>
          <p:cNvSpPr txBox="1"/>
          <p:nvPr/>
        </p:nvSpPr>
        <p:spPr>
          <a:xfrm>
            <a:off x="320040" y="4133087"/>
            <a:ext cx="8503920" cy="36576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Low recall at the chosen threshold: the model ranks better than it classifies.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Results: ROC curves per difficulty tier</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19</a:t>
            </a:r>
          </a:p>
        </p:txBody>
      </p:sp>
      <p:pic>
        <p:nvPicPr>
          <p:cNvPr id="8" name="Picture 7" descr="roc_curves_per_tier.png"/>
          <p:cNvPicPr>
            <a:picLocks noChangeAspect="1"/>
          </p:cNvPicPr>
          <p:nvPr/>
        </p:nvPicPr>
        <p:blipFill>
          <a:blip r:embed="rId4"/>
          <a:stretch>
            <a:fillRect/>
          </a:stretch>
        </p:blipFill>
        <p:spPr>
          <a:xfrm>
            <a:off x="274320" y="742188"/>
            <a:ext cx="8595360" cy="2721864"/>
          </a:xfrm>
          <a:prstGeom prst="rect">
            <a:avLst/>
          </a:prstGeom>
        </p:spPr>
      </p:pic>
      <p:sp>
        <p:nvSpPr>
          <p:cNvPr id="9" name="TextBox 8"/>
          <p:cNvSpPr txBox="1"/>
          <p:nvPr/>
        </p:nvSpPr>
        <p:spPr>
          <a:xfrm>
            <a:off x="320040" y="3520440"/>
            <a:ext cx="8503920" cy="594360"/>
          </a:xfrm>
          <a:prstGeom prst="rect">
            <a:avLst/>
          </a:prstGeom>
          <a:noFill/>
        </p:spPr>
        <p:txBody>
          <a:bodyPr wrap="square" anchor="t" lIns="73152" rIns="73152" tIns="36576" bIns="36576">
            <a:spAutoFit/>
          </a:bodyPr>
          <a:lstStyle/>
          <a:p>
            <a:pPr algn="l">
              <a:spcAft>
                <a:spcPts val="400"/>
              </a:spcAft>
            </a:pPr>
            <a:r>
              <a:rPr sz="1200" b="0" i="0">
                <a:solidFill>
                  <a:srgbClr val="262626"/>
                </a:solidFill>
                <a:latin typeface="Calibri"/>
              </a:rPr>
              <a:t>Pairwise AUC on the hard tier for comparison: main 0.726, B4 0.551.</a:t>
            </a:r>
          </a:p>
        </p:txBody>
      </p:sp>
      <p:sp>
        <p:nvSpPr>
          <p:cNvPr id="10" name="TextBox 9"/>
          <p:cNvSpPr txBox="1"/>
          <p:nvPr/>
        </p:nvSpPr>
        <p:spPr>
          <a:xfrm>
            <a:off x="320040" y="4133087"/>
            <a:ext cx="8503920" cy="36576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Panels: all test, random tier, hard tier; every trained model and the lexical baselines.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Calibration, size and CPU latency</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20</a:t>
            </a:r>
          </a:p>
        </p:txBody>
      </p:sp>
      <p:pic>
        <p:nvPicPr>
          <p:cNvPr id="8" name="Picture 7" descr="cal.png"/>
          <p:cNvPicPr>
            <a:picLocks noChangeAspect="1"/>
          </p:cNvPicPr>
          <p:nvPr/>
        </p:nvPicPr>
        <p:blipFill>
          <a:blip r:embed="rId4"/>
          <a:stretch>
            <a:fillRect/>
          </a:stretch>
        </p:blipFill>
        <p:spPr>
          <a:xfrm>
            <a:off x="345627" y="713232"/>
            <a:ext cx="4520824" cy="2103120"/>
          </a:xfrm>
          <a:prstGeom prst="rect">
            <a:avLst/>
          </a:prstGeom>
        </p:spPr>
      </p:pic>
      <p:graphicFrame>
        <p:nvGraphicFramePr>
          <p:cNvPr id="9" name="Table 8"/>
          <p:cNvGraphicFramePr>
            <a:graphicFrameLocks noGrp="1"/>
          </p:cNvGraphicFramePr>
          <p:nvPr/>
        </p:nvGraphicFramePr>
        <p:xfrm>
          <a:off x="320040" y="2880360"/>
          <a:ext cx="4572000" cy="1024128"/>
        </p:xfrm>
        <a:graphic>
          <a:graphicData uri="http://schemas.openxmlformats.org/drawingml/2006/table">
            <a:tbl>
              <a:tblPr firstRow="1" bandRow="0">
                <a:tableStyleId>{5C22544A-7EE6-4342-B048-85BDC9FD1C3A}</a:tableStyleId>
              </a:tblPr>
              <a:tblGrid>
                <a:gridCol w="2000250"/>
                <a:gridCol w="857250"/>
                <a:gridCol w="857250"/>
                <a:gridCol w="857250"/>
              </a:tblGrid>
              <a:tr h="256032">
                <a:tc>
                  <a:txBody>
                    <a:bodyPr wrap="square"/>
                    <a:lstStyle/>
                    <a:p>
                      <a:pPr algn="l"/>
                      <a:r>
                        <a:rPr sz="1100" b="1" i="0">
                          <a:solidFill>
                            <a:srgbClr val="FFFFFF"/>
                          </a:solidFill>
                          <a:latin typeface="Calibri"/>
                        </a:rPr>
                        <a:t>Model</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Size MB</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p50 ms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p95 ms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r>
              <a:tr h="256032">
                <a:tc>
                  <a:txBody>
                    <a:bodyPr wrap="square"/>
                    <a:lstStyle/>
                    <a:p>
                      <a:pPr algn="l"/>
                      <a:r>
                        <a:rPr sz="1100" b="0" i="0">
                          <a:solidFill>
                            <a:srgbClr val="262626"/>
                          </a:solidFill>
                          <a:latin typeface="Calibri"/>
                        </a:rPr>
                        <a:t>Main (PyTorch fp32)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596.1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94.5</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95.1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56032">
                <a:tc>
                  <a:txBody>
                    <a:bodyPr wrap="square"/>
                    <a:lstStyle/>
                    <a:p>
                      <a:pPr algn="l"/>
                      <a:r>
                        <a:rPr sz="1100" b="0" i="0">
                          <a:solidFill>
                            <a:srgbClr val="262626"/>
                          </a:solidFill>
                          <a:latin typeface="Calibri"/>
                        </a:rPr>
                        <a:t>Student ONNX fp32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90.4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13.4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68.7</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56032">
                <a:tc>
                  <a:txBody>
                    <a:bodyPr wrap="square"/>
                    <a:lstStyle/>
                    <a:p>
                      <a:pPr algn="l"/>
                      <a:r>
                        <a:rPr sz="1100" b="0" i="0">
                          <a:solidFill>
                            <a:srgbClr val="262626"/>
                          </a:solidFill>
                          <a:latin typeface="Calibri"/>
                        </a:rPr>
                        <a:t>Student ONNX INT8</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ctr"/>
                      <a:r>
                        <a:rPr sz="1100" b="0" i="0">
                          <a:solidFill>
                            <a:srgbClr val="262626"/>
                          </a:solidFill>
                          <a:latin typeface="Calibri"/>
                        </a:rPr>
                        <a:t>22.9</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ctr"/>
                      <a:r>
                        <a:rPr sz="1100" b="0" i="0">
                          <a:solidFill>
                            <a:srgbClr val="262626"/>
                          </a:solidFill>
                          <a:latin typeface="Calibri"/>
                        </a:rPr>
                        <a:t>8.5</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ctr"/>
                      <a:r>
                        <a:rPr sz="1100" b="0" i="0">
                          <a:solidFill>
                            <a:srgbClr val="262626"/>
                          </a:solidFill>
                          <a:latin typeface="Calibri"/>
                        </a:rPr>
                        <a:t>66.9</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r>
            </a:tbl>
          </a:graphicData>
        </a:graphic>
      </p:graphicFrame>
      <p:pic>
        <p:nvPicPr>
          <p:cNvPr id="10" name="Picture 9" descr="latency.png"/>
          <p:cNvPicPr>
            <a:picLocks noChangeAspect="1"/>
          </p:cNvPicPr>
          <p:nvPr/>
        </p:nvPicPr>
        <p:blipFill>
          <a:blip r:embed="rId5"/>
          <a:stretch>
            <a:fillRect/>
          </a:stretch>
        </p:blipFill>
        <p:spPr>
          <a:xfrm>
            <a:off x="5029200" y="764403"/>
            <a:ext cx="3794760" cy="3134633"/>
          </a:xfrm>
          <a:prstGeom prst="rect">
            <a:avLst/>
          </a:prstGeom>
        </p:spPr>
      </p:pic>
      <p:sp>
        <p:nvSpPr>
          <p:cNvPr id="11" name="TextBox 10"/>
          <p:cNvSpPr txBox="1"/>
          <p:nvPr/>
        </p:nvSpPr>
        <p:spPr>
          <a:xfrm>
            <a:off x="320040" y="4023360"/>
            <a:ext cx="8503920" cy="50292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Intel i7-13650HX, batch 1. Student timings taken under CPU load; numbers belong to this machine.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Ablation study (same test split, one seed)</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21</a:t>
            </a:r>
          </a:p>
        </p:txBody>
      </p:sp>
      <p:graphicFrame>
        <p:nvGraphicFramePr>
          <p:cNvPr id="8" name="Table 7"/>
          <p:cNvGraphicFramePr>
            <a:graphicFrameLocks noGrp="1"/>
          </p:cNvGraphicFramePr>
          <p:nvPr/>
        </p:nvGraphicFramePr>
        <p:xfrm>
          <a:off x="320040" y="731520"/>
          <a:ext cx="5120639" cy="2951681"/>
        </p:xfrm>
        <a:graphic>
          <a:graphicData uri="http://schemas.openxmlformats.org/drawingml/2006/table">
            <a:tbl>
              <a:tblPr firstRow="1" bandRow="0">
                <a:tableStyleId>{5C22544A-7EE6-4342-B048-85BDC9FD1C3A}</a:tableStyleId>
              </a:tblPr>
              <a:tblGrid>
                <a:gridCol w="1976387"/>
                <a:gridCol w="808522"/>
                <a:gridCol w="718686"/>
                <a:gridCol w="808522"/>
                <a:gridCol w="808522"/>
              </a:tblGrid>
              <a:tr h="256032">
                <a:tc>
                  <a:txBody>
                    <a:bodyPr wrap="square"/>
                    <a:lstStyle/>
                    <a:p>
                      <a:pPr algn="l"/>
                      <a:r>
                        <a:rPr sz="1100" b="1" i="0">
                          <a:solidFill>
                            <a:srgbClr val="FFFFFF"/>
                          </a:solidFill>
                          <a:latin typeface="Calibri"/>
                        </a:rPr>
                        <a:t>Variant</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macro-F1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Delta</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NDCG@5</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AUC hard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r>
              <a:tr h="245059">
                <a:tc>
                  <a:txBody>
                    <a:bodyPr wrap="square"/>
                    <a:lstStyle/>
                    <a:p>
                      <a:pPr algn="l"/>
                      <a:r>
                        <a:rPr sz="1100" b="0" i="0">
                          <a:solidFill>
                            <a:srgbClr val="262626"/>
                          </a:solidFill>
                          <a:latin typeface="Calibri"/>
                        </a:rPr>
                        <a:t>Full model</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ctr"/>
                      <a:r>
                        <a:rPr sz="1100" b="0" i="0">
                          <a:solidFill>
                            <a:srgbClr val="262626"/>
                          </a:solidFill>
                          <a:latin typeface="Calibri"/>
                        </a:rPr>
                        <a:t>0.680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ct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ctr"/>
                      <a:r>
                        <a:rPr sz="1100" b="0" i="0">
                          <a:solidFill>
                            <a:srgbClr val="262626"/>
                          </a:solidFill>
                          <a:latin typeface="Calibri"/>
                        </a:rPr>
                        <a:t>0.868</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ctr"/>
                      <a:r>
                        <a:rPr sz="1100" b="0" i="0">
                          <a:solidFill>
                            <a:srgbClr val="262626"/>
                          </a:solidFill>
                          <a:latin typeface="Calibri"/>
                        </a:rPr>
                        <a:t>0.726</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r>
              <a:tr h="245059">
                <a:tc>
                  <a:txBody>
                    <a:bodyPr wrap="square"/>
                    <a:lstStyle/>
                    <a:p>
                      <a:pPr algn="l"/>
                      <a:r>
                        <a:rPr sz="1100" b="0" i="0">
                          <a:solidFill>
                            <a:srgbClr val="262626"/>
                          </a:solidFill>
                          <a:latin typeface="Calibri"/>
                        </a:rPr>
                        <a:t>Hunk only</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0.462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-0.218</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0.780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0.592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45059">
                <a:tc>
                  <a:txBody>
                    <a:bodyPr wrap="square"/>
                    <a:lstStyle/>
                    <a:p>
                      <a:pPr algn="l"/>
                      <a:r>
                        <a:rPr sz="1100" b="0" i="0">
                          <a:solidFill>
                            <a:srgbClr val="262626"/>
                          </a:solidFill>
                          <a:latin typeface="Calibri"/>
                        </a:rPr>
                        <a:t>Intent only</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0.547</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-0.133</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0.726</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0.501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45059">
                <a:tc>
                  <a:txBody>
                    <a:bodyPr wrap="square"/>
                    <a:lstStyle/>
                    <a:p>
                      <a:pPr algn="l"/>
                      <a:r>
                        <a:rPr sz="1100" b="0" i="0">
                          <a:solidFill>
                            <a:srgbClr val="262626"/>
                          </a:solidFill>
                          <a:latin typeface="Calibri"/>
                        </a:rPr>
                        <a:t>No consolidation</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0.689</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+0.008</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0.891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0.738</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45059">
                <a:tc>
                  <a:txBody>
                    <a:bodyPr wrap="square"/>
                    <a:lstStyle/>
                    <a:p>
                      <a:pPr algn="l"/>
                      <a:r>
                        <a:rPr sz="1100" b="0" i="0">
                          <a:solidFill>
                            <a:srgbClr val="262626"/>
                          </a:solidFill>
                          <a:latin typeface="Calibri"/>
                        </a:rPr>
                        <a:t>No focal loss (CE)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0.696</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+0.016</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0.887</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0.712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45059">
                <a:tc>
                  <a:txBody>
                    <a:bodyPr wrap="square"/>
                    <a:lstStyle/>
                    <a:p>
                      <a:pPr algn="l"/>
                      <a:r>
                        <a:rPr sz="1100" b="0" i="0">
                          <a:solidFill>
                            <a:srgbClr val="262626"/>
                          </a:solidFill>
                          <a:latin typeface="Calibri"/>
                        </a:rPr>
                        <a:t>Alignment head only</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0.706</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+0.026</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0.895</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0.752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45059">
                <a:tc>
                  <a:txBody>
                    <a:bodyPr wrap="square"/>
                    <a:lstStyle/>
                    <a:p>
                      <a:pPr algn="l"/>
                      <a:r>
                        <a:rPr sz="1100" b="0" i="0">
                          <a:solidFill>
                            <a:srgbClr val="262626"/>
                          </a:solidFill>
                          <a:latin typeface="Calibri"/>
                        </a:rPr>
                        <a:t>No denoising</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0.688</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+0.007</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0.902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0.767</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45059">
                <a:tc>
                  <a:txBody>
                    <a:bodyPr wrap="square"/>
                    <a:lstStyle/>
                    <a:p>
                      <a:pPr algn="l"/>
                      <a:r>
                        <a:rPr sz="1100" b="0" i="0">
                          <a:solidFill>
                            <a:srgbClr val="262626"/>
                          </a:solidFill>
                          <a:latin typeface="Calibri"/>
                        </a:rPr>
                        <a:t>k-means off</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0.680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+0.000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0.868</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0.720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45059">
                <a:tc>
                  <a:txBody>
                    <a:bodyPr wrap="square"/>
                    <a:lstStyle/>
                    <a:p>
                      <a:pPr algn="l"/>
                      <a:r>
                        <a:rPr sz="1100" b="0" i="0">
                          <a:solidFill>
                            <a:srgbClr val="262626"/>
                          </a:solidFill>
                          <a:latin typeface="Calibri"/>
                        </a:rPr>
                        <a:t>k-means on</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0.691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+0.011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0.874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0.721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45059">
                <a:tc>
                  <a:txBody>
                    <a:bodyPr wrap="square"/>
                    <a:lstStyle/>
                    <a:p>
                      <a:pPr algn="l"/>
                      <a:r>
                        <a:rPr sz="1100" b="0" i="0">
                          <a:solidFill>
                            <a:srgbClr val="262626"/>
                          </a:solidFill>
                          <a:latin typeface="Calibri"/>
                        </a:rPr>
                        <a:t>Student fp32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0.667</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-0.013</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0.869</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0.678</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45059">
                <a:tc>
                  <a:txBody>
                    <a:bodyPr wrap="square"/>
                    <a:lstStyle/>
                    <a:p>
                      <a:pPr algn="l"/>
                      <a:r>
                        <a:rPr sz="1100" b="0" i="0">
                          <a:solidFill>
                            <a:srgbClr val="262626"/>
                          </a:solidFill>
                          <a:latin typeface="Calibri"/>
                        </a:rPr>
                        <a:t>Student INT8</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0.667</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-0.013</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0.869</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n/a</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bl>
          </a:graphicData>
        </a:graphic>
      </p:graphicFrame>
      <p:pic>
        <p:nvPicPr>
          <p:cNvPr id="9" name="Picture 8" descr="ablation_f1.png"/>
          <p:cNvPicPr>
            <a:picLocks noChangeAspect="1"/>
          </p:cNvPicPr>
          <p:nvPr/>
        </p:nvPicPr>
        <p:blipFill>
          <a:blip r:embed="rId4"/>
          <a:stretch>
            <a:fillRect/>
          </a:stretch>
        </p:blipFill>
        <p:spPr>
          <a:xfrm>
            <a:off x="5532120" y="1040834"/>
            <a:ext cx="3337560" cy="2581771"/>
          </a:xfrm>
          <a:prstGeom prst="rect">
            <a:avLst/>
          </a:prstGeom>
        </p:spPr>
      </p:pic>
      <p:sp>
        <p:nvSpPr>
          <p:cNvPr id="10" name="TextBox 9"/>
          <p:cNvSpPr txBox="1"/>
          <p:nvPr/>
        </p:nvSpPr>
        <p:spPr>
          <a:xfrm>
            <a:off x="320040" y="3977639"/>
            <a:ext cx="8503920" cy="54864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Hunk and intent are both essential; the other components are not shown to help (one seed, differences within noise).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Testing and test design</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22</a:t>
            </a:r>
          </a:p>
        </p:txBody>
      </p:sp>
      <p:graphicFrame>
        <p:nvGraphicFramePr>
          <p:cNvPr id="8" name="Table 7"/>
          <p:cNvGraphicFramePr>
            <a:graphicFrameLocks noGrp="1"/>
          </p:cNvGraphicFramePr>
          <p:nvPr/>
        </p:nvGraphicFramePr>
        <p:xfrm>
          <a:off x="320040" y="731520"/>
          <a:ext cx="5394958" cy="3017520"/>
        </p:xfrm>
        <a:graphic>
          <a:graphicData uri="http://schemas.openxmlformats.org/drawingml/2006/table">
            <a:tbl>
              <a:tblPr firstRow="1" bandRow="0">
                <a:tableStyleId>{5C22544A-7EE6-4342-B048-85BDC9FD1C3A}</a:tableStyleId>
              </a:tblPr>
              <a:tblGrid>
                <a:gridCol w="2312125"/>
                <a:gridCol w="1830432"/>
                <a:gridCol w="674370"/>
                <a:gridCol w="578031"/>
              </a:tblGrid>
              <a:tr h="274320">
                <a:tc>
                  <a:txBody>
                    <a:bodyPr wrap="square"/>
                    <a:lstStyle/>
                    <a:p>
                      <a:pPr algn="l"/>
                      <a:r>
                        <a:rPr sz="1100" b="1" i="0">
                          <a:solidFill>
                            <a:srgbClr val="FFFFFF"/>
                          </a:solidFill>
                          <a:latin typeface="Calibri"/>
                        </a:rPr>
                        <a:t>Category</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l"/>
                      <a:r>
                        <a:rPr sz="1100" b="1" i="0">
                          <a:solidFill>
                            <a:srgbClr val="FFFFFF"/>
                          </a:solidFill>
                          <a:latin typeface="Calibri"/>
                        </a:rPr>
                        <a:t>Framework area</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Passed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xfail</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r>
              <a:tr h="274320">
                <a:tc>
                  <a:txBody>
                    <a:bodyPr wrap="square"/>
                    <a:lstStyle/>
                    <a:p>
                      <a:pPr algn="l"/>
                      <a:r>
                        <a:rPr sz="1100" b="0" i="0">
                          <a:solidFill>
                            <a:srgbClr val="262626"/>
                          </a:solidFill>
                          <a:latin typeface="Calibri"/>
                        </a:rPr>
                        <a:t>Smoke / readiness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Performance / readiness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6</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74320">
                <a:tc>
                  <a:txBody>
                    <a:bodyPr wrap="square"/>
                    <a:lstStyle/>
                    <a:p>
                      <a:pPr algn="l"/>
                      <a:r>
                        <a:rPr sz="1100" b="0" i="0">
                          <a:solidFill>
                            <a:srgbClr val="262626"/>
                          </a:solidFill>
                          <a:latin typeface="Calibri"/>
                        </a:rPr>
                        <a:t>White-box</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AI Models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51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74320">
                <a:tc>
                  <a:txBody>
                    <a:bodyPr wrap="square"/>
                    <a:lstStyle/>
                    <a:p>
                      <a:pPr algn="l"/>
                      <a:r>
                        <a:rPr sz="1100" b="0" i="0">
                          <a:solidFill>
                            <a:srgbClr val="262626"/>
                          </a:solidFill>
                          <a:latin typeface="Calibri"/>
                        </a:rPr>
                        <a:t>Black-box</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Testing Methods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31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74320">
                <a:tc>
                  <a:txBody>
                    <a:bodyPr wrap="square"/>
                    <a:lstStyle/>
                    <a:p>
                      <a:pPr algn="l"/>
                      <a:r>
                        <a:rPr sz="1100" b="0" i="0">
                          <a:solidFill>
                            <a:srgbClr val="262626"/>
                          </a:solidFill>
                          <a:latin typeface="Calibri"/>
                        </a:rPr>
                        <a:t>API partitions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Testing Methods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43</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74320">
                <a:tc>
                  <a:txBody>
                    <a:bodyPr wrap="square"/>
                    <a:lstStyle/>
                    <a:p>
                      <a:pPr algn="l"/>
                      <a:r>
                        <a:rPr sz="1100" b="0" i="0">
                          <a:solidFill>
                            <a:srgbClr val="262626"/>
                          </a:solidFill>
                          <a:latin typeface="Calibri"/>
                        </a:rPr>
                        <a:t>Data pipeline + leakage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Data</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17</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74320">
                <a:tc>
                  <a:txBody>
                    <a:bodyPr wrap="square"/>
                    <a:lstStyle/>
                    <a:p>
                      <a:pPr algn="l"/>
                      <a:r>
                        <a:rPr sz="1100" b="0" i="0">
                          <a:solidFill>
                            <a:srgbClr val="262626"/>
                          </a:solidFill>
                          <a:latin typeface="Calibri"/>
                        </a:rPr>
                        <a:t>Metamorphic</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Testing Methods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8</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74320">
                <a:tc>
                  <a:txBody>
                    <a:bodyPr wrap="square"/>
                    <a:lstStyle/>
                    <a:p>
                      <a:pPr algn="l"/>
                      <a:r>
                        <a:rPr sz="1100" b="0" i="0">
                          <a:solidFill>
                            <a:srgbClr val="262626"/>
                          </a:solidFill>
                          <a:latin typeface="Calibri"/>
                        </a:rPr>
                        <a:t>Adversarial / red-team</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Testing Methods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17</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74320">
                <a:tc>
                  <a:txBody>
                    <a:bodyPr wrap="square"/>
                    <a:lstStyle/>
                    <a:p>
                      <a:pPr algn="l"/>
                      <a:r>
                        <a:rPr sz="1100" b="0" i="0">
                          <a:solidFill>
                            <a:srgbClr val="262626"/>
                          </a:solidFill>
                          <a:latin typeface="Calibri"/>
                        </a:rPr>
                        <a:t>Back-to-back (full vs student)</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AI Models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74320">
                <a:tc>
                  <a:txBody>
                    <a:bodyPr wrap="square"/>
                    <a:lstStyle/>
                    <a:p>
                      <a:pPr algn="l"/>
                      <a:r>
                        <a:rPr sz="1100" b="0" i="0">
                          <a:solidFill>
                            <a:srgbClr val="262626"/>
                          </a:solidFill>
                          <a:latin typeface="Calibri"/>
                        </a:rPr>
                        <a:t>UI end-to-end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Context</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37</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74320">
                <a:tc>
                  <a:txBody>
                    <a:bodyPr wrap="square"/>
                    <a:lstStyle/>
                    <a:p>
                      <a:pPr algn="l"/>
                      <a:r>
                        <a:rPr sz="1100" b="1" i="0">
                          <a:solidFill>
                            <a:srgbClr val="262626"/>
                          </a:solidFill>
                          <a:latin typeface="Calibri"/>
                        </a:rPr>
                        <a:t>Total</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l"/>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ctr"/>
                      <a:r>
                        <a:rPr sz="1100" b="1" i="0">
                          <a:solidFill>
                            <a:srgbClr val="262626"/>
                          </a:solidFill>
                          <a:latin typeface="Calibri"/>
                        </a:rPr>
                        <a:t>214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ctr"/>
                      <a:r>
                        <a:rPr sz="1100" b="1" i="0">
                          <a:solidFill>
                            <a:srgbClr val="262626"/>
                          </a:solidFill>
                          <a:latin typeface="Calibri"/>
                        </a:rPr>
                        <a:t>6</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r>
            </a:tbl>
          </a:graphicData>
        </a:graphic>
      </p:graphicFrame>
      <p:sp>
        <p:nvSpPr>
          <p:cNvPr id="9" name="Rectangle 8"/>
          <p:cNvSpPr/>
          <p:nvPr/>
        </p:nvSpPr>
        <p:spPr>
          <a:xfrm>
            <a:off x="5897880" y="777240"/>
            <a:ext cx="1417320" cy="96012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97880" y="804672"/>
            <a:ext cx="1417320" cy="480060"/>
          </a:xfrm>
          <a:prstGeom prst="rect">
            <a:avLst/>
          </a:prstGeom>
          <a:noFill/>
        </p:spPr>
        <p:txBody>
          <a:bodyPr wrap="square" anchor="ctr" lIns="73152" rIns="73152" tIns="36576" bIns="36576">
            <a:spAutoFit/>
          </a:bodyPr>
          <a:lstStyle/>
          <a:p>
            <a:pPr algn="ctr">
              <a:spcAft>
                <a:spcPts val="0"/>
              </a:spcAft>
            </a:pPr>
            <a:r>
              <a:rPr sz="2400" b="1" i="0">
                <a:solidFill>
                  <a:srgbClr val="FF0000"/>
                </a:solidFill>
                <a:latin typeface="Cambria"/>
              </a:rPr>
              <a:t>220</a:t>
            </a:r>
          </a:p>
        </p:txBody>
      </p:sp>
      <p:sp>
        <p:nvSpPr>
          <p:cNvPr id="11" name="TextBox 10"/>
          <p:cNvSpPr txBox="1"/>
          <p:nvPr/>
        </p:nvSpPr>
        <p:spPr>
          <a:xfrm>
            <a:off x="5943600" y="1257300"/>
            <a:ext cx="1325880" cy="460857"/>
          </a:xfrm>
          <a:prstGeom prst="rect">
            <a:avLst/>
          </a:prstGeom>
          <a:noFill/>
        </p:spPr>
        <p:txBody>
          <a:bodyPr wrap="square" anchor="t" lIns="73152" rIns="73152" tIns="36576" bIns="36576">
            <a:spAutoFit/>
          </a:bodyPr>
          <a:lstStyle/>
          <a:p>
            <a:pPr algn="ctr">
              <a:spcAft>
                <a:spcPts val="400"/>
              </a:spcAft>
            </a:pPr>
            <a:r>
              <a:rPr sz="1100" b="0" i="0">
                <a:solidFill>
                  <a:srgbClr val="595959"/>
                </a:solidFill>
                <a:latin typeface="Calibri"/>
              </a:rPr>
              <a:t>tests</a:t>
            </a:r>
          </a:p>
        </p:txBody>
      </p:sp>
      <p:sp>
        <p:nvSpPr>
          <p:cNvPr id="12" name="Rectangle 11"/>
          <p:cNvSpPr/>
          <p:nvPr/>
        </p:nvSpPr>
        <p:spPr>
          <a:xfrm>
            <a:off x="7406640" y="777240"/>
            <a:ext cx="1417320" cy="96012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804672"/>
            <a:ext cx="1417320" cy="480060"/>
          </a:xfrm>
          <a:prstGeom prst="rect">
            <a:avLst/>
          </a:prstGeom>
          <a:noFill/>
        </p:spPr>
        <p:txBody>
          <a:bodyPr wrap="square" anchor="ctr" lIns="73152" rIns="73152" tIns="36576" bIns="36576">
            <a:spAutoFit/>
          </a:bodyPr>
          <a:lstStyle/>
          <a:p>
            <a:pPr algn="ctr">
              <a:spcAft>
                <a:spcPts val="0"/>
              </a:spcAft>
            </a:pPr>
            <a:r>
              <a:rPr sz="2400" b="1" i="0">
                <a:solidFill>
                  <a:srgbClr val="FF0000"/>
                </a:solidFill>
                <a:latin typeface="Cambria"/>
              </a:rPr>
              <a:t>0</a:t>
            </a:r>
          </a:p>
        </p:txBody>
      </p:sp>
      <p:sp>
        <p:nvSpPr>
          <p:cNvPr id="14" name="TextBox 13"/>
          <p:cNvSpPr txBox="1"/>
          <p:nvPr/>
        </p:nvSpPr>
        <p:spPr>
          <a:xfrm>
            <a:off x="7452360" y="1257300"/>
            <a:ext cx="1325880" cy="460857"/>
          </a:xfrm>
          <a:prstGeom prst="rect">
            <a:avLst/>
          </a:prstGeom>
          <a:noFill/>
        </p:spPr>
        <p:txBody>
          <a:bodyPr wrap="square" anchor="t" lIns="73152" rIns="73152" tIns="36576" bIns="36576">
            <a:spAutoFit/>
          </a:bodyPr>
          <a:lstStyle/>
          <a:p>
            <a:pPr algn="ctr">
              <a:spcAft>
                <a:spcPts val="400"/>
              </a:spcAft>
            </a:pPr>
            <a:r>
              <a:rPr sz="1100" b="0" i="0">
                <a:solidFill>
                  <a:srgbClr val="595959"/>
                </a:solidFill>
                <a:latin typeface="Calibri"/>
              </a:rPr>
              <a:t>failed</a:t>
            </a:r>
          </a:p>
        </p:txBody>
      </p:sp>
      <p:sp>
        <p:nvSpPr>
          <p:cNvPr id="15" name="Rectangle 14"/>
          <p:cNvSpPr/>
          <p:nvPr/>
        </p:nvSpPr>
        <p:spPr>
          <a:xfrm>
            <a:off x="5897880" y="1828800"/>
            <a:ext cx="1417320" cy="96012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97880" y="1856231"/>
            <a:ext cx="1417320" cy="480060"/>
          </a:xfrm>
          <a:prstGeom prst="rect">
            <a:avLst/>
          </a:prstGeom>
          <a:noFill/>
        </p:spPr>
        <p:txBody>
          <a:bodyPr wrap="square" anchor="ctr" lIns="73152" rIns="73152" tIns="36576" bIns="36576">
            <a:spAutoFit/>
          </a:bodyPr>
          <a:lstStyle/>
          <a:p>
            <a:pPr algn="ctr">
              <a:spcAft>
                <a:spcPts val="0"/>
              </a:spcAft>
            </a:pPr>
            <a:r>
              <a:rPr sz="2200" b="1" i="0">
                <a:solidFill>
                  <a:srgbClr val="FF0000"/>
                </a:solidFill>
                <a:latin typeface="Cambria"/>
              </a:rPr>
              <a:t>73.4%</a:t>
            </a:r>
          </a:p>
        </p:txBody>
      </p:sp>
      <p:sp>
        <p:nvSpPr>
          <p:cNvPr id="17" name="TextBox 16"/>
          <p:cNvSpPr txBox="1"/>
          <p:nvPr/>
        </p:nvSpPr>
        <p:spPr>
          <a:xfrm>
            <a:off x="5943600" y="2308860"/>
            <a:ext cx="1325880" cy="460857"/>
          </a:xfrm>
          <a:prstGeom prst="rect">
            <a:avLst/>
          </a:prstGeom>
          <a:noFill/>
        </p:spPr>
        <p:txBody>
          <a:bodyPr wrap="square" anchor="t" lIns="73152" rIns="73152" tIns="36576" bIns="36576">
            <a:spAutoFit/>
          </a:bodyPr>
          <a:lstStyle/>
          <a:p>
            <a:pPr algn="ctr">
              <a:spcAft>
                <a:spcPts val="400"/>
              </a:spcAft>
            </a:pPr>
            <a:r>
              <a:rPr sz="1100" b="0" i="0">
                <a:solidFill>
                  <a:srgbClr val="595959"/>
                </a:solidFill>
                <a:latin typeface="Calibri"/>
              </a:rPr>
              <a:t>line coverage</a:t>
            </a:r>
          </a:p>
        </p:txBody>
      </p:sp>
      <p:sp>
        <p:nvSpPr>
          <p:cNvPr id="18" name="Rectangle 17"/>
          <p:cNvSpPr/>
          <p:nvPr/>
        </p:nvSpPr>
        <p:spPr>
          <a:xfrm>
            <a:off x="7406640" y="1828800"/>
            <a:ext cx="1417320" cy="96012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1856231"/>
            <a:ext cx="1417320" cy="480060"/>
          </a:xfrm>
          <a:prstGeom prst="rect">
            <a:avLst/>
          </a:prstGeom>
          <a:noFill/>
        </p:spPr>
        <p:txBody>
          <a:bodyPr wrap="square" anchor="ctr" lIns="73152" rIns="73152" tIns="36576" bIns="36576">
            <a:spAutoFit/>
          </a:bodyPr>
          <a:lstStyle/>
          <a:p>
            <a:pPr algn="ctr">
              <a:spcAft>
                <a:spcPts val="0"/>
              </a:spcAft>
            </a:pPr>
            <a:r>
              <a:rPr sz="2400" b="1" i="0">
                <a:solidFill>
                  <a:srgbClr val="FF0000"/>
                </a:solidFill>
                <a:latin typeface="Cambria"/>
              </a:rPr>
              <a:t>6</a:t>
            </a:r>
          </a:p>
        </p:txBody>
      </p:sp>
      <p:sp>
        <p:nvSpPr>
          <p:cNvPr id="20" name="TextBox 19"/>
          <p:cNvSpPr txBox="1"/>
          <p:nvPr/>
        </p:nvSpPr>
        <p:spPr>
          <a:xfrm>
            <a:off x="7452360" y="2308860"/>
            <a:ext cx="1325880" cy="460857"/>
          </a:xfrm>
          <a:prstGeom prst="rect">
            <a:avLst/>
          </a:prstGeom>
          <a:noFill/>
        </p:spPr>
        <p:txBody>
          <a:bodyPr wrap="square" anchor="t" lIns="73152" rIns="73152" tIns="36576" bIns="36576">
            <a:spAutoFit/>
          </a:bodyPr>
          <a:lstStyle/>
          <a:p>
            <a:pPr algn="ctr">
              <a:spcAft>
                <a:spcPts val="400"/>
              </a:spcAft>
            </a:pPr>
            <a:r>
              <a:rPr sz="1100" b="0" i="0">
                <a:solidFill>
                  <a:srgbClr val="595959"/>
                </a:solidFill>
                <a:latin typeface="Calibri"/>
              </a:rPr>
              <a:t>known defects (xfail)</a:t>
            </a:r>
          </a:p>
        </p:txBody>
      </p:sp>
      <p:sp>
        <p:nvSpPr>
          <p:cNvPr id="21" name="TextBox 20"/>
          <p:cNvSpPr txBox="1"/>
          <p:nvPr/>
        </p:nvSpPr>
        <p:spPr>
          <a:xfrm>
            <a:off x="5852160" y="2880360"/>
            <a:ext cx="3017520" cy="1188720"/>
          </a:xfrm>
          <a:prstGeom prst="rect">
            <a:avLst/>
          </a:prstGeom>
          <a:noFill/>
        </p:spPr>
        <p:txBody>
          <a:bodyPr wrap="square" anchor="t" lIns="73152" rIns="73152" tIns="36576" bIns="36576">
            <a:spAutoFit/>
          </a:bodyPr>
          <a:lstStyle/>
          <a:p>
            <a:pPr algn="l">
              <a:spcAft>
                <a:spcPts val="400"/>
              </a:spcAft>
            </a:pPr>
            <a:r>
              <a:rPr sz="1100" b="0" i="0">
                <a:solidFill>
                  <a:srgbClr val="595959"/>
                </a:solidFill>
                <a:latin typeface="Calibri"/>
              </a:rPr>
              <a:t>Coverage: 836 of 1137 statements, src/sift + app/backend; e2e not measured.</a:t>
            </a:r>
          </a:p>
        </p:txBody>
      </p:sp>
      <p:sp>
        <p:nvSpPr>
          <p:cNvPr id="22" name="TextBox 21"/>
          <p:cNvSpPr txBox="1"/>
          <p:nvPr/>
        </p:nvSpPr>
        <p:spPr>
          <a:xfrm>
            <a:off x="320040" y="4133087"/>
            <a:ext cx="8503920" cy="36576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Zero repositories are shared across splits (leakage test passes); every failure found is recorded as a defect.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Metamorphic tests, red-team rates and defect register</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23</a:t>
            </a:r>
          </a:p>
        </p:txBody>
      </p:sp>
      <p:graphicFrame>
        <p:nvGraphicFramePr>
          <p:cNvPr id="8" name="Table 7"/>
          <p:cNvGraphicFramePr>
            <a:graphicFrameLocks noGrp="1"/>
          </p:cNvGraphicFramePr>
          <p:nvPr/>
        </p:nvGraphicFramePr>
        <p:xfrm>
          <a:off x="320040" y="731520"/>
          <a:ext cx="4206239" cy="1536192"/>
        </p:xfrm>
        <a:graphic>
          <a:graphicData uri="http://schemas.openxmlformats.org/drawingml/2006/table">
            <a:tbl>
              <a:tblPr firstRow="1" bandRow="0">
                <a:tableStyleId>{5C22544A-7EE6-4342-B048-85BDC9FD1C3A}</a:tableStyleId>
              </a:tblPr>
              <a:tblGrid>
                <a:gridCol w="2249849"/>
                <a:gridCol w="489097"/>
                <a:gridCol w="1467293"/>
              </a:tblGrid>
              <a:tr h="256032">
                <a:tc>
                  <a:txBody>
                    <a:bodyPr wrap="square"/>
                    <a:lstStyle/>
                    <a:p>
                      <a:pPr algn="l"/>
                      <a:r>
                        <a:rPr sz="1100" b="1" i="0">
                          <a:solidFill>
                            <a:srgbClr val="FFFFFF"/>
                          </a:solidFill>
                          <a:latin typeface="Calibri"/>
                        </a:rPr>
                        <a:t>Metamorphic relation</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n</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Result</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r>
              <a:tr h="256032">
                <a:tc>
                  <a:txBody>
                    <a:bodyPr wrap="square"/>
                    <a:lstStyle/>
                    <a:p>
                      <a:pPr algn="l"/>
                      <a:r>
                        <a:rPr sz="1100" b="0" i="0">
                          <a:solidFill>
                            <a:srgbClr val="262626"/>
                          </a:solidFill>
                          <a:latin typeface="Calibri"/>
                        </a:rPr>
                        <a:t>Determinism (re-run)</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120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max |dp| 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56032">
                <a:tc>
                  <a:txBody>
                    <a:bodyPr wrap="square"/>
                    <a:lstStyle/>
                    <a:p>
                      <a:pPr algn="l"/>
                      <a:r>
                        <a:rPr sz="1100" b="0" i="0">
                          <a:solidFill>
                            <a:srgbClr val="262626"/>
                          </a:solidFill>
                          <a:latin typeface="Calibri"/>
                        </a:rPr>
                        <a:t>Reorder hunks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25</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max |dp| 2.1e-06</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56032">
                <a:tc>
                  <a:txBody>
                    <a:bodyPr wrap="square"/>
                    <a:lstStyle/>
                    <a:p>
                      <a:pPr algn="l"/>
                      <a:r>
                        <a:rPr sz="1100" b="0" i="0">
                          <a:solidFill>
                            <a:srgbClr val="262626"/>
                          </a:solidFill>
                          <a:latin typeface="Calibri"/>
                        </a:rPr>
                        <a:t>Whitespace-only edit</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120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flip 4.2%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56032">
                <a:tc>
                  <a:txBody>
                    <a:bodyPr wrap="square"/>
                    <a:lstStyle/>
                    <a:p>
                      <a:pPr algn="l"/>
                      <a:r>
                        <a:rPr sz="1100" b="0" i="0">
                          <a:solidFill>
                            <a:srgbClr val="262626"/>
                          </a:solidFill>
                          <a:latin typeface="Calibri"/>
                        </a:rPr>
                        <a:t>Comment-only edit</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120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flip 3.3%</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56032">
                <a:tc>
                  <a:txBody>
                    <a:bodyPr wrap="square"/>
                    <a:lstStyle/>
                    <a:p>
                      <a:pPr algn="l"/>
                      <a:r>
                        <a:rPr sz="1100" b="0" i="0">
                          <a:solidFill>
                            <a:srgbClr val="262626"/>
                          </a:solidFill>
                          <a:latin typeface="Calibri"/>
                        </a:rPr>
                        <a:t>Identifier rename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115</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flip 5.2%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bl>
          </a:graphicData>
        </a:graphic>
      </p:graphicFrame>
      <p:graphicFrame>
        <p:nvGraphicFramePr>
          <p:cNvPr id="9" name="Table 8"/>
          <p:cNvGraphicFramePr>
            <a:graphicFrameLocks noGrp="1"/>
          </p:cNvGraphicFramePr>
          <p:nvPr/>
        </p:nvGraphicFramePr>
        <p:xfrm>
          <a:off x="4617720" y="731520"/>
          <a:ext cx="4206240" cy="1536192"/>
        </p:xfrm>
        <a:graphic>
          <a:graphicData uri="http://schemas.openxmlformats.org/drawingml/2006/table">
            <a:tbl>
              <a:tblPr firstRow="1" bandRow="0">
                <a:tableStyleId>{5C22544A-7EE6-4342-B048-85BDC9FD1C3A}</a:tableStyleId>
              </a:tblPr>
              <a:tblGrid>
                <a:gridCol w="3017520"/>
                <a:gridCol w="1188720"/>
              </a:tblGrid>
              <a:tr h="256032">
                <a:tc>
                  <a:txBody>
                    <a:bodyPr wrap="square"/>
                    <a:lstStyle/>
                    <a:p>
                      <a:pPr algn="l"/>
                      <a:r>
                        <a:rPr sz="1100" b="1" i="0">
                          <a:solidFill>
                            <a:srgbClr val="FFFFFF"/>
                          </a:solidFill>
                          <a:latin typeface="Calibri"/>
                        </a:rPr>
                        <a:t>Red-team attack</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Success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r>
              <a:tr h="256032">
                <a:tc>
                  <a:txBody>
                    <a:bodyPr wrap="square"/>
                    <a:lstStyle/>
                    <a:p>
                      <a:pPr algn="l"/>
                      <a:r>
                        <a:rPr sz="1100" b="0" i="0">
                          <a:solidFill>
                            <a:srgbClr val="262626"/>
                          </a:solidFill>
                          <a:latin typeface="Calibri"/>
                        </a:rPr>
                        <a:t>Comment copies the intent</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ctr"/>
                      <a:r>
                        <a:rPr sz="1100" b="0" i="0">
                          <a:solidFill>
                            <a:srgbClr val="262626"/>
                          </a:solidFill>
                          <a:latin typeface="Calibri"/>
                        </a:rPr>
                        <a:t>68%</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r>
              <a:tr h="256032">
                <a:tc>
                  <a:txBody>
                    <a:bodyPr wrap="square"/>
                    <a:lstStyle/>
                    <a:p>
                      <a:pPr algn="l"/>
                      <a:r>
                        <a:rPr sz="1100" b="0" i="0">
                          <a:solidFill>
                            <a:srgbClr val="262626"/>
                          </a:solidFill>
                          <a:latin typeface="Calibri"/>
                        </a:rPr>
                        <a:t>Comment claims 'implements intent'</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ctr"/>
                      <a:r>
                        <a:rPr sz="1100" b="0" i="0">
                          <a:solidFill>
                            <a:srgbClr val="262626"/>
                          </a:solidFill>
                          <a:latin typeface="Calibri"/>
                        </a:rPr>
                        <a:t>52%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r>
              <a:tr h="256032">
                <a:tc>
                  <a:txBody>
                    <a:bodyPr wrap="square"/>
                    <a:lstStyle/>
                    <a:p>
                      <a:pPr algn="l"/>
                      <a:r>
                        <a:rPr sz="1100" b="0" i="0">
                          <a:solidFill>
                            <a:srgbClr val="262626"/>
                          </a:solidFill>
                          <a:latin typeface="Calibri"/>
                        </a:rPr>
                        <a:t>Prompt-injection string</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56032">
                <a:tc>
                  <a:txBody>
                    <a:bodyPr wrap="square"/>
                    <a:lstStyle/>
                    <a:p>
                      <a:pPr algn="l"/>
                      <a:r>
                        <a:rPr sz="1100" b="0" i="0">
                          <a:solidFill>
                            <a:srgbClr val="262626"/>
                          </a:solidFill>
                          <a:latin typeface="Calibri"/>
                        </a:rPr>
                        <a:t>Irrelevant comment (false alarm)</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56032">
                <a:tc>
                  <a:txBody>
                    <a:bodyPr wrap="square"/>
                    <a:lstStyle/>
                    <a:p>
                      <a:pPr algn="l"/>
                      <a:r>
                        <a:rPr sz="1100" b="0" i="0">
                          <a:solidFill>
                            <a:srgbClr val="262626"/>
                          </a:solidFill>
                          <a:latin typeface="Calibri"/>
                        </a:rPr>
                        <a:t>50,000-line hunk</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survived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bl>
          </a:graphicData>
        </a:graphic>
      </p:graphicFrame>
      <p:graphicFrame>
        <p:nvGraphicFramePr>
          <p:cNvPr id="10" name="Table 9"/>
          <p:cNvGraphicFramePr>
            <a:graphicFrameLocks noGrp="1"/>
          </p:cNvGraphicFramePr>
          <p:nvPr/>
        </p:nvGraphicFramePr>
        <p:xfrm>
          <a:off x="320040" y="2395728"/>
          <a:ext cx="8503918" cy="1728216"/>
        </p:xfrm>
        <a:graphic>
          <a:graphicData uri="http://schemas.openxmlformats.org/drawingml/2006/table">
            <a:tbl>
              <a:tblPr firstRow="1" bandRow="0">
                <a:tableStyleId>{5C22544A-7EE6-4342-B048-85BDC9FD1C3A}</a:tableStyleId>
              </a:tblPr>
              <a:tblGrid>
                <a:gridCol w="869719"/>
                <a:gridCol w="869719"/>
                <a:gridCol w="5508220"/>
                <a:gridCol w="1256260"/>
              </a:tblGrid>
              <a:tr h="246888">
                <a:tc>
                  <a:txBody>
                    <a:bodyPr wrap="square"/>
                    <a:lstStyle/>
                    <a:p>
                      <a:pPr algn="l"/>
                      <a:r>
                        <a:rPr sz="1100" b="1" i="0">
                          <a:solidFill>
                            <a:srgbClr val="FFFFFF"/>
                          </a:solidFill>
                          <a:latin typeface="Calibri"/>
                        </a:rPr>
                        <a:t>ID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l"/>
                      <a:r>
                        <a:rPr sz="1100" b="1" i="0">
                          <a:solidFill>
                            <a:srgbClr val="FFFFFF"/>
                          </a:solidFill>
                          <a:latin typeface="Calibri"/>
                        </a:rPr>
                        <a:t>Severity</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l"/>
                      <a:r>
                        <a:rPr sz="1100" b="1" i="0">
                          <a:solidFill>
                            <a:srgbClr val="FFFFFF"/>
                          </a:solidFill>
                          <a:latin typeface="Calibri"/>
                        </a:rPr>
                        <a:t>Defect</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l"/>
                      <a:r>
                        <a:rPr sz="1100" b="1" i="0">
                          <a:solidFill>
                            <a:srgbClr val="FFFFFF"/>
                          </a:solidFill>
                          <a:latin typeface="Calibri"/>
                        </a:rPr>
                        <a:t>Status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r>
              <a:tr h="246888">
                <a:tc>
                  <a:txBody>
                    <a:bodyPr wrap="square"/>
                    <a:lstStyle/>
                    <a:p>
                      <a:pPr algn="l"/>
                      <a:r>
                        <a:rPr sz="1100" b="0" i="0">
                          <a:solidFill>
                            <a:srgbClr val="262626"/>
                          </a:solidFill>
                          <a:latin typeface="Calibri"/>
                        </a:rPr>
                        <a:t>D-DATA-1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Low</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documented language counts differ from release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open (xfail)</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46888">
                <a:tc>
                  <a:txBody>
                    <a:bodyPr wrap="square"/>
                    <a:lstStyle/>
                    <a:p>
                      <a:pPr algn="l"/>
                      <a:r>
                        <a:rPr sz="1100" b="0" i="0">
                          <a:solidFill>
                            <a:srgbClr val="262626"/>
                          </a:solidFill>
                          <a:latin typeface="Calibri"/>
                        </a:rPr>
                        <a:t>D-DATA-2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Medium</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test split has no TypeScript</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open (xfail)</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46888">
                <a:tc>
                  <a:txBody>
                    <a:bodyPr wrap="square"/>
                    <a:lstStyle/>
                    <a:p>
                      <a:pPr algn="l"/>
                      <a:r>
                        <a:rPr sz="1100" b="0" i="0">
                          <a:solidFill>
                            <a:srgbClr val="262626"/>
                          </a:solidFill>
                          <a:latin typeface="Calibri"/>
                        </a:rPr>
                        <a:t>D1</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Medium</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plain diff -u multi-file headers merge into previous hunk</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open (xfail)</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46888">
                <a:tc>
                  <a:txBody>
                    <a:bodyPr wrap="square"/>
                    <a:lstStyle/>
                    <a:p>
                      <a:pPr algn="l"/>
                      <a:r>
                        <a:rPr sz="1100" b="0" i="0">
                          <a:solidFill>
                            <a:srgbClr val="262626"/>
                          </a:solidFill>
                          <a:latin typeface="Calibri"/>
                        </a:rPr>
                        <a:t>D2</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Low</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chit-chat filter is exact-match on 8 phrases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open (xfail)</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46888">
                <a:tc>
                  <a:txBody>
                    <a:bodyPr wrap="square"/>
                    <a:lstStyle/>
                    <a:p>
                      <a:pPr algn="l"/>
                      <a:r>
                        <a:rPr sz="1100" b="0" i="0">
                          <a:solidFill>
                            <a:srgbClr val="262626"/>
                          </a:solidFill>
                          <a:latin typeface="Calibri"/>
                        </a:rPr>
                        <a:t>D3</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l"/>
                      <a:r>
                        <a:rPr sz="1100" b="0" i="0">
                          <a:solidFill>
                            <a:srgbClr val="262626"/>
                          </a:solidFill>
                          <a:latin typeface="Calibri"/>
                        </a:rPr>
                        <a:t>High</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l"/>
                      <a:r>
                        <a:rPr sz="1100" b="0" i="0">
                          <a:solidFill>
                            <a:srgbClr val="262626"/>
                          </a:solidFill>
                          <a:latin typeface="Calibri"/>
                        </a:rPr>
                        <a:t>intent-copy comment flips detected hunks to aligned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l"/>
                      <a:r>
                        <a:rPr sz="1100" b="0" i="0">
                          <a:solidFill>
                            <a:srgbClr val="262626"/>
                          </a:solidFill>
                          <a:latin typeface="Calibri"/>
                        </a:rPr>
                        <a:t>open (xfail)</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r>
              <a:tr h="246888">
                <a:tc>
                  <a:txBody>
                    <a:bodyPr wrap="square"/>
                    <a:lstStyle/>
                    <a:p>
                      <a:pPr algn="l"/>
                      <a:r>
                        <a:rPr sz="1100" b="0" i="0">
                          <a:solidFill>
                            <a:srgbClr val="262626"/>
                          </a:solidFill>
                          <a:latin typeface="Calibri"/>
                        </a:rPr>
                        <a:t>D4</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l"/>
                      <a:r>
                        <a:rPr sz="1100" b="0" i="0">
                          <a:solidFill>
                            <a:srgbClr val="262626"/>
                          </a:solidFill>
                          <a:latin typeface="Calibri"/>
                        </a:rPr>
                        <a:t>Medium</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l"/>
                      <a:r>
                        <a:rPr sz="1100" b="0" i="0">
                          <a:solidFill>
                            <a:srgbClr val="262626"/>
                          </a:solidFill>
                          <a:latin typeface="Calibri"/>
                        </a:rPr>
                        <a:t>'implements intent' comment flips hunks to aligned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c>
                  <a:txBody>
                    <a:bodyPr wrap="square"/>
                    <a:lstStyle/>
                    <a:p>
                      <a:pPr algn="l"/>
                      <a:r>
                        <a:rPr sz="1100" b="0" i="0">
                          <a:solidFill>
                            <a:srgbClr val="262626"/>
                          </a:solidFill>
                          <a:latin typeface="Calibri"/>
                        </a:rPr>
                        <a:t>open (xfail)</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BE3E3"/>
                    </a:solidFill>
                  </a:tcPr>
                </a:tc>
              </a:tr>
            </a:tbl>
          </a:graphicData>
        </a:graphic>
      </p:graphicFrame>
      <p:sp>
        <p:nvSpPr>
          <p:cNvPr id="11" name="TextBox 10"/>
          <p:cNvSpPr txBox="1"/>
          <p:nvPr/>
        </p:nvSpPr>
        <p:spPr>
          <a:xfrm>
            <a:off x="320040" y="4160520"/>
            <a:ext cx="8503920" cy="36576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Open High-severity defect D3: the model partly keys on lexical overlap with the intent.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Implementation status: modules</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24</a:t>
            </a:r>
          </a:p>
        </p:txBody>
      </p:sp>
      <p:graphicFrame>
        <p:nvGraphicFramePr>
          <p:cNvPr id="8" name="Table 7"/>
          <p:cNvGraphicFramePr>
            <a:graphicFrameLocks noGrp="1"/>
          </p:cNvGraphicFramePr>
          <p:nvPr/>
        </p:nvGraphicFramePr>
        <p:xfrm>
          <a:off x="320040" y="731520"/>
          <a:ext cx="8503920" cy="3108960"/>
        </p:xfrm>
        <a:graphic>
          <a:graphicData uri="http://schemas.openxmlformats.org/drawingml/2006/table">
            <a:tbl>
              <a:tblPr firstRow="1" bandRow="0">
                <a:tableStyleId>{5C22544A-7EE6-4342-B048-85BDC9FD1C3A}</a:tableStyleId>
              </a:tblPr>
              <a:tblGrid>
                <a:gridCol w="3291840"/>
                <a:gridCol w="822960"/>
                <a:gridCol w="4389120"/>
              </a:tblGrid>
              <a:tr h="274320">
                <a:tc>
                  <a:txBody>
                    <a:bodyPr wrap="square"/>
                    <a:lstStyle/>
                    <a:p>
                      <a:pPr algn="l"/>
                      <a:r>
                        <a:rPr sz="1100" b="1" i="0">
                          <a:solidFill>
                            <a:srgbClr val="FFFFFF"/>
                          </a:solidFill>
                          <a:latin typeface="Calibri"/>
                        </a:rPr>
                        <a:t>Component</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ctr"/>
                      <a:r>
                        <a:rPr sz="1100" b="1" i="0">
                          <a:solidFill>
                            <a:srgbClr val="FFFFFF"/>
                          </a:solidFill>
                          <a:latin typeface="Calibri"/>
                        </a:rPr>
                        <a:t>Status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l"/>
                      <a:r>
                        <a:rPr sz="1100" b="1" i="0">
                          <a:solidFill>
                            <a:srgbClr val="FFFFFF"/>
                          </a:solidFill>
                          <a:latin typeface="Calibri"/>
                        </a:rPr>
                        <a:t>Note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r>
              <a:tr h="283464">
                <a:tc>
                  <a:txBody>
                    <a:bodyPr wrap="square"/>
                    <a:lstStyle/>
                    <a:p>
                      <a:pPr algn="l"/>
                      <a:r>
                        <a:rPr sz="1100" b="0" i="0">
                          <a:solidFill>
                            <a:srgbClr val="262626"/>
                          </a:solidFill>
                          <a:latin typeface="Calibri"/>
                        </a:rPr>
                        <a:t>Data loading and verification</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Done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counts checked; language mix differs from plan</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83464">
                <a:tc>
                  <a:txBody>
                    <a:bodyPr wrap="square"/>
                    <a:lstStyle/>
                    <a:p>
                      <a:pPr algn="l"/>
                      <a:r>
                        <a:rPr sz="1100" b="0" i="0">
                          <a:solidFill>
                            <a:srgbClr val="262626"/>
                          </a:solidFill>
                          <a:latin typeface="Calibri"/>
                        </a:rPr>
                        <a:t>Diff parser, intent consolidation</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Done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rule-based; 97.4% agreement sample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83464">
                <a:tc>
                  <a:txBody>
                    <a:bodyPr wrap="square"/>
                    <a:lstStyle/>
                    <a:p>
                      <a:pPr algn="l"/>
                      <a:r>
                        <a:rPr sz="1100" b="0" i="0">
                          <a:solidFill>
                            <a:srgbClr val="262626"/>
                          </a:solidFill>
                          <a:latin typeface="Calibri"/>
                        </a:rPr>
                        <a:t>Model, losses, training loop</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Done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ModernBERT-base, multi-task, focal loss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83464">
                <a:tc>
                  <a:txBody>
                    <a:bodyPr wrap="square"/>
                    <a:lstStyle/>
                    <a:p>
                      <a:pPr algn="l"/>
                      <a:r>
                        <a:rPr sz="1100" b="0" i="0">
                          <a:solidFill>
                            <a:srgbClr val="262626"/>
                          </a:solidFill>
                          <a:latin typeface="Calibri"/>
                        </a:rPr>
                        <a:t>Baselines B1-B5, BiLSTM, MiniLM, CodeBERT</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Done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reduced budget for neural baselines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83464">
                <a:tc>
                  <a:txBody>
                    <a:bodyPr wrap="square"/>
                    <a:lstStyle/>
                    <a:p>
                      <a:pPr algn="l"/>
                      <a:r>
                        <a:rPr sz="1100" b="0" i="0">
                          <a:solidFill>
                            <a:srgbClr val="262626"/>
                          </a:solidFill>
                          <a:latin typeface="Calibri"/>
                        </a:rPr>
                        <a:t>Calibration, distillation, INT8 ONNX</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Done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T = 1.275; 22.9 MB student</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83464">
                <a:tc>
                  <a:txBody>
                    <a:bodyPr wrap="square"/>
                    <a:lstStyle/>
                    <a:p>
                      <a:pPr algn="l"/>
                      <a:r>
                        <a:rPr sz="1100" b="0" i="0">
                          <a:solidFill>
                            <a:srgbClr val="262626"/>
                          </a:solidFill>
                          <a:latin typeface="Calibri"/>
                        </a:rPr>
                        <a:t>Denoising, noise study</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Reduced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co-teaching helper not run</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83464">
                <a:tc>
                  <a:txBody>
                    <a:bodyPr wrap="square"/>
                    <a:lstStyle/>
                    <a:p>
                      <a:pPr algn="l"/>
                      <a:r>
                        <a:rPr sz="1100" b="0" i="0">
                          <a:solidFill>
                            <a:srgbClr val="262626"/>
                          </a:solidFill>
                          <a:latin typeface="Calibri"/>
                        </a:rPr>
                        <a:t>K-means, GAN-style baseline, XAI</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Done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k-means adds little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83464">
                <a:tc>
                  <a:txBody>
                    <a:bodyPr wrap="square"/>
                    <a:lstStyle/>
                    <a:p>
                      <a:pPr algn="l"/>
                      <a:r>
                        <a:rPr sz="1100" b="0" i="0">
                          <a:solidFill>
                            <a:srgbClr val="262626"/>
                          </a:solidFill>
                          <a:latin typeface="Calibri"/>
                        </a:rPr>
                        <a:t>Ablations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Reduced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6 full runs, one seed; rules-only dropped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83464">
                <a:tc>
                  <a:txBody>
                    <a:bodyPr wrap="square"/>
                    <a:lstStyle/>
                    <a:p>
                      <a:pPr algn="l"/>
                      <a:r>
                        <a:rPr sz="1100" b="0" i="0">
                          <a:solidFill>
                            <a:srgbClr val="262626"/>
                          </a:solidFill>
                          <a:latin typeface="Calibri"/>
                        </a:rPr>
                        <a:t>Hyper-parameter search</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Reduced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6 Optuna trials, planned 60</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283464">
                <a:tc>
                  <a:txBody>
                    <a:bodyPr wrap="square"/>
                    <a:lstStyle/>
                    <a:p>
                      <a:pPr algn="l"/>
                      <a:r>
                        <a:rPr sz="1100" b="0" i="0">
                          <a:solidFill>
                            <a:srgbClr val="262626"/>
                          </a:solidFill>
                          <a:latin typeface="Calibri"/>
                        </a:rPr>
                        <a:t>Backend API, frontend, tests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ctr"/>
                      <a:r>
                        <a:rPr sz="1100" b="0" i="0">
                          <a:solidFill>
                            <a:srgbClr val="262626"/>
                          </a:solidFill>
                          <a:latin typeface="Calibri"/>
                        </a:rPr>
                        <a:t>Done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220 tests, 0 failed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bl>
          </a:graphicData>
        </a:graphic>
      </p:graphicFrame>
      <p:sp>
        <p:nvSpPr>
          <p:cNvPr id="9" name="TextBox 8"/>
          <p:cNvSpPr txBox="1"/>
          <p:nvPr/>
        </p:nvSpPr>
        <p:spPr>
          <a:xfrm>
            <a:off x="320040" y="4133087"/>
            <a:ext cx="8503920" cy="36576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Not done: UniXcoder (download stalled), multiple seeds, human-labelled evaluation.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Application UI: review workspace</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25</a:t>
            </a:r>
          </a:p>
        </p:txBody>
      </p:sp>
      <p:pic>
        <p:nvPicPr>
          <p:cNvPr id="8" name="Picture 7" descr="review_explained_desktop_light.png"/>
          <p:cNvPicPr>
            <a:picLocks noChangeAspect="1"/>
          </p:cNvPicPr>
          <p:nvPr/>
        </p:nvPicPr>
        <p:blipFill>
          <a:blip r:embed="rId4"/>
          <a:stretch>
            <a:fillRect/>
          </a:stretch>
        </p:blipFill>
        <p:spPr>
          <a:xfrm>
            <a:off x="274320" y="731520"/>
            <a:ext cx="5486400" cy="3429000"/>
          </a:xfrm>
          <a:prstGeom prst="rect">
            <a:avLst/>
          </a:prstGeom>
        </p:spPr>
      </p:pic>
      <p:pic>
        <p:nvPicPr>
          <p:cNvPr id="9" name="Picture 8" descr="ui_landing.png"/>
          <p:cNvPicPr>
            <a:picLocks noChangeAspect="1"/>
          </p:cNvPicPr>
          <p:nvPr/>
        </p:nvPicPr>
        <p:blipFill>
          <a:blip r:embed="rId5"/>
          <a:stretch>
            <a:fillRect/>
          </a:stretch>
        </p:blipFill>
        <p:spPr>
          <a:xfrm>
            <a:off x="5897880" y="732377"/>
            <a:ext cx="2971800" cy="1671637"/>
          </a:xfrm>
          <a:prstGeom prst="rect">
            <a:avLst/>
          </a:prstGeom>
        </p:spPr>
      </p:pic>
      <p:sp>
        <p:nvSpPr>
          <p:cNvPr id="10" name="TextBox 9"/>
          <p:cNvSpPr txBox="1"/>
          <p:nvPr/>
        </p:nvSpPr>
        <p:spPr>
          <a:xfrm>
            <a:off x="5852160" y="2468880"/>
            <a:ext cx="3017520" cy="1645920"/>
          </a:xfrm>
          <a:prstGeom prst="rect">
            <a:avLst/>
          </a:prstGeom>
          <a:noFill/>
        </p:spPr>
        <p:txBody>
          <a:bodyPr wrap="square" anchor="t" lIns="73152" rIns="73152" tIns="36576" bIns="36576">
            <a:spAutoFit/>
          </a:bodyPr>
          <a:lstStyle/>
          <a:p>
            <a:pPr algn="l">
              <a:spcAft>
                <a:spcPts val="400"/>
              </a:spcAft>
            </a:pPr>
            <a:r>
              <a:rPr sz="1100" b="1" i="0">
                <a:solidFill>
                  <a:srgbClr val="FF0000"/>
                </a:solidFill>
                <a:latin typeface="Calibri"/>
              </a:rPr>
              <a:t>Right: landing page. Left: workspace after analysis</a:t>
            </a:r>
          </a:p>
          <a:p>
            <a:pPr algn="l" marL="146304" indent="-146304">
              <a:spcAft>
                <a:spcPts val="400"/>
              </a:spcAft>
              <a:buFont typeface="Arial"/>
              <a:buChar char="•"/>
            </a:pPr>
            <a:r>
              <a:rPr sz="1100" b="0" i="0">
                <a:solidFill>
                  <a:srgbClr val="262626"/>
                </a:solidFill>
                <a:latin typeface="Calibri"/>
              </a:rPr>
              <a:t>Ranked hunk cards, threshold slider</a:t>
            </a:r>
          </a:p>
          <a:p>
            <a:pPr algn="l" marL="146304" indent="-146304">
              <a:spcAft>
                <a:spcPts val="400"/>
              </a:spcAft>
              <a:buFont typeface="Arial"/>
              <a:buChar char="•"/>
            </a:pPr>
            <a:r>
              <a:rPr sz="1100" b="0" i="0">
                <a:solidFill>
                  <a:srgbClr val="262626"/>
                </a:solidFill>
                <a:latin typeface="Calibri"/>
              </a:rPr>
              <a:t>Highlighted tokens and lines (IG)</a:t>
            </a:r>
          </a:p>
          <a:p>
            <a:pPr algn="l" marL="146304" indent="-146304">
              <a:spcAft>
                <a:spcPts val="400"/>
              </a:spcAft>
              <a:buFont typeface="Arial"/>
              <a:buChar char="•"/>
            </a:pPr>
            <a:r>
              <a:rPr sz="1100" b="0" i="0">
                <a:solidFill>
                  <a:srgbClr val="262626"/>
                </a:solidFill>
                <a:latin typeface="Calibri"/>
              </a:rPr>
              <a:t>Model switcher: main, INT8 student, baselines</a:t>
            </a:r>
          </a:p>
          <a:p>
            <a:pPr algn="l" marL="146304" indent="-146304">
              <a:spcAft>
                <a:spcPts val="400"/>
              </a:spcAft>
              <a:buFont typeface="Arial"/>
              <a:buChar char="•"/>
            </a:pPr>
            <a:r>
              <a:rPr sz="1100" b="0" i="0">
                <a:solidFill>
                  <a:srgbClr val="262626"/>
                </a:solidFill>
                <a:latin typeface="Calibri"/>
              </a:rPr>
              <a:t>Keyboard: Accept a, Flag f, Discuss d</a:t>
            </a:r>
          </a:p>
        </p:txBody>
      </p:sp>
      <p:sp>
        <p:nvSpPr>
          <p:cNvPr id="11" name="TextBox 10"/>
          <p:cNvSpPr txBox="1"/>
          <p:nvPr/>
        </p:nvSpPr>
        <p:spPr>
          <a:xfrm>
            <a:off x="320040" y="4160520"/>
            <a:ext cx="8503920" cy="36576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Real screenshots from the running application; analysis ran on a real test-set sample.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Application UI: developer console</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26</a:t>
            </a:r>
          </a:p>
        </p:txBody>
      </p:sp>
      <p:sp>
        <p:nvSpPr>
          <p:cNvPr id="8" name="TextBox 7"/>
          <p:cNvSpPr txBox="1"/>
          <p:nvPr/>
        </p:nvSpPr>
        <p:spPr>
          <a:xfrm>
            <a:off x="320040" y="713232"/>
            <a:ext cx="4114800" cy="219456"/>
          </a:xfrm>
          <a:prstGeom prst="rect">
            <a:avLst/>
          </a:prstGeom>
          <a:noFill/>
        </p:spPr>
        <p:txBody>
          <a:bodyPr wrap="square" anchor="t" lIns="73152" rIns="73152" tIns="36576" bIns="36576">
            <a:spAutoFit/>
          </a:bodyPr>
          <a:lstStyle/>
          <a:p>
            <a:pPr algn="l">
              <a:spcAft>
                <a:spcPts val="400"/>
              </a:spcAft>
            </a:pPr>
            <a:r>
              <a:rPr sz="1150" b="1" i="0">
                <a:solidFill>
                  <a:srgbClr val="FF0000"/>
                </a:solidFill>
                <a:latin typeface="Calibri"/>
              </a:rPr>
              <a:t>Console overview</a:t>
            </a:r>
          </a:p>
        </p:txBody>
      </p:sp>
      <p:pic>
        <p:nvPicPr>
          <p:cNvPr id="9" name="Picture 8" descr="ui_dev0.png"/>
          <p:cNvPicPr>
            <a:picLocks noChangeAspect="1"/>
          </p:cNvPicPr>
          <p:nvPr/>
        </p:nvPicPr>
        <p:blipFill>
          <a:blip r:embed="rId4"/>
          <a:stretch>
            <a:fillRect/>
          </a:stretch>
        </p:blipFill>
        <p:spPr>
          <a:xfrm>
            <a:off x="437605" y="941832"/>
            <a:ext cx="3879668" cy="1481328"/>
          </a:xfrm>
          <a:prstGeom prst="rect">
            <a:avLst/>
          </a:prstGeom>
        </p:spPr>
      </p:pic>
      <p:sp>
        <p:nvSpPr>
          <p:cNvPr id="10" name="TextBox 9"/>
          <p:cNvSpPr txBox="1"/>
          <p:nvPr/>
        </p:nvSpPr>
        <p:spPr>
          <a:xfrm>
            <a:off x="4617720" y="713232"/>
            <a:ext cx="4114800" cy="219456"/>
          </a:xfrm>
          <a:prstGeom prst="rect">
            <a:avLst/>
          </a:prstGeom>
          <a:noFill/>
        </p:spPr>
        <p:txBody>
          <a:bodyPr wrap="square" anchor="t" lIns="73152" rIns="73152" tIns="36576" bIns="36576">
            <a:spAutoFit/>
          </a:bodyPr>
          <a:lstStyle/>
          <a:p>
            <a:pPr algn="l">
              <a:spcAft>
                <a:spcPts val="400"/>
              </a:spcAft>
            </a:pPr>
            <a:r>
              <a:rPr sz="1150" b="1" i="0">
                <a:solidFill>
                  <a:srgbClr val="FF0000"/>
                </a:solidFill>
                <a:latin typeface="Calibri"/>
              </a:rPr>
              <a:t>Results dashboard</a:t>
            </a:r>
          </a:p>
        </p:txBody>
      </p:sp>
      <p:pic>
        <p:nvPicPr>
          <p:cNvPr id="11" name="Picture 10" descr="ui_dev1.png"/>
          <p:cNvPicPr>
            <a:picLocks noChangeAspect="1"/>
          </p:cNvPicPr>
          <p:nvPr/>
        </p:nvPicPr>
        <p:blipFill>
          <a:blip r:embed="rId5"/>
          <a:stretch>
            <a:fillRect/>
          </a:stretch>
        </p:blipFill>
        <p:spPr>
          <a:xfrm>
            <a:off x="4735285" y="941832"/>
            <a:ext cx="3879668" cy="1481328"/>
          </a:xfrm>
          <a:prstGeom prst="rect">
            <a:avLst/>
          </a:prstGeom>
        </p:spPr>
      </p:pic>
      <p:sp>
        <p:nvSpPr>
          <p:cNvPr id="12" name="TextBox 11"/>
          <p:cNvSpPr txBox="1"/>
          <p:nvPr/>
        </p:nvSpPr>
        <p:spPr>
          <a:xfrm>
            <a:off x="320040" y="2432304"/>
            <a:ext cx="4114800" cy="219456"/>
          </a:xfrm>
          <a:prstGeom prst="rect">
            <a:avLst/>
          </a:prstGeom>
          <a:noFill/>
        </p:spPr>
        <p:txBody>
          <a:bodyPr wrap="square" anchor="t" lIns="73152" rIns="73152" tIns="36576" bIns="36576">
            <a:spAutoFit/>
          </a:bodyPr>
          <a:lstStyle/>
          <a:p>
            <a:pPr algn="l">
              <a:spcAft>
                <a:spcPts val="400"/>
              </a:spcAft>
            </a:pPr>
            <a:r>
              <a:rPr sz="1150" b="1" i="0">
                <a:solidFill>
                  <a:srgbClr val="FF0000"/>
                </a:solidFill>
                <a:latin typeface="Calibri"/>
              </a:rPr>
              <a:t>Experiments</a:t>
            </a:r>
          </a:p>
        </p:txBody>
      </p:sp>
      <p:pic>
        <p:nvPicPr>
          <p:cNvPr id="13" name="Picture 12" descr="ui_dev2.png"/>
          <p:cNvPicPr>
            <a:picLocks noChangeAspect="1"/>
          </p:cNvPicPr>
          <p:nvPr/>
        </p:nvPicPr>
        <p:blipFill>
          <a:blip r:embed="rId6"/>
          <a:stretch>
            <a:fillRect/>
          </a:stretch>
        </p:blipFill>
        <p:spPr>
          <a:xfrm>
            <a:off x="437605" y="2660904"/>
            <a:ext cx="3879668" cy="1481328"/>
          </a:xfrm>
          <a:prstGeom prst="rect">
            <a:avLst/>
          </a:prstGeom>
        </p:spPr>
      </p:pic>
      <p:sp>
        <p:nvSpPr>
          <p:cNvPr id="14" name="TextBox 13"/>
          <p:cNvSpPr txBox="1"/>
          <p:nvPr/>
        </p:nvSpPr>
        <p:spPr>
          <a:xfrm>
            <a:off x="4617720" y="2432304"/>
            <a:ext cx="4114800" cy="219456"/>
          </a:xfrm>
          <a:prstGeom prst="rect">
            <a:avLst/>
          </a:prstGeom>
          <a:noFill/>
        </p:spPr>
        <p:txBody>
          <a:bodyPr wrap="square" anchor="t" lIns="73152" rIns="73152" tIns="36576" bIns="36576">
            <a:spAutoFit/>
          </a:bodyPr>
          <a:lstStyle/>
          <a:p>
            <a:pPr algn="l">
              <a:spcAft>
                <a:spcPts val="400"/>
              </a:spcAft>
            </a:pPr>
            <a:r>
              <a:rPr sz="1150" b="1" i="0">
                <a:solidFill>
                  <a:srgbClr val="FF0000"/>
                </a:solidFill>
                <a:latin typeface="Calibri"/>
              </a:rPr>
              <a:t>Dataset explorer</a:t>
            </a:r>
          </a:p>
        </p:txBody>
      </p:sp>
      <p:pic>
        <p:nvPicPr>
          <p:cNvPr id="15" name="Picture 14" descr="ui_dev3.png"/>
          <p:cNvPicPr>
            <a:picLocks noChangeAspect="1"/>
          </p:cNvPicPr>
          <p:nvPr/>
        </p:nvPicPr>
        <p:blipFill>
          <a:blip r:embed="rId7"/>
          <a:stretch>
            <a:fillRect/>
          </a:stretch>
        </p:blipFill>
        <p:spPr>
          <a:xfrm>
            <a:off x="4735285" y="2660904"/>
            <a:ext cx="3879668" cy="1481328"/>
          </a:xfrm>
          <a:prstGeom prst="rect">
            <a:avLst/>
          </a:prstGeom>
        </p:spPr>
      </p:pic>
      <p:sp>
        <p:nvSpPr>
          <p:cNvPr id="16" name="TextBox 15"/>
          <p:cNvSpPr txBox="1"/>
          <p:nvPr/>
        </p:nvSpPr>
        <p:spPr>
          <a:xfrm>
            <a:off x="320040" y="4160520"/>
            <a:ext cx="8503920" cy="36576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Console pages: overview, results, experiments, dataset, testing, related work (testing page not shown).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Backend API and deployment status</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27</a:t>
            </a:r>
          </a:p>
        </p:txBody>
      </p:sp>
      <p:graphicFrame>
        <p:nvGraphicFramePr>
          <p:cNvPr id="8" name="Table 7"/>
          <p:cNvGraphicFramePr>
            <a:graphicFrameLocks noGrp="1"/>
          </p:cNvGraphicFramePr>
          <p:nvPr/>
        </p:nvGraphicFramePr>
        <p:xfrm>
          <a:off x="320040" y="731520"/>
          <a:ext cx="5120640" cy="3017520"/>
        </p:xfrm>
        <a:graphic>
          <a:graphicData uri="http://schemas.openxmlformats.org/drawingml/2006/table">
            <a:tbl>
              <a:tblPr firstRow="1" bandRow="0">
                <a:tableStyleId>{5C22544A-7EE6-4342-B048-85BDC9FD1C3A}</a:tableStyleId>
              </a:tblPr>
              <a:tblGrid>
                <a:gridCol w="1920240"/>
                <a:gridCol w="3200400"/>
              </a:tblGrid>
              <a:tr h="274320">
                <a:tc>
                  <a:txBody>
                    <a:bodyPr wrap="square"/>
                    <a:lstStyle/>
                    <a:p>
                      <a:pPr algn="l"/>
                      <a:r>
                        <a:rPr sz="1100" b="1" i="0">
                          <a:solidFill>
                            <a:srgbClr val="FFFFFF"/>
                          </a:solidFill>
                          <a:latin typeface="Calibri"/>
                        </a:rPr>
                        <a:t>Endpoint</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l"/>
                      <a:r>
                        <a:rPr sz="1100" b="1" i="0">
                          <a:solidFill>
                            <a:srgbClr val="FFFFFF"/>
                          </a:solidFill>
                          <a:latin typeface="Calibri"/>
                        </a:rPr>
                        <a:t>Purpose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r>
              <a:tr h="457200">
                <a:tc>
                  <a:txBody>
                    <a:bodyPr wrap="square"/>
                    <a:lstStyle/>
                    <a:p>
                      <a:pPr algn="l"/>
                      <a:r>
                        <a:rPr sz="1100" b="0" i="0">
                          <a:solidFill>
                            <a:srgbClr val="262626"/>
                          </a:solidFill>
                          <a:latin typeface="Calibri"/>
                        </a:rPr>
                        <a:t>POST /api/analyze</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turns + diff or sample id: intent, per-hunk P, drift, cluster, rank, attributions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457200">
                <a:tc>
                  <a:txBody>
                    <a:bodyPr wrap="square"/>
                    <a:lstStyle/>
                    <a:p>
                      <a:pPr algn="l"/>
                      <a:r>
                        <a:rPr sz="1100" b="0" i="0">
                          <a:solidFill>
                            <a:srgbClr val="262626"/>
                          </a:solidFill>
                          <a:latin typeface="Calibri"/>
                        </a:rPr>
                        <a:t>GET /api/samples, /{id}</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curated test-set examples with ground truth</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457200">
                <a:tc>
                  <a:txBody>
                    <a:bodyPr wrap="square"/>
                    <a:lstStyle/>
                    <a:p>
                      <a:pPr algn="l"/>
                      <a:r>
                        <a:rPr sz="1100" b="0" i="0">
                          <a:solidFill>
                            <a:srgbClr val="262626"/>
                          </a:solidFill>
                          <a:latin typeface="Calibri"/>
                        </a:rPr>
                        <a:t>GET /api/models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main, student/INT8, baselines for the switcher</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457200">
                <a:tc>
                  <a:txBody>
                    <a:bodyPr wrap="square"/>
                    <a:lstStyle/>
                    <a:p>
                      <a:pPr algn="l"/>
                      <a:r>
                        <a:rPr sz="1100" b="0" i="0">
                          <a:solidFill>
                            <a:srgbClr val="262626"/>
                          </a:solidFill>
                          <a:latin typeface="Calibri"/>
                        </a:rPr>
                        <a:t>GET /api/results/*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JSON behind the dashboards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457200">
                <a:tc>
                  <a:txBody>
                    <a:bodyPr wrap="square"/>
                    <a:lstStyle/>
                    <a:p>
                      <a:pPr algn="l"/>
                      <a:r>
                        <a:rPr sz="1100" b="0" i="0">
                          <a:solidFill>
                            <a:srgbClr val="262626"/>
                          </a:solidFill>
                          <a:latin typeface="Calibri"/>
                        </a:rPr>
                        <a:t>GET /api/dataset/stats, /api/tests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dataset statistics, test and coverage summary</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r h="457200">
                <a:tc>
                  <a:txBody>
                    <a:bodyPr wrap="square"/>
                    <a:lstStyle/>
                    <a:p>
                      <a:pPr algn="l"/>
                      <a:r>
                        <a:rPr sz="1100" b="0" i="0">
                          <a:solidFill>
                            <a:srgbClr val="262626"/>
                          </a:solidFill>
                          <a:latin typeface="Calibri"/>
                        </a:rPr>
                        <a:t>GET /api/health</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100" b="0" i="0">
                          <a:solidFill>
                            <a:srgbClr val="262626"/>
                          </a:solidFill>
                          <a:latin typeface="Calibri"/>
                        </a:rPr>
                        <a:t>readiness; OpenAPI docs at /docs</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bl>
          </a:graphicData>
        </a:graphic>
      </p:graphicFrame>
      <p:sp>
        <p:nvSpPr>
          <p:cNvPr id="9" name="Rectangle 8"/>
          <p:cNvSpPr/>
          <p:nvPr/>
        </p:nvSpPr>
        <p:spPr>
          <a:xfrm>
            <a:off x="5577840" y="731520"/>
            <a:ext cx="3246120" cy="320040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23559" y="768096"/>
            <a:ext cx="3154679" cy="3127248"/>
          </a:xfrm>
          <a:prstGeom prst="rect">
            <a:avLst/>
          </a:prstGeom>
          <a:noFill/>
        </p:spPr>
        <p:txBody>
          <a:bodyPr wrap="square" anchor="t" lIns="73152" rIns="73152" tIns="36576" bIns="36576">
            <a:spAutoFit/>
          </a:bodyPr>
          <a:lstStyle/>
          <a:p>
            <a:pPr algn="l">
              <a:spcAft>
                <a:spcPts val="400"/>
              </a:spcAft>
            </a:pPr>
            <a:r>
              <a:rPr sz="1300" b="1" i="0">
                <a:solidFill>
                  <a:srgbClr val="FF0000"/>
                </a:solidFill>
                <a:latin typeface="Calibri"/>
              </a:rPr>
              <a:t>Deployment</a:t>
            </a:r>
          </a:p>
          <a:p>
            <a:pPr algn="l">
              <a:spcAft>
                <a:spcPts val="400"/>
              </a:spcAft>
            </a:pPr>
            <a:r>
              <a:rPr sz="1150" b="1" i="0">
                <a:solidFill>
                  <a:srgbClr val="262626"/>
                </a:solidFill>
                <a:latin typeface="Calibri"/>
              </a:rPr>
              <a:t>Hosted link: not live yet</a:t>
            </a:r>
          </a:p>
          <a:p>
            <a:pPr algn="l">
              <a:spcAft>
                <a:spcPts val="400"/>
              </a:spcAft>
            </a:pPr>
            <a:r>
              <a:rPr sz="1150" b="0" i="0">
                <a:solidFill>
                  <a:srgbClr val="262626"/>
                </a:solidFill>
                <a:latin typeface="Calibri"/>
              </a:rPr>
              <a:t>Local launch: make demo  (backend :8000, UI :5173)</a:t>
            </a:r>
          </a:p>
          <a:p>
            <a:pPr algn="l">
              <a:spcAft>
                <a:spcPts val="400"/>
              </a:spcAft>
            </a:pPr>
            <a:r>
              <a:rPr sz="1150" b="0" i="0">
                <a:solidFill>
                  <a:srgbClr val="262626"/>
                </a:solidFill>
                <a:latin typeface="Calibri"/>
                <a:hlinkClick r:id="rId4"/>
              </a:rPr>
              <a:t>Repository: https://github.com/Kundhave/sift</a:t>
            </a:r>
          </a:p>
          <a:p>
            <a:pPr algn="l">
              <a:spcAft>
                <a:spcPts val="400"/>
              </a:spcAft>
            </a:pPr>
            <a:r>
              <a:rPr sz="1150" b="0" i="0">
                <a:solidFill>
                  <a:srgbClr val="262626"/>
                </a:solidFill>
                <a:latin typeface="Calibri"/>
              </a:rPr>
              <a:t>Deployment package: ready in deploy/ (Dockerfile, Hugging Face Spaces script); not deployed yet, Docker build not run</a:t>
            </a:r>
          </a:p>
          <a:p>
            <a:pPr algn="l">
              <a:spcAft>
                <a:spcPts val="400"/>
              </a:spcAft>
            </a:pPr>
            <a:r>
              <a:rPr sz="1150" b="0" i="0">
                <a:solidFill>
                  <a:srgbClr val="262626"/>
                </a:solidFill>
                <a:latin typeface="Calibri"/>
              </a:rPr>
              <a:t>CPU-only inference by default; no code leaves the machine.</a:t>
            </a:r>
          </a:p>
        </p:txBody>
      </p:sp>
      <p:sp>
        <p:nvSpPr>
          <p:cNvPr id="11" name="TextBox 10"/>
          <p:cNvSpPr txBox="1"/>
          <p:nvPr/>
        </p:nvSpPr>
        <p:spPr>
          <a:xfrm>
            <a:off x="320040" y="4114800"/>
            <a:ext cx="8503920" cy="41148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One command starts backend and frontend: make demo.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SDG relevance</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28</a:t>
            </a:r>
          </a:p>
        </p:txBody>
      </p:sp>
      <p:sp>
        <p:nvSpPr>
          <p:cNvPr id="8" name="Rectangle 7"/>
          <p:cNvSpPr/>
          <p:nvPr/>
        </p:nvSpPr>
        <p:spPr>
          <a:xfrm>
            <a:off x="320040" y="777240"/>
            <a:ext cx="4160520" cy="173736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59" y="813816"/>
            <a:ext cx="4069080" cy="1664207"/>
          </a:xfrm>
          <a:prstGeom prst="rect">
            <a:avLst/>
          </a:prstGeom>
          <a:noFill/>
        </p:spPr>
        <p:txBody>
          <a:bodyPr wrap="square" anchor="t" lIns="73152" rIns="73152" tIns="36576" bIns="36576">
            <a:spAutoFit/>
          </a:bodyPr>
          <a:lstStyle/>
          <a:p>
            <a:pPr algn="l">
              <a:spcAft>
                <a:spcPts val="300"/>
              </a:spcAft>
            </a:pPr>
            <a:r>
              <a:rPr sz="1250" b="1" i="0">
                <a:solidFill>
                  <a:srgbClr val="FF0000"/>
                </a:solidFill>
                <a:latin typeface="Calibri"/>
              </a:rPr>
              <a:t>SDG 9 (primary): Industry, Innovation and Infrastructure</a:t>
            </a:r>
          </a:p>
          <a:p>
            <a:pPr algn="l" marL="146304" indent="-146304">
              <a:spcAft>
                <a:spcPts val="400"/>
              </a:spcAft>
              <a:buFont typeface="Arial"/>
              <a:buChar char="•"/>
            </a:pPr>
            <a:r>
              <a:rPr sz="1150" b="0" i="0">
                <a:solidFill>
                  <a:srgbClr val="262626"/>
                </a:solidFill>
                <a:latin typeface="Calibri"/>
              </a:rPr>
              <a:t>Trustworthy AI-assisted software engineering</a:t>
            </a:r>
          </a:p>
          <a:p>
            <a:pPr algn="l" marL="146304" indent="-146304">
              <a:spcAft>
                <a:spcPts val="400"/>
              </a:spcAft>
              <a:buFont typeface="Arial"/>
              <a:buChar char="•"/>
            </a:pPr>
            <a:r>
              <a:rPr sz="1150" b="0" i="0">
                <a:solidFill>
                  <a:srgbClr val="262626"/>
                </a:solidFill>
                <a:latin typeface="Calibri"/>
              </a:rPr>
              <a:t>Verification layer between agent and developer</a:t>
            </a:r>
          </a:p>
          <a:p>
            <a:pPr algn="l" marL="146304" indent="-146304">
              <a:spcAft>
                <a:spcPts val="400"/>
              </a:spcAft>
              <a:buFont typeface="Arial"/>
              <a:buChar char="•"/>
            </a:pPr>
            <a:r>
              <a:rPr sz="1150" b="0" i="0">
                <a:solidFill>
                  <a:srgbClr val="262626"/>
                </a:solidFill>
                <a:latin typeface="Calibri"/>
              </a:rPr>
              <a:t>Open, documented dataset and reproducible pipeline</a:t>
            </a:r>
          </a:p>
        </p:txBody>
      </p:sp>
      <p:sp>
        <p:nvSpPr>
          <p:cNvPr id="10" name="Rectangle 9"/>
          <p:cNvSpPr/>
          <p:nvPr/>
        </p:nvSpPr>
        <p:spPr>
          <a:xfrm>
            <a:off x="4617720" y="777240"/>
            <a:ext cx="4206240" cy="173736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813816"/>
            <a:ext cx="4114800" cy="1664207"/>
          </a:xfrm>
          <a:prstGeom prst="rect">
            <a:avLst/>
          </a:prstGeom>
          <a:noFill/>
        </p:spPr>
        <p:txBody>
          <a:bodyPr wrap="square" anchor="t" lIns="73152" rIns="73152" tIns="36576" bIns="36576">
            <a:spAutoFit/>
          </a:bodyPr>
          <a:lstStyle/>
          <a:p>
            <a:pPr algn="l">
              <a:spcAft>
                <a:spcPts val="300"/>
              </a:spcAft>
            </a:pPr>
            <a:r>
              <a:rPr sz="1250" b="1" i="0">
                <a:solidFill>
                  <a:srgbClr val="FF0000"/>
                </a:solidFill>
                <a:latin typeface="Calibri"/>
              </a:rPr>
              <a:t>SDG 8 (secondary): Decent Work and Economic Growth</a:t>
            </a:r>
          </a:p>
          <a:p>
            <a:pPr algn="l" marL="146304" indent="-146304">
              <a:spcAft>
                <a:spcPts val="400"/>
              </a:spcAft>
              <a:buFont typeface="Arial"/>
              <a:buChar char="•"/>
            </a:pPr>
            <a:r>
              <a:rPr sz="1150" b="0" i="0">
                <a:solidFill>
                  <a:srgbClr val="262626"/>
                </a:solidFill>
                <a:latin typeface="Calibri"/>
              </a:rPr>
              <a:t>Less reviewer burden: likeliest problems first</a:t>
            </a:r>
          </a:p>
          <a:p>
            <a:pPr algn="l" marL="146304" indent="-146304">
              <a:spcAft>
                <a:spcPts val="400"/>
              </a:spcAft>
              <a:buFont typeface="Arial"/>
              <a:buChar char="•"/>
            </a:pPr>
            <a:r>
              <a:rPr sz="1150" b="0" i="0">
                <a:solidFill>
                  <a:srgbClr val="262626"/>
                </a:solidFill>
                <a:latin typeface="Calibri"/>
              </a:rPr>
              <a:t>Local, CPU-capable: no cloud dependency or code upload</a:t>
            </a:r>
          </a:p>
        </p:txBody>
      </p:sp>
      <p:sp>
        <p:nvSpPr>
          <p:cNvPr id="12" name="Rectangle 11"/>
          <p:cNvSpPr/>
          <p:nvPr/>
        </p:nvSpPr>
        <p:spPr>
          <a:xfrm>
            <a:off x="320040" y="2651760"/>
            <a:ext cx="8503920" cy="137160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59" y="2688336"/>
            <a:ext cx="8412480" cy="1298448"/>
          </a:xfrm>
          <a:prstGeom prst="rect">
            <a:avLst/>
          </a:prstGeom>
          <a:noFill/>
        </p:spPr>
        <p:txBody>
          <a:bodyPr wrap="square" anchor="t" lIns="73152" rIns="73152" tIns="36576" bIns="36576">
            <a:spAutoFit/>
          </a:bodyPr>
          <a:lstStyle/>
          <a:p>
            <a:pPr algn="l">
              <a:spcAft>
                <a:spcPts val="300"/>
              </a:spcAft>
            </a:pPr>
            <a:r>
              <a:rPr sz="1250" b="1" i="0">
                <a:solidFill>
                  <a:srgbClr val="FF0000"/>
                </a:solidFill>
                <a:latin typeface="Calibri"/>
              </a:rPr>
              <a:t>Evidence and limits</a:t>
            </a:r>
          </a:p>
          <a:p>
            <a:pPr algn="l" marL="146304" indent="-146304">
              <a:spcAft>
                <a:spcPts val="400"/>
              </a:spcAft>
              <a:buFont typeface="Arial"/>
              <a:buChar char="•"/>
            </a:pPr>
            <a:r>
              <a:rPr sz="1150" b="0" i="0">
                <a:solidFill>
                  <a:srgbClr val="262626"/>
                </a:solidFill>
                <a:latin typeface="Calibri"/>
              </a:rPr>
              <a:t>Ranking evidence: NDCG@5 0.868 vs 0.724 for random order (test split).</a:t>
            </a:r>
          </a:p>
          <a:p>
            <a:pPr algn="l" marL="146304" indent="-146304">
              <a:spcAft>
                <a:spcPts val="400"/>
              </a:spcAft>
              <a:buFont typeface="Arial"/>
              <a:buChar char="•"/>
            </a:pPr>
            <a:r>
              <a:rPr sz="1150" b="0" i="0">
                <a:solidFill>
                  <a:srgbClr val="262626"/>
                </a:solidFill>
                <a:latin typeface="Calibri"/>
              </a:rPr>
              <a:t>Reviewer time saved is not measured; no user study has been run.</a:t>
            </a:r>
          </a:p>
          <a:p>
            <a:pPr algn="l" marL="146304" indent="-146304">
              <a:spcAft>
                <a:spcPts val="400"/>
              </a:spcAft>
              <a:buFont typeface="Arial"/>
              <a:buChar char="•"/>
            </a:pPr>
            <a:r>
              <a:rPr sz="1150" b="0" i="0">
                <a:solidFill>
                  <a:srgbClr val="262626"/>
                </a:solidFill>
                <a:latin typeface="Calibri"/>
              </a:rPr>
              <a:t>Labels are constructed, so real-world benefit needs human validation.</a:t>
            </a:r>
          </a:p>
        </p:txBody>
      </p:sp>
      <p:sp>
        <p:nvSpPr>
          <p:cNvPr id="14" name="TextBox 13"/>
          <p:cNvSpPr txBox="1"/>
          <p:nvPr/>
        </p:nvSpPr>
        <p:spPr>
          <a:xfrm>
            <a:off x="320040" y="4133087"/>
            <a:ext cx="8503920" cy="36576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SDG 9 primary, SDG 8 secondary.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Discussion: key findings and weak spots</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29</a:t>
            </a:r>
          </a:p>
        </p:txBody>
      </p:sp>
      <p:sp>
        <p:nvSpPr>
          <p:cNvPr id="8" name="Rectangle 7"/>
          <p:cNvSpPr/>
          <p:nvPr/>
        </p:nvSpPr>
        <p:spPr>
          <a:xfrm>
            <a:off x="320040" y="731520"/>
            <a:ext cx="4160520" cy="333756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59" y="768096"/>
            <a:ext cx="4069080" cy="3264408"/>
          </a:xfrm>
          <a:prstGeom prst="rect">
            <a:avLst/>
          </a:prstGeom>
          <a:noFill/>
        </p:spPr>
        <p:txBody>
          <a:bodyPr wrap="square" anchor="t" lIns="73152" rIns="73152" tIns="36576" bIns="36576">
            <a:spAutoFit/>
          </a:bodyPr>
          <a:lstStyle/>
          <a:p>
            <a:pPr algn="l">
              <a:spcAft>
                <a:spcPts val="300"/>
              </a:spcAft>
            </a:pPr>
            <a:r>
              <a:rPr sz="1300" b="1" i="0">
                <a:solidFill>
                  <a:srgbClr val="FF0000"/>
                </a:solidFill>
                <a:latin typeface="Calibri"/>
              </a:rPr>
              <a:t>What the data supports</a:t>
            </a:r>
          </a:p>
          <a:p>
            <a:pPr algn="l" marL="146304" indent="-146304">
              <a:spcAft>
                <a:spcPts val="800"/>
              </a:spcAft>
              <a:buFont typeface="Arial"/>
              <a:buChar char="•"/>
            </a:pPr>
            <a:r>
              <a:rPr sz="1300" b="0" i="0">
                <a:solidFill>
                  <a:srgbClr val="262626"/>
                </a:solidFill>
                <a:latin typeface="Calibri"/>
              </a:rPr>
              <a:t>Hard-tier pairwise AUC 0.726 vs 0.551 for B4/B5.</a:t>
            </a:r>
          </a:p>
          <a:p>
            <a:pPr algn="l" marL="146304" indent="-146304">
              <a:spcAft>
                <a:spcPts val="800"/>
              </a:spcAft>
              <a:buFont typeface="Arial"/>
              <a:buChar char="•"/>
            </a:pPr>
            <a:r>
              <a:rPr sz="1300" b="0" i="0">
                <a:solidFill>
                  <a:srgbClr val="262626"/>
                </a:solidFill>
                <a:latin typeface="Calibri"/>
              </a:rPr>
              <a:t>NDCG@5 0.868 vs 0.724 random order.</a:t>
            </a:r>
          </a:p>
          <a:p>
            <a:pPr algn="l" marL="146304" indent="-146304">
              <a:spcAft>
                <a:spcPts val="800"/>
              </a:spcAft>
              <a:buFont typeface="Arial"/>
              <a:buChar char="•"/>
            </a:pPr>
            <a:r>
              <a:rPr sz="1300" b="0" i="0">
                <a:solidFill>
                  <a:srgbClr val="262626"/>
                </a:solidFill>
                <a:latin typeface="Calibri"/>
              </a:rPr>
              <a:t>Temperature scaling: ECE 0.064 to 0.028.</a:t>
            </a:r>
          </a:p>
          <a:p>
            <a:pPr algn="l" marL="146304" indent="-146304">
              <a:spcAft>
                <a:spcPts val="800"/>
              </a:spcAft>
              <a:buFont typeface="Arial"/>
              <a:buChar char="•"/>
            </a:pPr>
            <a:r>
              <a:rPr sz="1300" b="0" i="0">
                <a:solidFill>
                  <a:srgbClr val="262626"/>
                </a:solidFill>
                <a:latin typeface="Calibri"/>
              </a:rPr>
              <a:t>INT8 student keeps macro-F1 0.667 at 22.9 MB.</a:t>
            </a:r>
          </a:p>
          <a:p>
            <a:pPr algn="l" marL="146304" indent="-146304">
              <a:spcAft>
                <a:spcPts val="800"/>
              </a:spcAft>
              <a:buFont typeface="Arial"/>
              <a:buChar char="•"/>
            </a:pPr>
            <a:r>
              <a:rPr sz="1300" b="0" i="0">
                <a:solidFill>
                  <a:srgbClr val="262626"/>
                </a:solidFill>
                <a:latin typeface="Calibri"/>
              </a:rPr>
              <a:t>Intent-aware joint reading matters: hunk-only and intent-only collapse.</a:t>
            </a:r>
          </a:p>
          <a:p>
            <a:pPr algn="l" marL="146304" indent="-146304">
              <a:spcAft>
                <a:spcPts val="800"/>
              </a:spcAft>
              <a:buFont typeface="Arial"/>
              <a:buChar char="•"/>
            </a:pPr>
            <a:r>
              <a:rPr sz="1300" b="0" i="0">
                <a:solidFill>
                  <a:srgbClr val="262626"/>
                </a:solidFill>
                <a:latin typeface="Calibri"/>
              </a:rPr>
              <a:t>IG masking drops P(misaligned) more than random masking.</a:t>
            </a:r>
          </a:p>
        </p:txBody>
      </p:sp>
      <p:sp>
        <p:nvSpPr>
          <p:cNvPr id="10" name="Rectangle 9"/>
          <p:cNvSpPr/>
          <p:nvPr/>
        </p:nvSpPr>
        <p:spPr>
          <a:xfrm>
            <a:off x="4617720" y="731520"/>
            <a:ext cx="4206240" cy="333756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768096"/>
            <a:ext cx="4114800" cy="3264408"/>
          </a:xfrm>
          <a:prstGeom prst="rect">
            <a:avLst/>
          </a:prstGeom>
          <a:noFill/>
        </p:spPr>
        <p:txBody>
          <a:bodyPr wrap="square" anchor="t" lIns="73152" rIns="73152" tIns="36576" bIns="36576">
            <a:spAutoFit/>
          </a:bodyPr>
          <a:lstStyle/>
          <a:p>
            <a:pPr algn="l">
              <a:spcAft>
                <a:spcPts val="300"/>
              </a:spcAft>
            </a:pPr>
            <a:r>
              <a:rPr sz="1300" b="1" i="0">
                <a:solidFill>
                  <a:srgbClr val="FF0000"/>
                </a:solidFill>
                <a:latin typeface="Calibri"/>
              </a:rPr>
              <a:t>Honest weak spots</a:t>
            </a:r>
          </a:p>
          <a:p>
            <a:pPr algn="l" marL="146304" indent="-146304">
              <a:spcAft>
                <a:spcPts val="800"/>
              </a:spcAft>
              <a:buFont typeface="Arial"/>
              <a:buChar char="•"/>
            </a:pPr>
            <a:r>
              <a:rPr sz="1300" b="0" i="0">
                <a:solidFill>
                  <a:srgbClr val="262626"/>
                </a:solidFill>
                <a:latin typeface="Calibri"/>
              </a:rPr>
              <a:t>Macro-F1 0.680 is below B5 (0.698).</a:t>
            </a:r>
          </a:p>
          <a:p>
            <a:pPr algn="l" marL="146304" indent="-146304">
              <a:spcAft>
                <a:spcPts val="800"/>
              </a:spcAft>
              <a:buFont typeface="Arial"/>
              <a:buChar char="•"/>
            </a:pPr>
            <a:r>
              <a:rPr sz="1300" b="0" i="0">
                <a:solidFill>
                  <a:srgbClr val="262626"/>
                </a:solidFill>
                <a:latin typeface="Calibri"/>
              </a:rPr>
              <a:t>Frozen cosine wins NDCG@5 (0.874).</a:t>
            </a:r>
          </a:p>
          <a:p>
            <a:pPr algn="l" marL="146304" indent="-146304">
              <a:spcAft>
                <a:spcPts val="800"/>
              </a:spcAft>
              <a:buFont typeface="Arial"/>
              <a:buChar char="•"/>
            </a:pPr>
            <a:r>
              <a:rPr sz="1300" b="0" i="0">
                <a:solidFill>
                  <a:srgbClr val="262626"/>
                </a:solidFill>
                <a:latin typeface="Calibri"/>
              </a:rPr>
              <a:t>K-means adds little: purity 0.800 vs 0.780 majority.</a:t>
            </a:r>
          </a:p>
          <a:p>
            <a:pPr algn="l" marL="146304" indent="-146304">
              <a:spcAft>
                <a:spcPts val="800"/>
              </a:spcAft>
              <a:buFont typeface="Arial"/>
              <a:buChar char="•"/>
            </a:pPr>
            <a:r>
              <a:rPr sz="1300" b="0" i="0">
                <a:solidFill>
                  <a:srgbClr val="262626"/>
                </a:solidFill>
                <a:latin typeface="Calibri"/>
              </a:rPr>
              <a:t>Ablated variants are not worse (no focal, no multi-task, no consolidation, no denoising).</a:t>
            </a:r>
          </a:p>
          <a:p>
            <a:pPr algn="l" marL="146304" indent="-146304">
              <a:spcAft>
                <a:spcPts val="800"/>
              </a:spcAft>
              <a:buFont typeface="Arial"/>
              <a:buChar char="•"/>
            </a:pPr>
            <a:r>
              <a:rPr sz="1300" b="0" i="0">
                <a:solidFill>
                  <a:srgbClr val="262626"/>
                </a:solidFill>
                <a:latin typeface="Calibri"/>
              </a:rPr>
              <a:t>Confident learning precision 0.150 on known flips.</a:t>
            </a:r>
          </a:p>
          <a:p>
            <a:pPr algn="l" marL="146304" indent="-146304">
              <a:spcAft>
                <a:spcPts val="800"/>
              </a:spcAft>
              <a:buFont typeface="Arial"/>
              <a:buChar char="•"/>
            </a:pPr>
            <a:r>
              <a:rPr sz="1300" b="0" i="0">
                <a:solidFill>
                  <a:srgbClr val="262626"/>
                </a:solidFill>
                <a:latin typeface="Calibri"/>
              </a:rPr>
              <a:t>Single seed; constructed labels; red-team defect D3 open.</a:t>
            </a:r>
          </a:p>
        </p:txBody>
      </p:sp>
      <p:sp>
        <p:nvSpPr>
          <p:cNvPr id="12" name="TextBox 11"/>
          <p:cNvSpPr txBox="1"/>
          <p:nvPr/>
        </p:nvSpPr>
        <p:spPr>
          <a:xfrm>
            <a:off x="320040" y="4133087"/>
            <a:ext cx="8503920" cy="36576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Claim scope: hard-tier ranking and compact local deployment, not a new architecture.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Conclusion and future work</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30</a:t>
            </a:r>
          </a:p>
        </p:txBody>
      </p:sp>
      <p:sp>
        <p:nvSpPr>
          <p:cNvPr id="8" name="Rectangle 7"/>
          <p:cNvSpPr/>
          <p:nvPr/>
        </p:nvSpPr>
        <p:spPr>
          <a:xfrm>
            <a:off x="320040" y="749808"/>
            <a:ext cx="4160520" cy="329184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59" y="786384"/>
            <a:ext cx="4069080" cy="3218688"/>
          </a:xfrm>
          <a:prstGeom prst="rect">
            <a:avLst/>
          </a:prstGeom>
          <a:noFill/>
        </p:spPr>
        <p:txBody>
          <a:bodyPr wrap="square" anchor="t" lIns="73152" rIns="73152" tIns="36576" bIns="36576">
            <a:spAutoFit/>
          </a:bodyPr>
          <a:lstStyle/>
          <a:p>
            <a:pPr algn="l">
              <a:spcAft>
                <a:spcPts val="300"/>
              </a:spcAft>
            </a:pPr>
            <a:r>
              <a:rPr sz="1300" b="1" i="0">
                <a:solidFill>
                  <a:srgbClr val="FF0000"/>
                </a:solidFill>
                <a:latin typeface="Calibri"/>
              </a:rPr>
              <a:t>Conclusion</a:t>
            </a:r>
          </a:p>
          <a:p>
            <a:pPr algn="l" marL="146304" indent="-146304">
              <a:spcAft>
                <a:spcPts val="800"/>
              </a:spcAft>
              <a:buFont typeface="Arial"/>
              <a:buChar char="•"/>
            </a:pPr>
            <a:r>
              <a:rPr sz="1300" b="0" i="0">
                <a:solidFill>
                  <a:srgbClr val="262626"/>
                </a:solidFill>
                <a:latin typeface="Calibri"/>
              </a:rPr>
              <a:t>Hunk-level, multi-turn-intent task framing with its own dataset (Sift-IA v1.0).</a:t>
            </a:r>
          </a:p>
          <a:p>
            <a:pPr algn="l" marL="146304" indent="-146304">
              <a:spcAft>
                <a:spcPts val="800"/>
              </a:spcAft>
              <a:buFont typeface="Arial"/>
              <a:buChar char="•"/>
            </a:pPr>
            <a:r>
              <a:rPr sz="1300" b="0" i="0">
                <a:solidFill>
                  <a:srgbClr val="262626"/>
                </a:solidFill>
                <a:latin typeface="Calibri"/>
              </a:rPr>
              <a:t>ModernBERT cross-encoder improves hard-tier ranking over lexical and size baselines.</a:t>
            </a:r>
          </a:p>
          <a:p>
            <a:pPr algn="l" marL="146304" indent="-146304">
              <a:spcAft>
                <a:spcPts val="800"/>
              </a:spcAft>
              <a:buFont typeface="Arial"/>
              <a:buChar char="•"/>
            </a:pPr>
            <a:r>
              <a:rPr sz="1300" b="0" i="0">
                <a:solidFill>
                  <a:srgbClr val="262626"/>
                </a:solidFill>
                <a:latin typeface="Calibri"/>
              </a:rPr>
              <a:t>Calibrated, explained and compressed to a 22.9 MB INT8 model for local CPU use.</a:t>
            </a:r>
          </a:p>
          <a:p>
            <a:pPr algn="l" marL="146304" indent="-146304">
              <a:spcAft>
                <a:spcPts val="800"/>
              </a:spcAft>
              <a:buFont typeface="Arial"/>
              <a:buChar char="•"/>
            </a:pPr>
            <a:r>
              <a:rPr sz="1300" b="0" i="0">
                <a:solidFill>
                  <a:srgbClr val="262626"/>
                </a:solidFill>
                <a:latin typeface="Calibri"/>
              </a:rPr>
              <a:t>Working UI and API with 220 tests (0 failed) and a recorded defect register.</a:t>
            </a:r>
          </a:p>
        </p:txBody>
      </p:sp>
      <p:sp>
        <p:nvSpPr>
          <p:cNvPr id="10" name="Rectangle 9"/>
          <p:cNvSpPr/>
          <p:nvPr/>
        </p:nvSpPr>
        <p:spPr>
          <a:xfrm>
            <a:off x="4617720" y="749808"/>
            <a:ext cx="4206240" cy="3291840"/>
          </a:xfrm>
          <a:prstGeom prst="rect">
            <a:avLst/>
          </a:prstGeom>
          <a:solidFill>
            <a:srgbClr val="F4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786384"/>
            <a:ext cx="4114800" cy="3218688"/>
          </a:xfrm>
          <a:prstGeom prst="rect">
            <a:avLst/>
          </a:prstGeom>
          <a:noFill/>
        </p:spPr>
        <p:txBody>
          <a:bodyPr wrap="square" anchor="t" lIns="73152" rIns="73152" tIns="36576" bIns="36576">
            <a:spAutoFit/>
          </a:bodyPr>
          <a:lstStyle/>
          <a:p>
            <a:pPr algn="l">
              <a:spcAft>
                <a:spcPts val="300"/>
              </a:spcAft>
            </a:pPr>
            <a:r>
              <a:rPr sz="1300" b="1" i="0">
                <a:solidFill>
                  <a:srgbClr val="FF0000"/>
                </a:solidFill>
                <a:latin typeface="Calibri"/>
              </a:rPr>
              <a:t>Future work</a:t>
            </a:r>
          </a:p>
          <a:p>
            <a:pPr algn="l" marL="146304" indent="-146304">
              <a:spcAft>
                <a:spcPts val="800"/>
              </a:spcAft>
              <a:buFont typeface="Arial"/>
              <a:buChar char="•"/>
            </a:pPr>
            <a:r>
              <a:rPr sz="1300" b="0" i="0">
                <a:solidFill>
                  <a:srgbClr val="262626"/>
                </a:solidFill>
                <a:latin typeface="Calibri"/>
              </a:rPr>
              <a:t>Human validation using the 900-sample gold sheet.</a:t>
            </a:r>
          </a:p>
          <a:p>
            <a:pPr algn="l" marL="146304" indent="-146304">
              <a:spcAft>
                <a:spcPts val="800"/>
              </a:spcAft>
              <a:buFont typeface="Arial"/>
              <a:buChar char="•"/>
            </a:pPr>
            <a:r>
              <a:rPr sz="1300" b="0" i="0">
                <a:solidFill>
                  <a:srgbClr val="262626"/>
                </a:solidFill>
                <a:latin typeface="Calibri"/>
              </a:rPr>
              <a:t>Multiple seeds with confidence intervals; full 60-trial search.</a:t>
            </a:r>
          </a:p>
          <a:p>
            <a:pPr algn="l" marL="146304" indent="-146304">
              <a:spcAft>
                <a:spcPts val="800"/>
              </a:spcAft>
              <a:buFont typeface="Arial"/>
              <a:buChar char="•"/>
            </a:pPr>
            <a:r>
              <a:rPr sz="1300" b="0" i="0">
                <a:solidFill>
                  <a:srgbClr val="262626"/>
                </a:solidFill>
                <a:latin typeface="Calibri"/>
              </a:rPr>
              <a:t>Mitigate comment-based evasion (strip comment-only lines before scoring).</a:t>
            </a:r>
          </a:p>
          <a:p>
            <a:pPr algn="l" marL="146304" indent="-146304">
              <a:spcAft>
                <a:spcPts val="800"/>
              </a:spcAft>
              <a:buFont typeface="Arial"/>
              <a:buChar char="•"/>
            </a:pPr>
            <a:r>
              <a:rPr sz="1300" b="0" i="0">
                <a:solidFill>
                  <a:srgbClr val="262626"/>
                </a:solidFill>
                <a:latin typeface="Calibri"/>
              </a:rPr>
              <a:t>Co-teaching, longer baseline training, TypeScript test repositories.</a:t>
            </a:r>
          </a:p>
          <a:p>
            <a:pPr algn="l" marL="146304" indent="-146304">
              <a:spcAft>
                <a:spcPts val="800"/>
              </a:spcAft>
              <a:buFont typeface="Arial"/>
              <a:buChar char="•"/>
            </a:pPr>
            <a:r>
              <a:rPr sz="1300" b="0" i="0">
                <a:solidFill>
                  <a:srgbClr val="262626"/>
                </a:solidFill>
                <a:latin typeface="Calibri"/>
              </a:rPr>
              <a:t>Learned intent consolidation; hosted deployment and user study.</a:t>
            </a:r>
          </a:p>
        </p:txBody>
      </p:sp>
      <p:sp>
        <p:nvSpPr>
          <p:cNvPr id="12" name="TextBox 11"/>
          <p:cNvSpPr txBox="1"/>
          <p:nvPr/>
        </p:nvSpPr>
        <p:spPr>
          <a:xfrm>
            <a:off x="320040" y="4133087"/>
            <a:ext cx="8503920" cy="365760"/>
          </a:xfrm>
          <a:prstGeom prst="rect">
            <a:avLst/>
          </a:prstGeom>
          <a:noFill/>
        </p:spPr>
        <p:txBody>
          <a:bodyPr wrap="square" anchor="ctr" lIns="73152" rIns="73152" tIns="36576" bIns="36576">
            <a:spAutoFit/>
          </a:bodyPr>
          <a:lstStyle/>
          <a:p>
            <a:pPr algn="l">
              <a:spcAft>
                <a:spcPts val="400"/>
              </a:spcAft>
            </a:pPr>
            <a:r>
              <a:rPr sz="1200" b="0" i="1">
                <a:solidFill>
                  <a:srgbClr val="B6114D"/>
                </a:solidFill>
                <a:latin typeface="Calibri"/>
              </a:rPr>
              <a:t>Contribution: task framing, pipeline and dataset; encoder and training methods are existing.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Member contributions</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31</a:t>
            </a:r>
          </a:p>
        </p:txBody>
      </p:sp>
      <p:graphicFrame>
        <p:nvGraphicFramePr>
          <p:cNvPr id="8" name="Table 7"/>
          <p:cNvGraphicFramePr>
            <a:graphicFrameLocks noGrp="1"/>
          </p:cNvGraphicFramePr>
          <p:nvPr/>
        </p:nvGraphicFramePr>
        <p:xfrm>
          <a:off x="320040" y="777240"/>
          <a:ext cx="8503920" cy="2057400"/>
        </p:xfrm>
        <a:graphic>
          <a:graphicData uri="http://schemas.openxmlformats.org/drawingml/2006/table">
            <a:tbl>
              <a:tblPr firstRow="1" bandRow="0">
                <a:tableStyleId>{5C22544A-7EE6-4342-B048-85BDC9FD1C3A}</a:tableStyleId>
              </a:tblPr>
              <a:tblGrid>
                <a:gridCol w="2103120"/>
                <a:gridCol w="6400800"/>
              </a:tblGrid>
              <a:tr h="320040">
                <a:tc>
                  <a:txBody>
                    <a:bodyPr wrap="square"/>
                    <a:lstStyle/>
                    <a:p>
                      <a:pPr algn="l"/>
                      <a:r>
                        <a:rPr sz="1300" b="1" i="0">
                          <a:solidFill>
                            <a:srgbClr val="FFFFFF"/>
                          </a:solidFill>
                          <a:latin typeface="Calibri"/>
                        </a:rPr>
                        <a:t>Member</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c>
                  <a:txBody>
                    <a:bodyPr wrap="square"/>
                    <a:lstStyle/>
                    <a:p>
                      <a:pPr algn="l"/>
                      <a:r>
                        <a:rPr sz="1300" b="1" i="0">
                          <a:solidFill>
                            <a:srgbClr val="FFFFFF"/>
                          </a:solidFill>
                          <a:latin typeface="Calibri"/>
                        </a:rPr>
                        <a:t>Contribution (technical)</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C00000"/>
                    </a:solidFill>
                  </a:tcPr>
                </a:tc>
              </a:tr>
              <a:tr h="1737360">
                <a:tc>
                  <a:txBody>
                    <a:bodyPr wrap="square"/>
                    <a:lstStyle/>
                    <a:p>
                      <a:pPr algn="l"/>
                      <a:r>
                        <a:rPr sz="1300" b="0" i="0">
                          <a:solidFill>
                            <a:srgbClr val="262626"/>
                          </a:solidFill>
                          <a:latin typeface="Calibri"/>
                        </a:rPr>
                        <a:t>Kundhave S (CB.SC.U4CSE23037)</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c>
                  <a:txBody>
                    <a:bodyPr wrap="square"/>
                    <a:lstStyle/>
                    <a:p>
                      <a:pPr algn="l"/>
                      <a:r>
                        <a:rPr sz="1300" b="0" i="0">
                          <a:solidFill>
                            <a:srgbClr val="262626"/>
                          </a:solidFill>
                          <a:latin typeface="Calibri"/>
                        </a:rPr>
                        <a:t>One-member team; all work. (1) Task formulation, drift taxonomy and Sift-IA v1.0 dataset construction with noise ground truth. (2) Diff parser, intent consolidation and the ModernBERT multi-task cross-encoder with focal loss. (3) Baselines, ablations, noise and denoising study, k-means, GAN-style baseline and Integrated Gradients. (4) Calibration, distillation and INT8 ONNX export. (5) FastAPI backend, React frontend, test suite and defect register. (6) IEEE DataPort documentation, reports and presentation.</a:t>
                      </a:r>
                    </a:p>
                  </a:txBody>
                  <a:tcPr marL="45720" marR="45720" marT="18288" marB="18288" anchor="ctr">
                    <a:lnL w="9525" cap="flat" cmpd="sng">
                      <a:solidFill>
                        <a:srgbClr val="CFD8EC"/>
                      </a:solidFill>
                      <a:prstDash val="solid"/>
                    </a:lnL>
                    <a:lnR w="9525" cap="flat" cmpd="sng">
                      <a:solidFill>
                        <a:srgbClr val="CFD8EC"/>
                      </a:solidFill>
                      <a:prstDash val="solid"/>
                    </a:lnR>
                    <a:lnT w="9525" cap="flat" cmpd="sng">
                      <a:solidFill>
                        <a:srgbClr val="CFD8EC"/>
                      </a:solidFill>
                      <a:prstDash val="solid"/>
                    </a:lnT>
                    <a:lnB w="9525" cap="flat" cmpd="sng">
                      <a:solidFill>
                        <a:srgbClr val="CFD8EC"/>
                      </a:solidFill>
                      <a:prstDash val="solid"/>
                    </a:lnB>
                    <a:solidFill>
                      <a:srgbClr val="FFFFFF"/>
                    </a:solidFill>
                  </a:tcPr>
                </a:tc>
              </a:tr>
            </a:tbl>
          </a:graphicData>
        </a:graphic>
      </p:graphicFrame>
      <p:sp>
        <p:nvSpPr>
          <p:cNvPr id="9" name="TextBox 8"/>
          <p:cNvSpPr txBox="1"/>
          <p:nvPr/>
        </p:nvSpPr>
        <p:spPr>
          <a:xfrm>
            <a:off x="320040" y="3108960"/>
            <a:ext cx="8503920" cy="457200"/>
          </a:xfrm>
          <a:prstGeom prst="rect">
            <a:avLst/>
          </a:prstGeom>
          <a:noFill/>
        </p:spPr>
        <p:txBody>
          <a:bodyPr wrap="square" anchor="t" lIns="73152" rIns="73152" tIns="36576" bIns="36576">
            <a:spAutoFit/>
          </a:bodyPr>
          <a:lstStyle/>
          <a:p>
            <a:pPr algn="l">
              <a:spcAft>
                <a:spcPts val="400"/>
              </a:spcAft>
            </a:pPr>
            <a:r>
              <a:rPr sz="1200" b="0" i="0">
                <a:solidFill>
                  <a:srgbClr val="595959"/>
                </a:solidFill>
                <a:latin typeface="Calibri"/>
              </a:rPr>
              <a:t>Faculty guide: Dr. T. Senthil Kumar, Professor, CSE Department. Course: 23CSE473 Neural Networks and Deep Learning.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91" y="150000"/>
            <a:ext cx="8400000" cy="480060"/>
          </a:xfrm>
          <a:prstGeom prst="rect">
            <a:avLst/>
          </a:prstGeom>
          <a:noFill/>
        </p:spPr>
        <p:txBody>
          <a:bodyPr wrap="square" lIns="34275" tIns="20575" bIns="20575">
            <a:spAutoFit/>
          </a:bodyPr>
          <a:lstStyle/>
          <a:p>
            <a:r>
              <a:rPr sz="2200" b="1" i="0">
                <a:solidFill>
                  <a:srgbClr val="FF0000"/>
                </a:solidFill>
                <a:latin typeface="Cambria"/>
              </a:rPr>
              <a:t>References</a:t>
            </a:r>
          </a:p>
        </p:txBody>
      </p:sp>
      <p:sp>
        <p:nvSpPr>
          <p:cNvPr id="3" name="Rectangle 2"/>
          <p:cNvSpPr/>
          <p:nvPr/>
        </p:nvSpPr>
        <p:spPr>
          <a:xfrm>
            <a:off x="0" y="4574286"/>
            <a:ext cx="9144015" cy="3429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9144015" cy="53492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7441128" y="4677156"/>
            <a:ext cx="1440180" cy="458881"/>
          </a:xfrm>
          <a:prstGeom prst="rect">
            <a:avLst/>
          </a:prstGeom>
        </p:spPr>
      </p:pic>
      <p:sp>
        <p:nvSpPr>
          <p:cNvPr id="6" name="TextBox 5"/>
          <p:cNvSpPr txBox="1"/>
          <p:nvPr/>
        </p:nvSpPr>
        <p:spPr>
          <a:xfrm>
            <a:off x="274320" y="4700016"/>
            <a:ext cx="4572000" cy="320040"/>
          </a:xfrm>
          <a:prstGeom prst="rect">
            <a:avLst/>
          </a:prstGeom>
          <a:noFill/>
        </p:spPr>
        <p:txBody>
          <a:bodyPr wrap="square" anchor="ctr" lIns="73152" rIns="73152" tIns="36576" bIns="36576">
            <a:spAutoFit/>
          </a:bodyPr>
          <a:lstStyle/>
          <a:p>
            <a:pPr algn="l">
              <a:spcAft>
                <a:spcPts val="400"/>
              </a:spcAft>
            </a:pPr>
            <a:r>
              <a:rPr sz="1100" b="0" i="0">
                <a:solidFill>
                  <a:srgbClr val="FFFFFF"/>
                </a:solidFill>
                <a:latin typeface="Calibri"/>
              </a:rPr>
              <a:t>Sift  |  Review 3  |  23CSE473 NNDL</a:t>
            </a:r>
          </a:p>
        </p:txBody>
      </p:sp>
      <p:sp>
        <p:nvSpPr>
          <p:cNvPr id="7" name="TextBox 6"/>
          <p:cNvSpPr txBox="1"/>
          <p:nvPr/>
        </p:nvSpPr>
        <p:spPr>
          <a:xfrm>
            <a:off x="6309360" y="4700016"/>
            <a:ext cx="1005840" cy="320040"/>
          </a:xfrm>
          <a:prstGeom prst="rect">
            <a:avLst/>
          </a:prstGeom>
          <a:noFill/>
        </p:spPr>
        <p:txBody>
          <a:bodyPr wrap="square" anchor="ctr" lIns="73152" rIns="73152" tIns="36576" bIns="36576">
            <a:spAutoFit/>
          </a:bodyPr>
          <a:lstStyle/>
          <a:p>
            <a:pPr algn="r">
              <a:spcAft>
                <a:spcPts val="400"/>
              </a:spcAft>
            </a:pPr>
            <a:r>
              <a:rPr sz="1100" b="1" i="0">
                <a:solidFill>
                  <a:srgbClr val="FFFFFF"/>
                </a:solidFill>
                <a:latin typeface="Calibri"/>
              </a:rPr>
              <a:t>32</a:t>
            </a:r>
          </a:p>
        </p:txBody>
      </p:sp>
      <p:sp>
        <p:nvSpPr>
          <p:cNvPr id="8" name="TextBox 7"/>
          <p:cNvSpPr txBox="1"/>
          <p:nvPr/>
        </p:nvSpPr>
        <p:spPr>
          <a:xfrm>
            <a:off x="274320" y="713232"/>
            <a:ext cx="4389120" cy="3474720"/>
          </a:xfrm>
          <a:prstGeom prst="rect">
            <a:avLst/>
          </a:prstGeom>
          <a:noFill/>
        </p:spPr>
        <p:txBody>
          <a:bodyPr wrap="square" anchor="t" lIns="73152" rIns="73152" tIns="36576" bIns="36576">
            <a:spAutoFit/>
          </a:bodyPr>
          <a:lstStyle/>
          <a:p>
            <a:pPr algn="l">
              <a:spcAft>
                <a:spcPts val="300"/>
              </a:spcAft>
            </a:pPr>
            <a:r>
              <a:rPr sz="1100" b="0" i="0">
                <a:solidFill>
                  <a:srgbClr val="262626"/>
                </a:solidFill>
                <a:latin typeface="Calibri"/>
              </a:rPr>
              <a:t>[1] C. G. Northcutt, L. Jiang, I. L. Chuang. Confident Learning: Estimating Uncertainty in Dataset Labels. JAIR, 2021.</a:t>
            </a:r>
          </a:p>
          <a:p>
            <a:pPr algn="l">
              <a:spcAft>
                <a:spcPts val="300"/>
              </a:spcAft>
            </a:pPr>
            <a:r>
              <a:rPr sz="1100" b="0" i="0">
                <a:solidFill>
                  <a:srgbClr val="262626"/>
                </a:solidFill>
                <a:latin typeface="Calibri"/>
              </a:rPr>
              <a:t>[2] Z. Xu et al. Code Comment Inconsistency Detection Based on Confidence Learning. IEEE TSE 50(3), 2024.</a:t>
            </a:r>
          </a:p>
          <a:p>
            <a:pPr algn="l">
              <a:spcAft>
                <a:spcPts val="300"/>
              </a:spcAft>
            </a:pPr>
            <a:r>
              <a:rPr sz="1100" b="0" i="0">
                <a:solidFill>
                  <a:srgbClr val="262626"/>
                </a:solidFill>
                <a:latin typeface="Calibri"/>
              </a:rPr>
              <a:t>[3] Huang et al. Are your comments outdated? Detecting code-comment consistency. J. Softw. Evol. Process 37(1), 2025.</a:t>
            </a:r>
          </a:p>
          <a:p>
            <a:pPr algn="l">
              <a:spcAft>
                <a:spcPts val="300"/>
              </a:spcAft>
            </a:pPr>
            <a:r>
              <a:rPr sz="1100" b="0" i="0">
                <a:solidFill>
                  <a:srgbClr val="262626"/>
                </a:solidFill>
                <a:latin typeface="Calibri"/>
              </a:rPr>
              <a:t>[4] Yang et al. RComSync: code-comment synchronization with in-context learning and reranking. Empir. Softw. Eng. 31(4), 2026.</a:t>
            </a:r>
          </a:p>
          <a:p>
            <a:pPr algn="l">
              <a:spcAft>
                <a:spcPts val="300"/>
              </a:spcAft>
            </a:pPr>
            <a:r>
              <a:rPr sz="1100" b="0" i="0">
                <a:solidFill>
                  <a:srgbClr val="262626"/>
                </a:solidFill>
                <a:latin typeface="Calibri"/>
              </a:rPr>
              <a:t>[5] Fan et al. Exploring the Capabilities of LLMs for Code-Change-Related Tasks. ACM TOSEM 34(6), 2025.</a:t>
            </a:r>
          </a:p>
          <a:p>
            <a:pPr algn="l">
              <a:spcAft>
                <a:spcPts val="300"/>
              </a:spcAft>
            </a:pPr>
            <a:r>
              <a:rPr sz="1100" b="0" i="0">
                <a:solidFill>
                  <a:srgbClr val="262626"/>
                </a:solidFill>
                <a:latin typeface="Calibri"/>
              </a:rPr>
              <a:t>[6] Wang et al. Best practices for code pre-trained models on SE classification tasks. Expert Syst. Appl., 2025.</a:t>
            </a:r>
          </a:p>
          <a:p>
            <a:pPr algn="l">
              <a:spcAft>
                <a:spcPts val="300"/>
              </a:spcAft>
            </a:pPr>
            <a:r>
              <a:rPr sz="1100" b="0" i="0">
                <a:solidFill>
                  <a:srgbClr val="262626"/>
                </a:solidFill>
                <a:latin typeface="Calibri"/>
              </a:rPr>
              <a:t>[7] S. Panthaplackel et al. Deep Just-In-Time Inconsistency Detection Between Comments and Source Code. AAAI 2021.</a:t>
            </a:r>
          </a:p>
          <a:p>
            <a:pPr algn="l">
              <a:spcAft>
                <a:spcPts val="300"/>
              </a:spcAft>
            </a:pPr>
            <a:r>
              <a:rPr sz="1100" b="0" i="0">
                <a:solidFill>
                  <a:srgbClr val="262626"/>
                </a:solidFill>
                <a:latin typeface="Calibri"/>
              </a:rPr>
              <a:t>[8] S. Panthaplackel et al. Learning to Update Natural Language Comments Based on Code Changes. ACL 2020.</a:t>
            </a:r>
          </a:p>
          <a:p>
            <a:pPr algn="l">
              <a:spcAft>
                <a:spcPts val="300"/>
              </a:spcAft>
            </a:pPr>
            <a:r>
              <a:rPr sz="1100" b="0" i="0">
                <a:solidFill>
                  <a:srgbClr val="262626"/>
                </a:solidFill>
                <a:latin typeface="Calibri"/>
              </a:rPr>
              <a:t>[9] K. Herzig, A. Zeller. The Impact of Tangled Code Changes. MSR 2013.</a:t>
            </a:r>
          </a:p>
        </p:txBody>
      </p:sp>
      <p:sp>
        <p:nvSpPr>
          <p:cNvPr id="9" name="TextBox 8"/>
          <p:cNvSpPr txBox="1"/>
          <p:nvPr/>
        </p:nvSpPr>
        <p:spPr>
          <a:xfrm>
            <a:off x="4617720" y="713232"/>
            <a:ext cx="4297680" cy="3474720"/>
          </a:xfrm>
          <a:prstGeom prst="rect">
            <a:avLst/>
          </a:prstGeom>
          <a:noFill/>
        </p:spPr>
        <p:txBody>
          <a:bodyPr wrap="square" anchor="t" lIns="73152" rIns="73152" tIns="36576" bIns="36576">
            <a:spAutoFit/>
          </a:bodyPr>
          <a:lstStyle/>
          <a:p>
            <a:pPr algn="l">
              <a:spcAft>
                <a:spcPts val="300"/>
              </a:spcAft>
            </a:pPr>
            <a:r>
              <a:rPr sz="1100" b="0" i="0">
                <a:solidFill>
                  <a:srgbClr val="262626"/>
                </a:solidFill>
                <a:latin typeface="Calibri"/>
              </a:rPr>
              <a:t>[10] B. Warner et al. Smarter, Better, Faster, Longer: ModernBERT. arXiv:2412.13663, 2024.</a:t>
            </a:r>
          </a:p>
          <a:p>
            <a:pPr algn="l">
              <a:spcAft>
                <a:spcPts val="300"/>
              </a:spcAft>
            </a:pPr>
            <a:r>
              <a:rPr sz="1100" b="0" i="0">
                <a:solidFill>
                  <a:srgbClr val="262626"/>
                </a:solidFill>
                <a:latin typeface="Calibri"/>
              </a:rPr>
              <a:t>[11] R. Nogueira, K. Cho. Passage Re-ranking with BERT. arXiv:1901.04085, 2019.</a:t>
            </a:r>
          </a:p>
          <a:p>
            <a:pPr algn="l">
              <a:spcAft>
                <a:spcPts val="300"/>
              </a:spcAft>
            </a:pPr>
            <a:r>
              <a:rPr sz="1100" b="0" i="0">
                <a:solidFill>
                  <a:srgbClr val="262626"/>
                </a:solidFill>
                <a:latin typeface="Calibri"/>
              </a:rPr>
              <a:t>[12] Z. Feng et al. CodeBERT. Findings of EMNLP 2020.</a:t>
            </a:r>
          </a:p>
          <a:p>
            <a:pPr algn="l">
              <a:spcAft>
                <a:spcPts val="300"/>
              </a:spcAft>
            </a:pPr>
            <a:r>
              <a:rPr sz="1100" b="0" i="0">
                <a:solidFill>
                  <a:srgbClr val="262626"/>
                </a:solidFill>
                <a:latin typeface="Calibri"/>
              </a:rPr>
              <a:t>[13] T.-Y. Lin et al. Focal Loss for Dense Object Detection. ICCV 2017.</a:t>
            </a:r>
          </a:p>
          <a:p>
            <a:pPr algn="l">
              <a:spcAft>
                <a:spcPts val="300"/>
              </a:spcAft>
            </a:pPr>
            <a:r>
              <a:rPr sz="1100" b="0" i="0">
                <a:solidFill>
                  <a:srgbClr val="262626"/>
                </a:solidFill>
                <a:latin typeface="Calibri"/>
              </a:rPr>
              <a:t>[14] C. Guo et al. On Calibration of Modern Neural Networks. ICML 2017.</a:t>
            </a:r>
          </a:p>
          <a:p>
            <a:pPr algn="l">
              <a:spcAft>
                <a:spcPts val="300"/>
              </a:spcAft>
            </a:pPr>
            <a:r>
              <a:rPr sz="1100" b="0" i="0">
                <a:solidFill>
                  <a:srgbClr val="262626"/>
                </a:solidFill>
                <a:latin typeface="Calibri"/>
              </a:rPr>
              <a:t>[15] G. Hinton, O. Vinyals, J. Dean. Distilling the Knowledge in a Neural Network. 2015.</a:t>
            </a:r>
          </a:p>
          <a:p>
            <a:pPr algn="l">
              <a:spcAft>
                <a:spcPts val="300"/>
              </a:spcAft>
            </a:pPr>
            <a:r>
              <a:rPr sz="1100" b="0" i="0">
                <a:solidFill>
                  <a:srgbClr val="262626"/>
                </a:solidFill>
                <a:latin typeface="Calibri"/>
              </a:rPr>
              <a:t>[16] M. Sundararajan, A. Taly, Q. Yan. Axiomatic Attribution for Deep Networks. ICML 2017.</a:t>
            </a:r>
          </a:p>
          <a:p>
            <a:pPr algn="l">
              <a:spcAft>
                <a:spcPts val="300"/>
              </a:spcAft>
            </a:pPr>
            <a:r>
              <a:rPr sz="1100" b="0" i="0">
                <a:solidFill>
                  <a:srgbClr val="262626"/>
                </a:solidFill>
                <a:latin typeface="Calibri"/>
              </a:rPr>
              <a:t>[17] B. Han et al. Co-teaching. NeurIPS 2018.</a:t>
            </a:r>
          </a:p>
          <a:p>
            <a:pPr algn="l">
              <a:spcAft>
                <a:spcPts val="300"/>
              </a:spcAft>
            </a:pPr>
            <a:r>
              <a:rPr sz="1100" b="0" i="0">
                <a:solidFill>
                  <a:srgbClr val="262626"/>
                </a:solidFill>
                <a:latin typeface="Calibri"/>
              </a:rPr>
              <a:t>[18] Test and Evaluation of Artificial Intelligence Models Framework (course reference).</a:t>
            </a:r>
          </a:p>
          <a:p>
            <a:pPr algn="l">
              <a:spcAft>
                <a:spcPts val="300"/>
              </a:spcAft>
            </a:pPr>
            <a:r>
              <a:rPr sz="1100" b="0" i="0">
                <a:solidFill>
                  <a:srgbClr val="262626"/>
                </a:solidFill>
                <a:latin typeface="Calibri"/>
              </a:rPr>
              <a:t>[19] Sift-IA v1.0 record on IEEE DataPort (link on the dataset slide).</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Sift: Intent-Hunk Alignment Verification for AI-Generated Code Changes (Review 3)</dc:title>
  <cp:lastModifiedBy>python-pptx</cp:lastModifiedBy>
  <cp:revision>1</cp:revision>
  <dcterms:modified xsi:type="dcterms:W3CDTF">2026-10-20T13:35:48Z</dcterms:modified>
  <dc:creator>Kundhave S</dc:creator>
</cp:coreProperties>
</file>